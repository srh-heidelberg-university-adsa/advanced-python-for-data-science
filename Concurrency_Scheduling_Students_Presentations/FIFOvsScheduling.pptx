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hunk Five" charset="1" panose="00000500000000000000"/>
      <p:regular r:id="rId18"/>
    </p:embeddedFont>
    <p:embeddedFont>
      <p:font typeface="Canva Sans Bold" charset="1" panose="020B0803030501040103"/>
      <p:regular r:id="rId19"/>
    </p:embeddedFont>
    <p:embeddedFont>
      <p:font typeface="Canva Sans" charset="1" panose="020B05030305010401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embeddings/oleObject1.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42.pn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media/image39.png" Type="http://schemas.openxmlformats.org/officeDocument/2006/relationships/image"/><Relationship Id="rId9" Target="../media/image4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36352">
            <a:off x="8138248" y="2541424"/>
            <a:ext cx="526850" cy="864978"/>
          </a:xfrm>
          <a:custGeom>
            <a:avLst/>
            <a:gdLst/>
            <a:ahLst/>
            <a:cxnLst/>
            <a:rect r="r" b="b" t="t" l="l"/>
            <a:pathLst>
              <a:path h="864978" w="526850">
                <a:moveTo>
                  <a:pt x="0" y="0"/>
                </a:moveTo>
                <a:lnTo>
                  <a:pt x="526851" y="0"/>
                </a:lnTo>
                <a:lnTo>
                  <a:pt x="526851" y="864977"/>
                </a:lnTo>
                <a:lnTo>
                  <a:pt x="0" y="864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837151">
            <a:off x="8778977" y="2585553"/>
            <a:ext cx="1013893" cy="1759120"/>
          </a:xfrm>
          <a:custGeom>
            <a:avLst/>
            <a:gdLst/>
            <a:ahLst/>
            <a:cxnLst/>
            <a:rect r="r" b="b" t="t" l="l"/>
            <a:pathLst>
              <a:path h="1759120" w="1013893">
                <a:moveTo>
                  <a:pt x="0" y="0"/>
                </a:moveTo>
                <a:lnTo>
                  <a:pt x="1013893" y="0"/>
                </a:lnTo>
                <a:lnTo>
                  <a:pt x="1013893" y="1759120"/>
                </a:lnTo>
                <a:lnTo>
                  <a:pt x="0" y="17591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2984" y="-974776"/>
            <a:ext cx="2009235" cy="2606319"/>
          </a:xfrm>
          <a:custGeom>
            <a:avLst/>
            <a:gdLst/>
            <a:ahLst/>
            <a:cxnLst/>
            <a:rect r="r" b="b" t="t" l="l"/>
            <a:pathLst>
              <a:path h="2606319" w="2009235">
                <a:moveTo>
                  <a:pt x="0" y="0"/>
                </a:moveTo>
                <a:lnTo>
                  <a:pt x="2009235" y="0"/>
                </a:lnTo>
                <a:lnTo>
                  <a:pt x="2009235" y="2606319"/>
                </a:lnTo>
                <a:lnTo>
                  <a:pt x="0" y="26063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156086" y="777305"/>
            <a:ext cx="7416912" cy="2687808"/>
          </a:xfrm>
          <a:custGeom>
            <a:avLst/>
            <a:gdLst/>
            <a:ahLst/>
            <a:cxnLst/>
            <a:rect r="r" b="b" t="t" l="l"/>
            <a:pathLst>
              <a:path h="2687808" w="7416912">
                <a:moveTo>
                  <a:pt x="0" y="0"/>
                </a:moveTo>
                <a:lnTo>
                  <a:pt x="7416913" y="0"/>
                </a:lnTo>
                <a:lnTo>
                  <a:pt x="7416913" y="2687808"/>
                </a:lnTo>
                <a:lnTo>
                  <a:pt x="0" y="2687808"/>
                </a:lnTo>
                <a:lnTo>
                  <a:pt x="0" y="0"/>
                </a:lnTo>
                <a:close/>
              </a:path>
            </a:pathLst>
          </a:custGeom>
          <a:blipFill>
            <a:blip r:embed="rId8"/>
            <a:stretch>
              <a:fillRect l="-3373" t="-7902" r="-5059" b="-11169"/>
            </a:stretch>
          </a:blipFill>
        </p:spPr>
      </p:sp>
      <p:sp>
        <p:nvSpPr>
          <p:cNvPr name="Freeform 6" id="6"/>
          <p:cNvSpPr/>
          <p:nvPr/>
        </p:nvSpPr>
        <p:spPr>
          <a:xfrm flipH="false" flipV="false" rot="0">
            <a:off x="11522761" y="4030941"/>
            <a:ext cx="5911663" cy="5463694"/>
          </a:xfrm>
          <a:custGeom>
            <a:avLst/>
            <a:gdLst/>
            <a:ahLst/>
            <a:cxnLst/>
            <a:rect r="r" b="b" t="t" l="l"/>
            <a:pathLst>
              <a:path h="5463694" w="5911663">
                <a:moveTo>
                  <a:pt x="0" y="0"/>
                </a:moveTo>
                <a:lnTo>
                  <a:pt x="5911663" y="0"/>
                </a:lnTo>
                <a:lnTo>
                  <a:pt x="5911663" y="5463694"/>
                </a:lnTo>
                <a:lnTo>
                  <a:pt x="0" y="5463694"/>
                </a:lnTo>
                <a:lnTo>
                  <a:pt x="0" y="0"/>
                </a:lnTo>
                <a:close/>
              </a:path>
            </a:pathLst>
          </a:custGeom>
          <a:blipFill>
            <a:blip r:embed="rId9"/>
            <a:stretch>
              <a:fillRect l="-1411" t="-2747" r="-1881" b="-3053"/>
            </a:stretch>
          </a:blipFill>
        </p:spPr>
      </p:sp>
      <p:sp>
        <p:nvSpPr>
          <p:cNvPr name="TextBox 7" id="7"/>
          <p:cNvSpPr txBox="true"/>
          <p:nvPr/>
        </p:nvSpPr>
        <p:spPr>
          <a:xfrm rot="0">
            <a:off x="951159" y="3264339"/>
            <a:ext cx="8334764" cy="2166644"/>
          </a:xfrm>
          <a:prstGeom prst="rect">
            <a:avLst/>
          </a:prstGeom>
        </p:spPr>
        <p:txBody>
          <a:bodyPr anchor="t" rtlCol="false" tIns="0" lIns="0" bIns="0" rIns="0">
            <a:spAutoFit/>
          </a:bodyPr>
          <a:lstStyle/>
          <a:p>
            <a:pPr algn="l">
              <a:lnSpc>
                <a:spcPts val="8063"/>
              </a:lnSpc>
            </a:pPr>
            <a:r>
              <a:rPr lang="en-US" sz="6609">
                <a:solidFill>
                  <a:srgbClr val="010101"/>
                </a:solidFill>
                <a:latin typeface="Chunk Five"/>
                <a:ea typeface="Chunk Five"/>
                <a:cs typeface="Chunk Five"/>
                <a:sym typeface="Chunk Five"/>
              </a:rPr>
              <a:t>Priority Scheduling vs FIFO Queue </a:t>
            </a:r>
          </a:p>
        </p:txBody>
      </p:sp>
      <p:sp>
        <p:nvSpPr>
          <p:cNvPr name="TextBox 8" id="8"/>
          <p:cNvSpPr txBox="true"/>
          <p:nvPr/>
        </p:nvSpPr>
        <p:spPr>
          <a:xfrm rot="0">
            <a:off x="951159" y="6421583"/>
            <a:ext cx="6965433" cy="1554480"/>
          </a:xfrm>
          <a:prstGeom prst="rect">
            <a:avLst/>
          </a:prstGeom>
        </p:spPr>
        <p:txBody>
          <a:bodyPr anchor="t" rtlCol="false" tIns="0" lIns="0" bIns="0" rIns="0">
            <a:spAutoFit/>
          </a:bodyPr>
          <a:lstStyle/>
          <a:p>
            <a:pPr algn="l">
              <a:lnSpc>
                <a:spcPts val="2520"/>
              </a:lnSpc>
            </a:pPr>
            <a:r>
              <a:rPr lang="en-US" sz="1800" b="true">
                <a:solidFill>
                  <a:srgbClr val="010101"/>
                </a:solidFill>
                <a:latin typeface="Canva Sans Bold"/>
                <a:ea typeface="Canva Sans Bold"/>
                <a:cs typeface="Canva Sans Bold"/>
                <a:sym typeface="Canva Sans Bold"/>
              </a:rPr>
              <a:t>Team Members:</a:t>
            </a:r>
          </a:p>
          <a:p>
            <a:pPr algn="l">
              <a:lnSpc>
                <a:spcPts val="2520"/>
              </a:lnSpc>
            </a:pPr>
            <a:r>
              <a:rPr lang="en-US" sz="1800" b="true">
                <a:solidFill>
                  <a:srgbClr val="010101"/>
                </a:solidFill>
                <a:latin typeface="Canva Sans Bold"/>
                <a:ea typeface="Canva Sans Bold"/>
                <a:cs typeface="Canva Sans Bold"/>
                <a:sym typeface="Canva Sans Bold"/>
              </a:rPr>
              <a:t>Aditya Sanjay Pawar </a:t>
            </a:r>
          </a:p>
          <a:p>
            <a:pPr algn="l">
              <a:lnSpc>
                <a:spcPts val="2520"/>
              </a:lnSpc>
            </a:pPr>
            <a:r>
              <a:rPr lang="en-US" sz="1800" b="true">
                <a:solidFill>
                  <a:srgbClr val="010101"/>
                </a:solidFill>
                <a:latin typeface="Canva Sans Bold"/>
                <a:ea typeface="Canva Sans Bold"/>
                <a:cs typeface="Canva Sans Bold"/>
                <a:sym typeface="Canva Sans Bold"/>
              </a:rPr>
              <a:t>Utkarsh Anil Gaigole</a:t>
            </a:r>
          </a:p>
          <a:p>
            <a:pPr algn="l">
              <a:lnSpc>
                <a:spcPts val="2520"/>
              </a:lnSpc>
            </a:pPr>
            <a:r>
              <a:rPr lang="en-US" sz="1800" b="true">
                <a:solidFill>
                  <a:srgbClr val="010101"/>
                </a:solidFill>
                <a:latin typeface="Canva Sans Bold"/>
                <a:ea typeface="Canva Sans Bold"/>
                <a:cs typeface="Canva Sans Bold"/>
                <a:sym typeface="Canva Sans Bold"/>
              </a:rPr>
              <a:t>Sreelakshmi Koyambrath Sivaraman</a:t>
            </a:r>
          </a:p>
          <a:p>
            <a:pPr algn="l">
              <a:lnSpc>
                <a:spcPts val="2520"/>
              </a:lnSpc>
            </a:pPr>
            <a:r>
              <a:rPr lang="en-US" sz="1800" b="true">
                <a:solidFill>
                  <a:srgbClr val="010101"/>
                </a:solidFill>
                <a:latin typeface="Canva Sans Bold"/>
                <a:ea typeface="Canva Sans Bold"/>
                <a:cs typeface="Canva Sans Bold"/>
                <a:sym typeface="Canva Sans Bold"/>
              </a:rPr>
              <a:t>Kalaivani Sivakumar</a:t>
            </a:r>
          </a:p>
        </p:txBody>
      </p:sp>
      <p:sp>
        <p:nvSpPr>
          <p:cNvPr name="TextBox 9" id="9"/>
          <p:cNvSpPr txBox="true"/>
          <p:nvPr/>
        </p:nvSpPr>
        <p:spPr>
          <a:xfrm rot="0">
            <a:off x="1028700" y="2522427"/>
            <a:ext cx="2656221" cy="451486"/>
          </a:xfrm>
          <a:prstGeom prst="rect">
            <a:avLst/>
          </a:prstGeom>
        </p:spPr>
        <p:txBody>
          <a:bodyPr anchor="t" rtlCol="false" tIns="0" lIns="0" bIns="0" rIns="0">
            <a:spAutoFit/>
          </a:bodyPr>
          <a:lstStyle/>
          <a:p>
            <a:pPr algn="l">
              <a:lnSpc>
                <a:spcPts val="3959"/>
              </a:lnSpc>
              <a:spcBef>
                <a:spcPct val="0"/>
              </a:spcBef>
            </a:pPr>
            <a:r>
              <a:rPr lang="en-US" b="true" sz="2199">
                <a:solidFill>
                  <a:srgbClr val="010101"/>
                </a:solidFill>
                <a:latin typeface="Canva Sans Bold"/>
                <a:ea typeface="Canva Sans Bold"/>
                <a:cs typeface="Canva Sans Bold"/>
                <a:sym typeface="Canva Sans Bold"/>
              </a:rPr>
              <a:t>Advanced Python</a:t>
            </a:r>
          </a:p>
        </p:txBody>
      </p:sp>
      <p:sp>
        <p:nvSpPr>
          <p:cNvPr name="TextBox 10" id="10"/>
          <p:cNvSpPr txBox="true"/>
          <p:nvPr/>
        </p:nvSpPr>
        <p:spPr>
          <a:xfrm rot="0">
            <a:off x="951159" y="9675495"/>
            <a:ext cx="6965433" cy="611505"/>
          </a:xfrm>
          <a:prstGeom prst="rect">
            <a:avLst/>
          </a:prstGeom>
        </p:spPr>
        <p:txBody>
          <a:bodyPr anchor="t" rtlCol="false" tIns="0" lIns="0" bIns="0" rIns="0">
            <a:spAutoFit/>
          </a:bodyPr>
          <a:lstStyle/>
          <a:p>
            <a:pPr algn="l">
              <a:lnSpc>
                <a:spcPts val="2520"/>
              </a:lnSpc>
            </a:pPr>
            <a:r>
              <a:rPr lang="en-US" sz="1800">
                <a:solidFill>
                  <a:srgbClr val="010101"/>
                </a:solidFill>
                <a:latin typeface="Canva Sans"/>
                <a:ea typeface="Canva Sans"/>
                <a:cs typeface="Canva Sans"/>
                <a:sym typeface="Canva Sans"/>
              </a:rPr>
              <a:t>Mentor : </a:t>
            </a:r>
            <a:r>
              <a:rPr lang="en-US" sz="1800" b="true">
                <a:solidFill>
                  <a:srgbClr val="010101"/>
                </a:solidFill>
                <a:latin typeface="Canva Sans Bold"/>
                <a:ea typeface="Canva Sans Bold"/>
                <a:cs typeface="Canva Sans Bold"/>
                <a:sym typeface="Canva Sans Bold"/>
              </a:rPr>
              <a:t>Mobasher,  Dr. Ghadeer (Dr. G)</a:t>
            </a:r>
          </a:p>
          <a:p>
            <a:pPr algn="l">
              <a:lnSpc>
                <a:spcPts val="252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039039">
            <a:off x="-628093" y="-1939702"/>
            <a:ext cx="17450388" cy="14143428"/>
            <a:chOff x="0" y="0"/>
            <a:chExt cx="23267184" cy="18857904"/>
          </a:xfrm>
        </p:grpSpPr>
        <p:sp>
          <p:nvSpPr>
            <p:cNvPr name="Freeform 3" id="3"/>
            <p:cNvSpPr/>
            <p:nvPr/>
          </p:nvSpPr>
          <p:spPr>
            <a:xfrm flipH="false" flipV="false" rot="-4342425">
              <a:off x="1013914" y="7270324"/>
              <a:ext cx="10704113" cy="9958182"/>
            </a:xfrm>
            <a:custGeom>
              <a:avLst/>
              <a:gdLst/>
              <a:ahLst/>
              <a:cxnLst/>
              <a:rect r="r" b="b" t="t" l="l"/>
              <a:pathLst>
                <a:path h="9958182" w="10704113">
                  <a:moveTo>
                    <a:pt x="0" y="0"/>
                  </a:moveTo>
                  <a:lnTo>
                    <a:pt x="10704113" y="0"/>
                  </a:lnTo>
                  <a:lnTo>
                    <a:pt x="10704113" y="9958182"/>
                  </a:lnTo>
                  <a:lnTo>
                    <a:pt x="0" y="99581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descr="an illustration of a curved road on a white background"/>
            <p:cNvSpPr/>
            <p:nvPr/>
          </p:nvSpPr>
          <p:spPr>
            <a:xfrm flipH="false" flipV="false" rot="-5088691">
              <a:off x="12472439" y="801307"/>
              <a:ext cx="10704113" cy="9958182"/>
            </a:xfrm>
            <a:custGeom>
              <a:avLst/>
              <a:gdLst/>
              <a:ahLst/>
              <a:cxnLst/>
              <a:rect r="r" b="b" t="t" l="l"/>
              <a:pathLst>
                <a:path h="9958182" w="10704113">
                  <a:moveTo>
                    <a:pt x="0" y="0"/>
                  </a:moveTo>
                  <a:lnTo>
                    <a:pt x="10704113" y="0"/>
                  </a:lnTo>
                  <a:lnTo>
                    <a:pt x="10704113" y="9958181"/>
                  </a:lnTo>
                  <a:lnTo>
                    <a:pt x="0" y="9958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4954402" y="11344666"/>
              <a:ext cx="2823136" cy="282313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95F"/>
              </a:solidFill>
              <a:ln w="171450" cap="sq">
                <a:solidFill>
                  <a:srgbClr val="FFFFFF"/>
                </a:solidFill>
                <a:prstDash val="solid"/>
                <a:miter/>
              </a:ln>
            </p:spPr>
          </p:sp>
          <p:sp>
            <p:nvSpPr>
              <p:cNvPr name="TextBox 7" id="7"/>
              <p:cNvSpPr txBox="true"/>
              <p:nvPr/>
            </p:nvSpPr>
            <p:spPr>
              <a:xfrm>
                <a:off x="76200" y="-38100"/>
                <a:ext cx="660400" cy="774700"/>
              </a:xfrm>
              <a:prstGeom prst="rect">
                <a:avLst/>
              </a:prstGeom>
            </p:spPr>
            <p:txBody>
              <a:bodyPr anchor="ctr" rtlCol="false" tIns="50800" lIns="50800" bIns="50800" rIns="50800"/>
              <a:lstStyle/>
              <a:p>
                <a:pPr algn="ctr">
                  <a:lnSpc>
                    <a:spcPts val="3599"/>
                  </a:lnSpc>
                </a:pPr>
              </a:p>
            </p:txBody>
          </p:sp>
        </p:grpSp>
        <p:grpSp>
          <p:nvGrpSpPr>
            <p:cNvPr name="Group 8" id="8"/>
            <p:cNvGrpSpPr/>
            <p:nvPr/>
          </p:nvGrpSpPr>
          <p:grpSpPr>
            <a:xfrm rot="0">
              <a:off x="10700683" y="7947352"/>
              <a:ext cx="2823136" cy="282313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0654"/>
              </a:solidFill>
              <a:ln w="171450" cap="sq">
                <a:solidFill>
                  <a:srgbClr val="FFFFFF"/>
                </a:solidFill>
                <a:prstDash val="solid"/>
                <a:miter/>
              </a:ln>
            </p:spPr>
          </p:sp>
          <p:sp>
            <p:nvSpPr>
              <p:cNvPr name="TextBox 10" id="10"/>
              <p:cNvSpPr txBox="true"/>
              <p:nvPr/>
            </p:nvSpPr>
            <p:spPr>
              <a:xfrm>
                <a:off x="76200" y="-38100"/>
                <a:ext cx="660400" cy="774700"/>
              </a:xfrm>
              <a:prstGeom prst="rect">
                <a:avLst/>
              </a:prstGeom>
            </p:spPr>
            <p:txBody>
              <a:bodyPr anchor="ctr" rtlCol="false" tIns="50800" lIns="50800" bIns="50800" rIns="50800"/>
              <a:lstStyle/>
              <a:p>
                <a:pPr algn="ctr">
                  <a:lnSpc>
                    <a:spcPts val="3599"/>
                  </a:lnSpc>
                </a:pPr>
              </a:p>
            </p:txBody>
          </p:sp>
        </p:grpSp>
        <p:grpSp>
          <p:nvGrpSpPr>
            <p:cNvPr name="Group 11" id="11"/>
            <p:cNvGrpSpPr/>
            <p:nvPr/>
          </p:nvGrpSpPr>
          <p:grpSpPr>
            <a:xfrm rot="0">
              <a:off x="16203433" y="5124217"/>
              <a:ext cx="2823136" cy="282313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D576"/>
              </a:solidFill>
              <a:ln w="171450" cap="sq">
                <a:solidFill>
                  <a:srgbClr val="FFFFFF"/>
                </a:solidFill>
                <a:prstDash val="solid"/>
                <a:miter/>
              </a:ln>
            </p:spPr>
          </p:sp>
          <p:sp>
            <p:nvSpPr>
              <p:cNvPr name="TextBox 13" id="13"/>
              <p:cNvSpPr txBox="true"/>
              <p:nvPr/>
            </p:nvSpPr>
            <p:spPr>
              <a:xfrm>
                <a:off x="76200" y="-38100"/>
                <a:ext cx="660400" cy="774700"/>
              </a:xfrm>
              <a:prstGeom prst="rect">
                <a:avLst/>
              </a:prstGeom>
            </p:spPr>
            <p:txBody>
              <a:bodyPr anchor="ctr" rtlCol="false" tIns="50800" lIns="50800" bIns="50800" rIns="50800"/>
              <a:lstStyle/>
              <a:p>
                <a:pPr algn="ctr">
                  <a:lnSpc>
                    <a:spcPts val="3599"/>
                  </a:lnSpc>
                </a:pPr>
              </a:p>
            </p:txBody>
          </p:sp>
        </p:grpSp>
      </p:grpSp>
      <p:sp>
        <p:nvSpPr>
          <p:cNvPr name="TextBox 14" id="14"/>
          <p:cNvSpPr txBox="true"/>
          <p:nvPr/>
        </p:nvSpPr>
        <p:spPr>
          <a:xfrm rot="0">
            <a:off x="1524503" y="170130"/>
            <a:ext cx="11086214" cy="1334479"/>
          </a:xfrm>
          <a:prstGeom prst="rect">
            <a:avLst/>
          </a:prstGeom>
        </p:spPr>
        <p:txBody>
          <a:bodyPr anchor="t" rtlCol="false" tIns="0" lIns="0" bIns="0" rIns="0">
            <a:spAutoFit/>
          </a:bodyPr>
          <a:lstStyle/>
          <a:p>
            <a:pPr algn="l">
              <a:lnSpc>
                <a:spcPts val="9201"/>
              </a:lnSpc>
            </a:pPr>
            <a:r>
              <a:rPr lang="en-US" sz="8142">
                <a:solidFill>
                  <a:srgbClr val="010101"/>
                </a:solidFill>
                <a:latin typeface="Chunk Five"/>
                <a:ea typeface="Chunk Five"/>
                <a:cs typeface="Chunk Five"/>
                <a:sym typeface="Chunk Five"/>
              </a:rPr>
              <a:t>Agenda</a:t>
            </a:r>
          </a:p>
        </p:txBody>
      </p:sp>
      <p:sp>
        <p:nvSpPr>
          <p:cNvPr name="TextBox 15" id="15"/>
          <p:cNvSpPr txBox="true"/>
          <p:nvPr/>
        </p:nvSpPr>
        <p:spPr>
          <a:xfrm rot="0">
            <a:off x="7582254" y="7760874"/>
            <a:ext cx="4388639" cy="430531"/>
          </a:xfrm>
          <a:prstGeom prst="rect">
            <a:avLst/>
          </a:prstGeom>
        </p:spPr>
        <p:txBody>
          <a:bodyPr anchor="t" rtlCol="false" tIns="0" lIns="0" bIns="0" rIns="0">
            <a:spAutoFit/>
          </a:bodyPr>
          <a:lstStyle/>
          <a:p>
            <a:pPr algn="l">
              <a:lnSpc>
                <a:spcPts val="3779"/>
              </a:lnSpc>
            </a:pPr>
            <a:r>
              <a:rPr lang="en-US" sz="2099" b="true">
                <a:solidFill>
                  <a:srgbClr val="010101"/>
                </a:solidFill>
                <a:latin typeface="Canva Sans Bold"/>
                <a:ea typeface="Canva Sans Bold"/>
                <a:cs typeface="Canva Sans Bold"/>
                <a:sym typeface="Canva Sans Bold"/>
              </a:rPr>
              <a:t>4-FIFO</a:t>
            </a:r>
            <a:r>
              <a:rPr lang="en-US" b="true" sz="2099">
                <a:solidFill>
                  <a:srgbClr val="010101"/>
                </a:solidFill>
                <a:latin typeface="Canva Sans Bold"/>
                <a:ea typeface="Canva Sans Bold"/>
                <a:cs typeface="Canva Sans Bold"/>
                <a:sym typeface="Canva Sans Bold"/>
              </a:rPr>
              <a:t> Scheduling (Concept)</a:t>
            </a:r>
          </a:p>
        </p:txBody>
      </p:sp>
      <p:sp>
        <p:nvSpPr>
          <p:cNvPr name="TextBox 16" id="16"/>
          <p:cNvSpPr txBox="true"/>
          <p:nvPr/>
        </p:nvSpPr>
        <p:spPr>
          <a:xfrm rot="0">
            <a:off x="9670714" y="4042463"/>
            <a:ext cx="3648591" cy="430531"/>
          </a:xfrm>
          <a:prstGeom prst="rect">
            <a:avLst/>
          </a:prstGeom>
        </p:spPr>
        <p:txBody>
          <a:bodyPr anchor="t" rtlCol="false" tIns="0" lIns="0" bIns="0" rIns="0">
            <a:spAutoFit/>
          </a:bodyPr>
          <a:lstStyle/>
          <a:p>
            <a:pPr algn="l">
              <a:lnSpc>
                <a:spcPts val="3779"/>
              </a:lnSpc>
            </a:pPr>
            <a:r>
              <a:rPr lang="en-US" sz="2099" b="true">
                <a:solidFill>
                  <a:srgbClr val="010101"/>
                </a:solidFill>
                <a:latin typeface="Canva Sans Bold"/>
                <a:ea typeface="Canva Sans Bold"/>
                <a:cs typeface="Canva Sans Bold"/>
                <a:sym typeface="Canva Sans Bold"/>
              </a:rPr>
              <a:t>5- Comp</a:t>
            </a:r>
            <a:r>
              <a:rPr lang="en-US" b="true" sz="2099">
                <a:solidFill>
                  <a:srgbClr val="010101"/>
                </a:solidFill>
                <a:latin typeface="Canva Sans Bold"/>
                <a:ea typeface="Canva Sans Bold"/>
                <a:cs typeface="Canva Sans Bold"/>
                <a:sym typeface="Canva Sans Bold"/>
              </a:rPr>
              <a:t>arison &amp; Diagrams</a:t>
            </a:r>
          </a:p>
        </p:txBody>
      </p:sp>
      <p:sp>
        <p:nvSpPr>
          <p:cNvPr name="TextBox 17" id="17"/>
          <p:cNvSpPr txBox="true"/>
          <p:nvPr/>
        </p:nvSpPr>
        <p:spPr>
          <a:xfrm rot="0">
            <a:off x="461692" y="3382923"/>
            <a:ext cx="3418140" cy="455801"/>
          </a:xfrm>
          <a:prstGeom prst="rect">
            <a:avLst/>
          </a:prstGeom>
        </p:spPr>
        <p:txBody>
          <a:bodyPr anchor="t" rtlCol="false" tIns="0" lIns="0" bIns="0" rIns="0">
            <a:spAutoFit/>
          </a:bodyPr>
          <a:lstStyle/>
          <a:p>
            <a:pPr algn="l">
              <a:lnSpc>
                <a:spcPts val="4047"/>
              </a:lnSpc>
            </a:pPr>
            <a:r>
              <a:rPr lang="en-US" sz="2248" b="true">
                <a:solidFill>
                  <a:srgbClr val="010101"/>
                </a:solidFill>
                <a:latin typeface="Canva Sans Bold"/>
                <a:ea typeface="Canva Sans Bold"/>
                <a:cs typeface="Canva Sans Bold"/>
                <a:sym typeface="Canva Sans Bold"/>
              </a:rPr>
              <a:t>1 -What is Scheduling ?</a:t>
            </a:r>
          </a:p>
        </p:txBody>
      </p:sp>
      <p:sp>
        <p:nvSpPr>
          <p:cNvPr name="Freeform 18" id="18"/>
          <p:cNvSpPr/>
          <p:nvPr/>
        </p:nvSpPr>
        <p:spPr>
          <a:xfrm flipH="false" flipV="false" rot="0">
            <a:off x="-995092" y="-860260"/>
            <a:ext cx="2009235" cy="2606319"/>
          </a:xfrm>
          <a:custGeom>
            <a:avLst/>
            <a:gdLst/>
            <a:ahLst/>
            <a:cxnLst/>
            <a:rect r="r" b="b" t="t" l="l"/>
            <a:pathLst>
              <a:path h="2606319" w="2009235">
                <a:moveTo>
                  <a:pt x="0" y="0"/>
                </a:moveTo>
                <a:lnTo>
                  <a:pt x="2009234" y="0"/>
                </a:lnTo>
                <a:lnTo>
                  <a:pt x="2009234" y="2606319"/>
                </a:lnTo>
                <a:lnTo>
                  <a:pt x="0" y="26063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2810575" y="6755096"/>
            <a:ext cx="2811363" cy="430531"/>
          </a:xfrm>
          <a:prstGeom prst="rect">
            <a:avLst/>
          </a:prstGeom>
        </p:spPr>
        <p:txBody>
          <a:bodyPr anchor="t" rtlCol="false" tIns="0" lIns="0" bIns="0" rIns="0">
            <a:spAutoFit/>
          </a:bodyPr>
          <a:lstStyle/>
          <a:p>
            <a:pPr algn="ctr">
              <a:lnSpc>
                <a:spcPts val="3779"/>
              </a:lnSpc>
              <a:spcBef>
                <a:spcPct val="0"/>
              </a:spcBef>
            </a:pPr>
            <a:r>
              <a:rPr lang="en-US" b="true" sz="2099">
                <a:solidFill>
                  <a:srgbClr val="010101"/>
                </a:solidFill>
                <a:latin typeface="Canva Sans Bold"/>
                <a:ea typeface="Canva Sans Bold"/>
                <a:cs typeface="Canva Sans Bold"/>
                <a:sym typeface="Canva Sans Bold"/>
              </a:rPr>
              <a:t>2- </a:t>
            </a:r>
            <a:r>
              <a:rPr lang="en-US" b="true" sz="2099">
                <a:solidFill>
                  <a:srgbClr val="010101"/>
                </a:solidFill>
                <a:latin typeface="Canva Sans Bold"/>
                <a:ea typeface="Canva Sans Bold"/>
                <a:cs typeface="Canva Sans Bold"/>
                <a:sym typeface="Canva Sans Bold"/>
              </a:rPr>
              <a:t>Priority Scheduling</a:t>
            </a:r>
          </a:p>
        </p:txBody>
      </p:sp>
      <p:sp>
        <p:nvSpPr>
          <p:cNvPr name="TextBox 20" id="20"/>
          <p:cNvSpPr txBox="true"/>
          <p:nvPr/>
        </p:nvSpPr>
        <p:spPr>
          <a:xfrm rot="0">
            <a:off x="5866365" y="2504734"/>
            <a:ext cx="3431778"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010101"/>
                </a:solidFill>
                <a:latin typeface="Canva Sans Bold"/>
                <a:ea typeface="Canva Sans Bold"/>
                <a:cs typeface="Canva Sans Bold"/>
                <a:sym typeface="Canva Sans Bold"/>
              </a:rPr>
              <a:t>3- </a:t>
            </a:r>
            <a:r>
              <a:rPr lang="en-US" b="true" sz="2099">
                <a:solidFill>
                  <a:srgbClr val="010101"/>
                </a:solidFill>
                <a:latin typeface="Canva Sans Bold"/>
                <a:ea typeface="Canva Sans Bold"/>
                <a:cs typeface="Canva Sans Bold"/>
                <a:sym typeface="Canva Sans Bold"/>
              </a:rPr>
              <a:t>Python Implementation</a:t>
            </a:r>
          </a:p>
        </p:txBody>
      </p:sp>
      <p:sp>
        <p:nvSpPr>
          <p:cNvPr name="TextBox 21" id="21"/>
          <p:cNvSpPr txBox="true"/>
          <p:nvPr/>
        </p:nvSpPr>
        <p:spPr>
          <a:xfrm rot="0">
            <a:off x="12610716" y="7876158"/>
            <a:ext cx="3643610"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010101"/>
                </a:solidFill>
                <a:latin typeface="Canva Sans Bold"/>
                <a:ea typeface="Canva Sans Bold"/>
                <a:cs typeface="Canva Sans Bold"/>
                <a:sym typeface="Canva Sans Bold"/>
              </a:rPr>
              <a:t>6- </a:t>
            </a:r>
            <a:r>
              <a:rPr lang="en-US" b="true" sz="2099">
                <a:solidFill>
                  <a:srgbClr val="010101"/>
                </a:solidFill>
                <a:latin typeface="Canva Sans Bold"/>
                <a:ea typeface="Canva Sans Bold"/>
                <a:cs typeface="Canva Sans Bold"/>
                <a:sym typeface="Canva Sans Bold"/>
              </a:rPr>
              <a:t>Advantages &amp; Limitations</a:t>
            </a:r>
          </a:p>
        </p:txBody>
      </p:sp>
      <p:sp>
        <p:nvSpPr>
          <p:cNvPr name="TextBox 22" id="22"/>
          <p:cNvSpPr txBox="true"/>
          <p:nvPr/>
        </p:nvSpPr>
        <p:spPr>
          <a:xfrm rot="0">
            <a:off x="14583271" y="2345666"/>
            <a:ext cx="2942729"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010101"/>
                </a:solidFill>
                <a:latin typeface="Canva Sans Bold"/>
                <a:ea typeface="Canva Sans Bold"/>
                <a:cs typeface="Canva Sans Bold"/>
                <a:sym typeface="Canva Sans Bold"/>
              </a:rPr>
              <a:t>7-</a:t>
            </a:r>
            <a:r>
              <a:rPr lang="en-US" b="true" sz="2099">
                <a:solidFill>
                  <a:srgbClr val="010101"/>
                </a:solidFill>
                <a:latin typeface="Canva Sans Bold"/>
                <a:ea typeface="Canva Sans Bold"/>
                <a:cs typeface="Canva Sans Bold"/>
                <a:sym typeface="Canva Sans Bold"/>
              </a:rPr>
              <a:t>Real World Examples</a:t>
            </a:r>
          </a:p>
        </p:txBody>
      </p:sp>
      <p:sp>
        <p:nvSpPr>
          <p:cNvPr name="TextBox 23" id="23"/>
          <p:cNvSpPr txBox="true"/>
          <p:nvPr/>
        </p:nvSpPr>
        <p:spPr>
          <a:xfrm rot="0">
            <a:off x="16463977" y="6617502"/>
            <a:ext cx="1729383"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010101"/>
                </a:solidFill>
                <a:latin typeface="Canva Sans Bold"/>
                <a:ea typeface="Canva Sans Bold"/>
                <a:cs typeface="Canva Sans Bold"/>
                <a:sym typeface="Canva Sans Bold"/>
              </a:rPr>
              <a:t>8-</a:t>
            </a:r>
            <a:r>
              <a:rPr lang="en-US" b="true" sz="2099">
                <a:solidFill>
                  <a:srgbClr val="010101"/>
                </a:solidFill>
                <a:latin typeface="Canva Sans Bold"/>
                <a:ea typeface="Canva Sans Bold"/>
                <a:cs typeface="Canva Sans Bold"/>
                <a:sym typeface="Canva Sans Bold"/>
              </a:rPr>
              <a:t>Conclusion</a:t>
            </a:r>
          </a:p>
        </p:txBody>
      </p:sp>
      <p:sp>
        <p:nvSpPr>
          <p:cNvPr name="AutoShape 24" id="24"/>
          <p:cNvSpPr/>
          <p:nvPr/>
        </p:nvSpPr>
        <p:spPr>
          <a:xfrm flipV="true">
            <a:off x="3955043" y="5632234"/>
            <a:ext cx="0" cy="1102860"/>
          </a:xfrm>
          <a:prstGeom prst="line">
            <a:avLst/>
          </a:prstGeom>
          <a:ln cap="flat" w="38100">
            <a:solidFill>
              <a:srgbClr val="000000"/>
            </a:solidFill>
            <a:prstDash val="sysDot"/>
            <a:headEnd type="none" len="sm" w="sm"/>
            <a:tailEnd type="none" len="sm" w="sm"/>
          </a:ln>
        </p:spPr>
      </p:sp>
      <p:sp>
        <p:nvSpPr>
          <p:cNvPr name="AutoShape 25" id="25"/>
          <p:cNvSpPr/>
          <p:nvPr/>
        </p:nvSpPr>
        <p:spPr>
          <a:xfrm flipV="true">
            <a:off x="2445476" y="3838725"/>
            <a:ext cx="0" cy="1102860"/>
          </a:xfrm>
          <a:prstGeom prst="line">
            <a:avLst/>
          </a:prstGeom>
          <a:ln cap="flat" w="38100">
            <a:solidFill>
              <a:srgbClr val="000000"/>
            </a:solidFill>
            <a:prstDash val="sysDot"/>
            <a:headEnd type="none" len="sm" w="sm"/>
            <a:tailEnd type="none" len="sm" w="sm"/>
          </a:ln>
        </p:spPr>
      </p:sp>
      <p:sp>
        <p:nvSpPr>
          <p:cNvPr name="AutoShape 26" id="26"/>
          <p:cNvSpPr/>
          <p:nvPr/>
        </p:nvSpPr>
        <p:spPr>
          <a:xfrm flipH="true" flipV="true">
            <a:off x="7582254" y="2860969"/>
            <a:ext cx="39934" cy="1612024"/>
          </a:xfrm>
          <a:prstGeom prst="line">
            <a:avLst/>
          </a:prstGeom>
          <a:ln cap="flat" w="38100">
            <a:solidFill>
              <a:srgbClr val="000000"/>
            </a:solidFill>
            <a:prstDash val="sysDot"/>
            <a:headEnd type="none" len="sm" w="sm"/>
            <a:tailEnd type="none" len="sm" w="sm"/>
          </a:ln>
        </p:spPr>
      </p:sp>
      <p:sp>
        <p:nvSpPr>
          <p:cNvPr name="AutoShape 27" id="27"/>
          <p:cNvSpPr/>
          <p:nvPr/>
        </p:nvSpPr>
        <p:spPr>
          <a:xfrm flipV="true">
            <a:off x="8952845" y="5983300"/>
            <a:ext cx="0" cy="1891873"/>
          </a:xfrm>
          <a:prstGeom prst="line">
            <a:avLst/>
          </a:prstGeom>
          <a:ln cap="flat" w="38100">
            <a:solidFill>
              <a:srgbClr val="000000"/>
            </a:solidFill>
            <a:prstDash val="sysDot"/>
            <a:headEnd type="none" len="sm" w="sm"/>
            <a:tailEnd type="none" len="sm" w="sm"/>
          </a:ln>
        </p:spPr>
      </p:sp>
      <p:sp>
        <p:nvSpPr>
          <p:cNvPr name="AutoShape 28" id="28"/>
          <p:cNvSpPr/>
          <p:nvPr/>
        </p:nvSpPr>
        <p:spPr>
          <a:xfrm flipV="true">
            <a:off x="11951843" y="4517204"/>
            <a:ext cx="0" cy="1466097"/>
          </a:xfrm>
          <a:prstGeom prst="line">
            <a:avLst/>
          </a:prstGeom>
          <a:ln cap="flat" w="38100">
            <a:solidFill>
              <a:srgbClr val="000000"/>
            </a:solidFill>
            <a:prstDash val="sysDot"/>
            <a:headEnd type="none" len="sm" w="sm"/>
            <a:tailEnd type="none" len="sm" w="sm"/>
          </a:ln>
        </p:spPr>
      </p:sp>
      <p:sp>
        <p:nvSpPr>
          <p:cNvPr name="AutoShape 29" id="29"/>
          <p:cNvSpPr/>
          <p:nvPr/>
        </p:nvSpPr>
        <p:spPr>
          <a:xfrm flipV="true">
            <a:off x="14082216" y="5817775"/>
            <a:ext cx="4552" cy="1882939"/>
          </a:xfrm>
          <a:prstGeom prst="line">
            <a:avLst/>
          </a:prstGeom>
          <a:ln cap="flat" w="38100">
            <a:solidFill>
              <a:srgbClr val="000000"/>
            </a:solidFill>
            <a:prstDash val="sysDot"/>
            <a:headEnd type="none" len="sm" w="sm"/>
            <a:tailEnd type="none" len="sm" w="sm"/>
          </a:ln>
        </p:spPr>
      </p:sp>
      <p:sp>
        <p:nvSpPr>
          <p:cNvPr name="AutoShape 30" id="30"/>
          <p:cNvSpPr/>
          <p:nvPr/>
        </p:nvSpPr>
        <p:spPr>
          <a:xfrm flipV="true">
            <a:off x="16054636" y="2701902"/>
            <a:ext cx="0" cy="2027246"/>
          </a:xfrm>
          <a:prstGeom prst="line">
            <a:avLst/>
          </a:prstGeom>
          <a:ln cap="flat" w="38100">
            <a:solidFill>
              <a:srgbClr val="000000"/>
            </a:solidFill>
            <a:prstDash val="sysDot"/>
            <a:headEnd type="none" len="sm" w="sm"/>
            <a:tailEnd type="none" len="sm" w="sm"/>
          </a:ln>
        </p:spPr>
      </p:sp>
      <p:sp>
        <p:nvSpPr>
          <p:cNvPr name="AutoShape 31" id="31"/>
          <p:cNvSpPr/>
          <p:nvPr/>
        </p:nvSpPr>
        <p:spPr>
          <a:xfrm flipH="true" flipV="true">
            <a:off x="17278340" y="5132641"/>
            <a:ext cx="50329" cy="1522960"/>
          </a:xfrm>
          <a:prstGeom prst="line">
            <a:avLst/>
          </a:prstGeom>
          <a:ln cap="flat" w="38100">
            <a:solidFill>
              <a:srgbClr val="000000"/>
            </a:solidFill>
            <a:prstDash val="sysDot"/>
            <a:headEnd type="none" len="sm" w="sm"/>
            <a:tailEnd type="none" len="sm" w="sm"/>
          </a:ln>
        </p:spPr>
      </p:sp>
      <p:grpSp>
        <p:nvGrpSpPr>
          <p:cNvPr name="Group 32" id="32"/>
          <p:cNvGrpSpPr/>
          <p:nvPr/>
        </p:nvGrpSpPr>
        <p:grpSpPr>
          <a:xfrm rot="2039039">
            <a:off x="15759718" y="3670472"/>
            <a:ext cx="2117352" cy="2117352"/>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0654"/>
            </a:solidFill>
            <a:ln w="180975" cap="sq">
              <a:solidFill>
                <a:srgbClr val="FFFFFF"/>
              </a:solidFill>
              <a:prstDash val="solid"/>
              <a:miter/>
            </a:ln>
          </p:spPr>
        </p:sp>
        <p:sp>
          <p:nvSpPr>
            <p:cNvPr name="TextBox 34" id="34"/>
            <p:cNvSpPr txBox="true"/>
            <p:nvPr/>
          </p:nvSpPr>
          <p:spPr>
            <a:xfrm>
              <a:off x="76200" y="-38100"/>
              <a:ext cx="660400" cy="774700"/>
            </a:xfrm>
            <a:prstGeom prst="rect">
              <a:avLst/>
            </a:prstGeom>
          </p:spPr>
          <p:txBody>
            <a:bodyPr anchor="ctr" rtlCol="false" tIns="53206" lIns="53206" bIns="53206" rIns="53206"/>
            <a:lstStyle/>
            <a:p>
              <a:pPr algn="ctr">
                <a:lnSpc>
                  <a:spcPts val="359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31060" y="6938090"/>
            <a:ext cx="2009235" cy="2606319"/>
          </a:xfrm>
          <a:custGeom>
            <a:avLst/>
            <a:gdLst/>
            <a:ahLst/>
            <a:cxnLst/>
            <a:rect r="r" b="b" t="t" l="l"/>
            <a:pathLst>
              <a:path h="2606319" w="2009235">
                <a:moveTo>
                  <a:pt x="0" y="0"/>
                </a:moveTo>
                <a:lnTo>
                  <a:pt x="2009234" y="0"/>
                </a:lnTo>
                <a:lnTo>
                  <a:pt x="2009234" y="2606319"/>
                </a:lnTo>
                <a:lnTo>
                  <a:pt x="0" y="26063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328610" y="46498"/>
            <a:ext cx="2009235" cy="2606319"/>
          </a:xfrm>
          <a:custGeom>
            <a:avLst/>
            <a:gdLst/>
            <a:ahLst/>
            <a:cxnLst/>
            <a:rect r="r" b="b" t="t" l="l"/>
            <a:pathLst>
              <a:path h="2606319" w="2009235">
                <a:moveTo>
                  <a:pt x="2009234" y="0"/>
                </a:moveTo>
                <a:lnTo>
                  <a:pt x="0" y="0"/>
                </a:lnTo>
                <a:lnTo>
                  <a:pt x="0" y="2606319"/>
                </a:lnTo>
                <a:lnTo>
                  <a:pt x="2009234" y="2606319"/>
                </a:lnTo>
                <a:lnTo>
                  <a:pt x="20092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858611" y="462376"/>
            <a:ext cx="12570779" cy="887282"/>
          </a:xfrm>
          <a:prstGeom prst="rect">
            <a:avLst/>
          </a:prstGeom>
        </p:spPr>
        <p:txBody>
          <a:bodyPr anchor="t" rtlCol="false" tIns="0" lIns="0" bIns="0" rIns="0">
            <a:spAutoFit/>
          </a:bodyPr>
          <a:lstStyle/>
          <a:p>
            <a:pPr algn="ctr">
              <a:lnSpc>
                <a:spcPts val="5924"/>
              </a:lnSpc>
            </a:pPr>
            <a:r>
              <a:rPr lang="en-US" sz="5696">
                <a:solidFill>
                  <a:srgbClr val="010101"/>
                </a:solidFill>
                <a:latin typeface="Chunk Five"/>
                <a:ea typeface="Chunk Five"/>
                <a:cs typeface="Chunk Five"/>
                <a:sym typeface="Chunk Five"/>
              </a:rPr>
              <a:t>Wha</a:t>
            </a:r>
            <a:r>
              <a:rPr lang="en-US" sz="5696">
                <a:solidFill>
                  <a:srgbClr val="010101"/>
                </a:solidFill>
                <a:latin typeface="Chunk Five"/>
                <a:ea typeface="Chunk Five"/>
                <a:cs typeface="Chunk Five"/>
                <a:sym typeface="Chunk Five"/>
              </a:rPr>
              <a:t>t is Scheduling?</a:t>
            </a:r>
          </a:p>
        </p:txBody>
      </p:sp>
      <p:sp>
        <p:nvSpPr>
          <p:cNvPr name="TextBox 5" id="5"/>
          <p:cNvSpPr txBox="true"/>
          <p:nvPr/>
        </p:nvSpPr>
        <p:spPr>
          <a:xfrm rot="0">
            <a:off x="3152241" y="1492650"/>
            <a:ext cx="11983518" cy="1362711"/>
          </a:xfrm>
          <a:prstGeom prst="rect">
            <a:avLst/>
          </a:prstGeom>
        </p:spPr>
        <p:txBody>
          <a:bodyPr anchor="t" rtlCol="false" tIns="0" lIns="0" bIns="0" rIns="0">
            <a:spAutoFit/>
          </a:bodyPr>
          <a:lstStyle/>
          <a:p>
            <a:pPr algn="ctr">
              <a:lnSpc>
                <a:spcPts val="3639"/>
              </a:lnSpc>
              <a:spcBef>
                <a:spcPct val="0"/>
              </a:spcBef>
            </a:pPr>
            <a:r>
              <a:rPr lang="en-US" sz="2599">
                <a:solidFill>
                  <a:srgbClr val="010101"/>
                </a:solidFill>
                <a:latin typeface="Canva Sans"/>
                <a:ea typeface="Canva Sans"/>
                <a:cs typeface="Canva Sans"/>
                <a:sym typeface="Canva Sans"/>
              </a:rPr>
              <a:t>This is the overar</a:t>
            </a:r>
            <a:r>
              <a:rPr lang="en-US" sz="2599">
                <a:solidFill>
                  <a:srgbClr val="010101"/>
                </a:solidFill>
                <a:latin typeface="Canva Sans"/>
                <a:ea typeface="Canva Sans"/>
                <a:cs typeface="Canva Sans"/>
                <a:sym typeface="Canva Sans"/>
              </a:rPr>
              <a:t>ching strategy used by operating systems or frameworks to determine which process gets access to CPU time and resources .</a:t>
            </a:r>
          </a:p>
          <a:p>
            <a:pPr algn="ctr">
              <a:lnSpc>
                <a:spcPts val="3639"/>
              </a:lnSpc>
              <a:spcBef>
                <a:spcPct val="0"/>
              </a:spcBef>
            </a:pPr>
            <a:r>
              <a:rPr lang="en-US" sz="2599">
                <a:solidFill>
                  <a:srgbClr val="010101"/>
                </a:solidFill>
                <a:latin typeface="Canva Sans"/>
                <a:ea typeface="Canva Sans"/>
                <a:cs typeface="Canva Sans"/>
                <a:sym typeface="Canva Sans"/>
              </a:rPr>
              <a:t>The main goal is to balance efficiency, throughput, and fairness. </a:t>
            </a:r>
          </a:p>
        </p:txBody>
      </p:sp>
      <p:grpSp>
        <p:nvGrpSpPr>
          <p:cNvPr name="Group 6" id="6"/>
          <p:cNvGrpSpPr/>
          <p:nvPr/>
        </p:nvGrpSpPr>
        <p:grpSpPr>
          <a:xfrm rot="0">
            <a:off x="10308096" y="3690272"/>
            <a:ext cx="6120552" cy="5084540"/>
            <a:chOff x="0" y="0"/>
            <a:chExt cx="8160735" cy="6779387"/>
          </a:xfrm>
        </p:grpSpPr>
        <p:sp>
          <p:nvSpPr>
            <p:cNvPr name="Freeform 7" id="7"/>
            <p:cNvSpPr/>
            <p:nvPr/>
          </p:nvSpPr>
          <p:spPr>
            <a:xfrm flipH="false" flipV="false" rot="0">
              <a:off x="941788" y="1292987"/>
              <a:ext cx="7218947" cy="5486400"/>
            </a:xfrm>
            <a:custGeom>
              <a:avLst/>
              <a:gdLst/>
              <a:ahLst/>
              <a:cxnLst/>
              <a:rect r="r" b="b" t="t" l="l"/>
              <a:pathLst>
                <a:path h="5486400" w="7218947">
                  <a:moveTo>
                    <a:pt x="0" y="0"/>
                  </a:moveTo>
                  <a:lnTo>
                    <a:pt x="7218947" y="0"/>
                  </a:lnTo>
                  <a:lnTo>
                    <a:pt x="7218947"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417463" y="1337715"/>
              <a:ext cx="4216797" cy="600711"/>
            </a:xfrm>
            <a:prstGeom prst="rect">
              <a:avLst/>
            </a:prstGeom>
          </p:spPr>
          <p:txBody>
            <a:bodyPr anchor="t" rtlCol="false" tIns="0" lIns="0" bIns="0" rIns="0">
              <a:spAutoFit/>
            </a:bodyPr>
            <a:lstStyle/>
            <a:p>
              <a:pPr algn="ctr">
                <a:lnSpc>
                  <a:spcPts val="3779"/>
                </a:lnSpc>
                <a:spcBef>
                  <a:spcPct val="0"/>
                </a:spcBef>
              </a:pPr>
              <a:r>
                <a:rPr lang="en-US" b="true" sz="2699">
                  <a:solidFill>
                    <a:srgbClr val="010101"/>
                  </a:solidFill>
                  <a:latin typeface="Canva Sans Bold"/>
                  <a:ea typeface="Canva Sans Bold"/>
                  <a:cs typeface="Canva Sans Bold"/>
                  <a:sym typeface="Canva Sans Bold"/>
                </a:rPr>
                <a:t>Operating Systems</a:t>
              </a:r>
            </a:p>
          </p:txBody>
        </p:sp>
        <p:sp>
          <p:nvSpPr>
            <p:cNvPr name="TextBox 9" id="9"/>
            <p:cNvSpPr txBox="true"/>
            <p:nvPr/>
          </p:nvSpPr>
          <p:spPr>
            <a:xfrm rot="0">
              <a:off x="2417463" y="2902214"/>
              <a:ext cx="3916230" cy="600710"/>
            </a:xfrm>
            <a:prstGeom prst="rect">
              <a:avLst/>
            </a:prstGeom>
          </p:spPr>
          <p:txBody>
            <a:bodyPr anchor="t" rtlCol="false" tIns="0" lIns="0" bIns="0" rIns="0">
              <a:spAutoFit/>
            </a:bodyPr>
            <a:lstStyle/>
            <a:p>
              <a:pPr algn="ctr">
                <a:lnSpc>
                  <a:spcPts val="3779"/>
                </a:lnSpc>
                <a:spcBef>
                  <a:spcPct val="0"/>
                </a:spcBef>
              </a:pPr>
              <a:r>
                <a:rPr lang="en-US" b="true" sz="2700">
                  <a:solidFill>
                    <a:srgbClr val="010101"/>
                  </a:solidFill>
                  <a:latin typeface="Canva Sans Bold"/>
                  <a:ea typeface="Canva Sans Bold"/>
                  <a:cs typeface="Canva Sans Bold"/>
                  <a:sym typeface="Canva Sans Bold"/>
                </a:rPr>
                <a:t>Cloud Computing</a:t>
              </a:r>
            </a:p>
          </p:txBody>
        </p:sp>
        <p:sp>
          <p:nvSpPr>
            <p:cNvPr name="TextBox 10" id="10"/>
            <p:cNvSpPr txBox="true"/>
            <p:nvPr/>
          </p:nvSpPr>
          <p:spPr>
            <a:xfrm rot="0">
              <a:off x="2417463" y="4436395"/>
              <a:ext cx="3581797" cy="600710"/>
            </a:xfrm>
            <a:prstGeom prst="rect">
              <a:avLst/>
            </a:prstGeom>
          </p:spPr>
          <p:txBody>
            <a:bodyPr anchor="t" rtlCol="false" tIns="0" lIns="0" bIns="0" rIns="0">
              <a:spAutoFit/>
            </a:bodyPr>
            <a:lstStyle/>
            <a:p>
              <a:pPr algn="ctr">
                <a:lnSpc>
                  <a:spcPts val="3779"/>
                </a:lnSpc>
                <a:spcBef>
                  <a:spcPct val="0"/>
                </a:spcBef>
              </a:pPr>
              <a:r>
                <a:rPr lang="en-US" b="true" sz="2700">
                  <a:solidFill>
                    <a:srgbClr val="010101"/>
                  </a:solidFill>
                  <a:latin typeface="Canva Sans Bold"/>
                  <a:ea typeface="Canva Sans Bold"/>
                  <a:cs typeface="Canva Sans Bold"/>
                  <a:sym typeface="Canva Sans Bold"/>
                </a:rPr>
                <a:t>Data Processing</a:t>
              </a:r>
            </a:p>
          </p:txBody>
        </p:sp>
        <p:sp>
          <p:nvSpPr>
            <p:cNvPr name="TextBox 11" id="11"/>
            <p:cNvSpPr txBox="true"/>
            <p:nvPr/>
          </p:nvSpPr>
          <p:spPr>
            <a:xfrm rot="0">
              <a:off x="2417463" y="5970577"/>
              <a:ext cx="3740283" cy="600710"/>
            </a:xfrm>
            <a:prstGeom prst="rect">
              <a:avLst/>
            </a:prstGeom>
          </p:spPr>
          <p:txBody>
            <a:bodyPr anchor="t" rtlCol="false" tIns="0" lIns="0" bIns="0" rIns="0">
              <a:spAutoFit/>
            </a:bodyPr>
            <a:lstStyle/>
            <a:p>
              <a:pPr algn="ctr">
                <a:lnSpc>
                  <a:spcPts val="3779"/>
                </a:lnSpc>
                <a:spcBef>
                  <a:spcPct val="0"/>
                </a:spcBef>
              </a:pPr>
              <a:r>
                <a:rPr lang="en-US" b="true" sz="2700">
                  <a:solidFill>
                    <a:srgbClr val="010101"/>
                  </a:solidFill>
                  <a:latin typeface="Canva Sans Bold"/>
                  <a:ea typeface="Canva Sans Bold"/>
                  <a:cs typeface="Canva Sans Bold"/>
                  <a:sym typeface="Canva Sans Bold"/>
                </a:rPr>
                <a:t>Tas</a:t>
              </a:r>
              <a:r>
                <a:rPr lang="en-US" b="true" sz="2700">
                  <a:solidFill>
                    <a:srgbClr val="010101"/>
                  </a:solidFill>
                  <a:latin typeface="Canva Sans Bold"/>
                  <a:ea typeface="Canva Sans Bold"/>
                  <a:cs typeface="Canva Sans Bold"/>
                  <a:sym typeface="Canva Sans Bold"/>
                </a:rPr>
                <a:t>k Automation</a:t>
              </a:r>
            </a:p>
          </p:txBody>
        </p:sp>
        <p:sp>
          <p:nvSpPr>
            <p:cNvPr name="TextBox 12" id="12"/>
            <p:cNvSpPr txBox="true"/>
            <p:nvPr/>
          </p:nvSpPr>
          <p:spPr>
            <a:xfrm rot="0">
              <a:off x="0" y="-28575"/>
              <a:ext cx="4600300" cy="672448"/>
            </a:xfrm>
            <a:prstGeom prst="rect">
              <a:avLst/>
            </a:prstGeom>
          </p:spPr>
          <p:txBody>
            <a:bodyPr anchor="t" rtlCol="false" tIns="0" lIns="0" bIns="0" rIns="0">
              <a:spAutoFit/>
            </a:bodyPr>
            <a:lstStyle/>
            <a:p>
              <a:pPr algn="ctr">
                <a:lnSpc>
                  <a:spcPts val="3319"/>
                </a:lnSpc>
              </a:pPr>
              <a:r>
                <a:rPr lang="en-US" sz="3191">
                  <a:solidFill>
                    <a:srgbClr val="010101"/>
                  </a:solidFill>
                  <a:latin typeface="Chunk Five"/>
                  <a:ea typeface="Chunk Five"/>
                  <a:cs typeface="Chunk Five"/>
                  <a:sym typeface="Chunk Five"/>
                </a:rPr>
                <a:t>Use cases</a:t>
              </a:r>
            </a:p>
          </p:txBody>
        </p:sp>
      </p:grpSp>
      <p:grpSp>
        <p:nvGrpSpPr>
          <p:cNvPr name="Group 13" id="13"/>
          <p:cNvGrpSpPr/>
          <p:nvPr/>
        </p:nvGrpSpPr>
        <p:grpSpPr>
          <a:xfrm rot="0">
            <a:off x="1680624" y="3619262"/>
            <a:ext cx="5590817" cy="5155549"/>
            <a:chOff x="0" y="0"/>
            <a:chExt cx="7454423" cy="6874066"/>
          </a:xfrm>
        </p:grpSpPr>
        <p:sp>
          <p:nvSpPr>
            <p:cNvPr name="Freeform 14" id="14"/>
            <p:cNvSpPr/>
            <p:nvPr/>
          </p:nvSpPr>
          <p:spPr>
            <a:xfrm flipH="false" flipV="false" rot="0">
              <a:off x="0" y="1387666"/>
              <a:ext cx="7218947" cy="5486400"/>
            </a:xfrm>
            <a:custGeom>
              <a:avLst/>
              <a:gdLst/>
              <a:ahLst/>
              <a:cxnLst/>
              <a:rect r="r" b="b" t="t" l="l"/>
              <a:pathLst>
                <a:path h="5486400" w="7218947">
                  <a:moveTo>
                    <a:pt x="0" y="0"/>
                  </a:moveTo>
                  <a:lnTo>
                    <a:pt x="7218947" y="0"/>
                  </a:lnTo>
                  <a:lnTo>
                    <a:pt x="7218947"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352341" y="1330655"/>
              <a:ext cx="3282421" cy="600711"/>
            </a:xfrm>
            <a:prstGeom prst="rect">
              <a:avLst/>
            </a:prstGeom>
          </p:spPr>
          <p:txBody>
            <a:bodyPr anchor="t" rtlCol="false" tIns="0" lIns="0" bIns="0" rIns="0">
              <a:spAutoFit/>
            </a:bodyPr>
            <a:lstStyle/>
            <a:p>
              <a:pPr algn="ctr">
                <a:lnSpc>
                  <a:spcPts val="3779"/>
                </a:lnSpc>
                <a:spcBef>
                  <a:spcPct val="0"/>
                </a:spcBef>
              </a:pPr>
              <a:r>
                <a:rPr lang="en-US" b="true" sz="2699">
                  <a:solidFill>
                    <a:srgbClr val="010101"/>
                  </a:solidFill>
                  <a:latin typeface="Canva Sans Bold"/>
                  <a:ea typeface="Canva Sans Bold"/>
                  <a:cs typeface="Canva Sans Bold"/>
                  <a:sym typeface="Canva Sans Bold"/>
                </a:rPr>
                <a:t>R</a:t>
              </a:r>
              <a:r>
                <a:rPr lang="en-US" b="true" sz="2699">
                  <a:solidFill>
                    <a:srgbClr val="010101"/>
                  </a:solidFill>
                  <a:latin typeface="Canva Sans Bold"/>
                  <a:ea typeface="Canva Sans Bold"/>
                  <a:cs typeface="Canva Sans Bold"/>
                  <a:sym typeface="Canva Sans Bold"/>
                </a:rPr>
                <a:t>esponse time</a:t>
              </a:r>
            </a:p>
          </p:txBody>
        </p:sp>
        <p:sp>
          <p:nvSpPr>
            <p:cNvPr name="TextBox 16" id="16"/>
            <p:cNvSpPr txBox="true"/>
            <p:nvPr/>
          </p:nvSpPr>
          <p:spPr>
            <a:xfrm rot="0">
              <a:off x="1390281" y="2941015"/>
              <a:ext cx="1844543" cy="600710"/>
            </a:xfrm>
            <a:prstGeom prst="rect">
              <a:avLst/>
            </a:prstGeom>
          </p:spPr>
          <p:txBody>
            <a:bodyPr anchor="t" rtlCol="false" tIns="0" lIns="0" bIns="0" rIns="0">
              <a:spAutoFit/>
            </a:bodyPr>
            <a:lstStyle/>
            <a:p>
              <a:pPr algn="ctr">
                <a:lnSpc>
                  <a:spcPts val="3779"/>
                </a:lnSpc>
                <a:spcBef>
                  <a:spcPct val="0"/>
                </a:spcBef>
              </a:pPr>
              <a:r>
                <a:rPr lang="en-US" b="true" sz="2700">
                  <a:solidFill>
                    <a:srgbClr val="010101"/>
                  </a:solidFill>
                  <a:latin typeface="Canva Sans Bold"/>
                  <a:ea typeface="Canva Sans Bold"/>
                  <a:cs typeface="Canva Sans Bold"/>
                  <a:sym typeface="Canva Sans Bold"/>
                </a:rPr>
                <a:t>Fa</a:t>
              </a:r>
              <a:r>
                <a:rPr lang="en-US" b="true" sz="2700">
                  <a:solidFill>
                    <a:srgbClr val="010101"/>
                  </a:solidFill>
                  <a:latin typeface="Canva Sans Bold"/>
                  <a:ea typeface="Canva Sans Bold"/>
                  <a:cs typeface="Canva Sans Bold"/>
                  <a:sym typeface="Canva Sans Bold"/>
                </a:rPr>
                <a:t>irness</a:t>
              </a:r>
            </a:p>
          </p:txBody>
        </p:sp>
        <p:sp>
          <p:nvSpPr>
            <p:cNvPr name="TextBox 17" id="17"/>
            <p:cNvSpPr txBox="true"/>
            <p:nvPr/>
          </p:nvSpPr>
          <p:spPr>
            <a:xfrm rot="0">
              <a:off x="1390281" y="4551375"/>
              <a:ext cx="4438386" cy="600710"/>
            </a:xfrm>
            <a:prstGeom prst="rect">
              <a:avLst/>
            </a:prstGeom>
          </p:spPr>
          <p:txBody>
            <a:bodyPr anchor="t" rtlCol="false" tIns="0" lIns="0" bIns="0" rIns="0">
              <a:spAutoFit/>
            </a:bodyPr>
            <a:lstStyle/>
            <a:p>
              <a:pPr algn="ctr">
                <a:lnSpc>
                  <a:spcPts val="3779"/>
                </a:lnSpc>
                <a:spcBef>
                  <a:spcPct val="0"/>
                </a:spcBef>
              </a:pPr>
              <a:r>
                <a:rPr lang="en-US" b="true" sz="2700">
                  <a:solidFill>
                    <a:srgbClr val="010101"/>
                  </a:solidFill>
                  <a:latin typeface="Canva Sans Bold"/>
                  <a:ea typeface="Canva Sans Bold"/>
                  <a:cs typeface="Canva Sans Bold"/>
                  <a:sym typeface="Canva Sans Bold"/>
                </a:rPr>
                <a:t>Resou</a:t>
              </a:r>
              <a:r>
                <a:rPr lang="en-US" b="true" sz="2700">
                  <a:solidFill>
                    <a:srgbClr val="010101"/>
                  </a:solidFill>
                  <a:latin typeface="Canva Sans Bold"/>
                  <a:ea typeface="Canva Sans Bold"/>
                  <a:cs typeface="Canva Sans Bold"/>
                  <a:sym typeface="Canva Sans Bold"/>
                </a:rPr>
                <a:t>rce utilization</a:t>
              </a:r>
            </a:p>
          </p:txBody>
        </p:sp>
        <p:sp>
          <p:nvSpPr>
            <p:cNvPr name="TextBox 18" id="18"/>
            <p:cNvSpPr txBox="true"/>
            <p:nvPr/>
          </p:nvSpPr>
          <p:spPr>
            <a:xfrm rot="0">
              <a:off x="1352341" y="6001351"/>
              <a:ext cx="5866606" cy="556683"/>
            </a:xfrm>
            <a:prstGeom prst="rect">
              <a:avLst/>
            </a:prstGeom>
          </p:spPr>
          <p:txBody>
            <a:bodyPr anchor="t" rtlCol="false" tIns="0" lIns="0" bIns="0" rIns="0">
              <a:spAutoFit/>
            </a:bodyPr>
            <a:lstStyle/>
            <a:p>
              <a:pPr algn="ctr">
                <a:lnSpc>
                  <a:spcPts val="3500"/>
                </a:lnSpc>
                <a:spcBef>
                  <a:spcPct val="0"/>
                </a:spcBef>
              </a:pPr>
              <a:r>
                <a:rPr lang="en-US" b="true" sz="2500">
                  <a:solidFill>
                    <a:srgbClr val="010101"/>
                  </a:solidFill>
                  <a:latin typeface="Canva Sans Bold"/>
                  <a:ea typeface="Canva Sans Bold"/>
                  <a:cs typeface="Canva Sans Bold"/>
                  <a:sym typeface="Canva Sans Bold"/>
                </a:rPr>
                <a:t>Overall system</a:t>
              </a:r>
              <a:r>
                <a:rPr lang="en-US" b="true" sz="2500">
                  <a:solidFill>
                    <a:srgbClr val="010101"/>
                  </a:solidFill>
                  <a:latin typeface="Canva Sans Bold"/>
                  <a:ea typeface="Canva Sans Bold"/>
                  <a:cs typeface="Canva Sans Bold"/>
                  <a:sym typeface="Canva Sans Bold"/>
                </a:rPr>
                <a:t> performance</a:t>
              </a:r>
            </a:p>
          </p:txBody>
        </p:sp>
        <p:sp>
          <p:nvSpPr>
            <p:cNvPr name="TextBox 19" id="19"/>
            <p:cNvSpPr txBox="true"/>
            <p:nvPr/>
          </p:nvSpPr>
          <p:spPr>
            <a:xfrm rot="0">
              <a:off x="0" y="-19050"/>
              <a:ext cx="7454423" cy="605621"/>
            </a:xfrm>
            <a:prstGeom prst="rect">
              <a:avLst/>
            </a:prstGeom>
          </p:spPr>
          <p:txBody>
            <a:bodyPr anchor="t" rtlCol="false" tIns="0" lIns="0" bIns="0" rIns="0">
              <a:spAutoFit/>
            </a:bodyPr>
            <a:lstStyle/>
            <a:p>
              <a:pPr algn="ctr">
                <a:lnSpc>
                  <a:spcPts val="3015"/>
                </a:lnSpc>
              </a:pPr>
              <a:r>
                <a:rPr lang="en-US" sz="2899">
                  <a:solidFill>
                    <a:srgbClr val="010101"/>
                  </a:solidFill>
                  <a:latin typeface="Chunk Five"/>
                  <a:ea typeface="Chunk Five"/>
                  <a:cs typeface="Chunk Five"/>
                  <a:sym typeface="Chunk Five"/>
                </a:rPr>
                <a:t>A scheduling algorithm affects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021576" y="499837"/>
            <a:ext cx="7345200" cy="2304503"/>
            <a:chOff x="0" y="0"/>
            <a:chExt cx="1541787" cy="483725"/>
          </a:xfrm>
        </p:grpSpPr>
        <p:sp>
          <p:nvSpPr>
            <p:cNvPr name="Freeform 3" id="3"/>
            <p:cNvSpPr/>
            <p:nvPr/>
          </p:nvSpPr>
          <p:spPr>
            <a:xfrm flipH="false" flipV="false" rot="0">
              <a:off x="0" y="0"/>
              <a:ext cx="1541787" cy="483724"/>
            </a:xfrm>
            <a:custGeom>
              <a:avLst/>
              <a:gdLst/>
              <a:ahLst/>
              <a:cxnLst/>
              <a:rect r="r" b="b" t="t" l="l"/>
              <a:pathLst>
                <a:path h="483724" w="1541787">
                  <a:moveTo>
                    <a:pt x="0" y="0"/>
                  </a:moveTo>
                  <a:lnTo>
                    <a:pt x="1541787" y="0"/>
                  </a:lnTo>
                  <a:lnTo>
                    <a:pt x="1541787" y="483724"/>
                  </a:lnTo>
                  <a:lnTo>
                    <a:pt x="0" y="483724"/>
                  </a:lnTo>
                  <a:close/>
                </a:path>
              </a:pathLst>
            </a:custGeom>
            <a:solidFill>
              <a:srgbClr val="D70654"/>
            </a:solidFill>
          </p:spPr>
        </p:sp>
        <p:sp>
          <p:nvSpPr>
            <p:cNvPr name="TextBox 4" id="4"/>
            <p:cNvSpPr txBox="true"/>
            <p:nvPr/>
          </p:nvSpPr>
          <p:spPr>
            <a:xfrm>
              <a:off x="0" y="-95250"/>
              <a:ext cx="1541787" cy="578975"/>
            </a:xfrm>
            <a:prstGeom prst="rect">
              <a:avLst/>
            </a:prstGeom>
          </p:spPr>
          <p:txBody>
            <a:bodyPr anchor="ctr" rtlCol="false" tIns="50800" lIns="50800" bIns="50800" rIns="50800"/>
            <a:lstStyle/>
            <a:p>
              <a:pPr algn="ctr">
                <a:lnSpc>
                  <a:spcPts val="3240"/>
                </a:lnSpc>
              </a:pPr>
            </a:p>
          </p:txBody>
        </p:sp>
      </p:grpSp>
      <p:sp>
        <p:nvSpPr>
          <p:cNvPr name="TextBox 5" id="5"/>
          <p:cNvSpPr txBox="true"/>
          <p:nvPr/>
        </p:nvSpPr>
        <p:spPr>
          <a:xfrm rot="0">
            <a:off x="10328270" y="536006"/>
            <a:ext cx="5947447" cy="481243"/>
          </a:xfrm>
          <a:prstGeom prst="rect">
            <a:avLst/>
          </a:prstGeom>
        </p:spPr>
        <p:txBody>
          <a:bodyPr anchor="t" rtlCol="false" tIns="0" lIns="0" bIns="0" rIns="0">
            <a:spAutoFit/>
          </a:bodyPr>
          <a:lstStyle/>
          <a:p>
            <a:pPr algn="l">
              <a:lnSpc>
                <a:spcPts val="4157"/>
              </a:lnSpc>
            </a:pPr>
            <a:r>
              <a:rPr lang="en-US" b="true" sz="2309">
                <a:solidFill>
                  <a:srgbClr val="FFFFFF"/>
                </a:solidFill>
                <a:latin typeface="Canva Sans Bold"/>
                <a:ea typeface="Canva Sans Bold"/>
                <a:cs typeface="Canva Sans Bold"/>
                <a:sym typeface="Canva Sans Bold"/>
              </a:rPr>
              <a:t>Starvation in Priority Scheduling</a:t>
            </a:r>
          </a:p>
        </p:txBody>
      </p:sp>
      <p:sp>
        <p:nvSpPr>
          <p:cNvPr name="Freeform 6" id="6"/>
          <p:cNvSpPr/>
          <p:nvPr/>
        </p:nvSpPr>
        <p:spPr>
          <a:xfrm>
            <a:off x="5923954" y="93328"/>
            <a:ext cx="5358049" cy="11990797"/>
          </a:xfrm>
          <a:custGeom>
            <a:avLst/>
            <a:gdLst/>
            <a:ahLst/>
            <a:cxnLst/>
            <a:rect r="r" b="b" t="t" l="l"/>
            <a:pathLst>
              <a:path h="11990797" w="5358049">
                <a:moveTo>
                  <a:pt x="0" y="0"/>
                </a:moveTo>
                <a:lnTo>
                  <a:pt x="0" y="268173"/>
                </a:lnTo>
                <a:cubicBezTo>
                  <a:pt x="0" y="328802"/>
                  <a:pt x="24084" y="386947"/>
                  <a:pt x="66955" y="429818"/>
                </a:cubicBezTo>
                <a:cubicBezTo>
                  <a:pt x="109826" y="472689"/>
                  <a:pt x="167971" y="496773"/>
                  <a:pt x="228600" y="496773"/>
                </a:cubicBezTo>
                <a:lnTo>
                  <a:pt x="2769778" y="496773"/>
                </a:lnTo>
                <a:cubicBezTo>
                  <a:pt x="2896030" y="496773"/>
                  <a:pt x="2998378" y="599121"/>
                  <a:pt x="2998378" y="725373"/>
                </a:cubicBezTo>
                <a:lnTo>
                  <a:pt x="2998378" y="4524936"/>
                </a:lnTo>
                <a:cubicBezTo>
                  <a:pt x="2998378" y="4585564"/>
                  <a:pt x="3022463" y="4643710"/>
                  <a:pt x="3065334" y="4686581"/>
                </a:cubicBezTo>
                <a:cubicBezTo>
                  <a:pt x="3108204" y="4729451"/>
                  <a:pt x="3166349" y="4753536"/>
                  <a:pt x="3226978" y="4753536"/>
                </a:cubicBezTo>
                <a:lnTo>
                  <a:pt x="5129448" y="4753536"/>
                </a:lnTo>
                <a:cubicBezTo>
                  <a:pt x="5190077" y="4753536"/>
                  <a:pt x="5248222" y="4777620"/>
                  <a:pt x="5291092" y="4820491"/>
                </a:cubicBezTo>
                <a:cubicBezTo>
                  <a:pt x="5333963" y="4863362"/>
                  <a:pt x="5358048" y="4921507"/>
                  <a:pt x="5358048" y="4982136"/>
                </a:cubicBezTo>
                <a:lnTo>
                  <a:pt x="5358048" y="11762197"/>
                </a:lnTo>
                <a:cubicBezTo>
                  <a:pt x="5358048" y="11822826"/>
                  <a:pt x="5333963" y="11880971"/>
                  <a:pt x="5291092" y="11923842"/>
                </a:cubicBezTo>
                <a:cubicBezTo>
                  <a:pt x="5248222" y="11966713"/>
                  <a:pt x="5190077" y="11990797"/>
                  <a:pt x="5129448" y="11990797"/>
                </a:cubicBezTo>
                <a:lnTo>
                  <a:pt x="2031160" y="11990797"/>
                </a:lnTo>
                <a:cubicBezTo>
                  <a:pt x="1904908" y="11990797"/>
                  <a:pt x="1802560" y="11888449"/>
                  <a:pt x="1802560" y="11762197"/>
                </a:cubicBezTo>
                <a:lnTo>
                  <a:pt x="1802560" y="10464996"/>
                </a:lnTo>
              </a:path>
            </a:pathLst>
          </a:custGeom>
          <a:ln cap="flat" w="952500">
            <a:solidFill>
              <a:srgbClr val="1C1C1C"/>
            </a:solidFill>
            <a:prstDash val="solid"/>
            <a:headEnd type="none" len="sm" w="sm"/>
            <a:tailEnd type="none" len="sm" w="sm"/>
          </a:ln>
        </p:spPr>
      </p:sp>
      <p:sp>
        <p:nvSpPr>
          <p:cNvPr name="TextBox 7" id="7"/>
          <p:cNvSpPr txBox="true"/>
          <p:nvPr/>
        </p:nvSpPr>
        <p:spPr>
          <a:xfrm rot="0">
            <a:off x="10328270" y="1279160"/>
            <a:ext cx="6633432" cy="1219200"/>
          </a:xfrm>
          <a:prstGeom prst="rect">
            <a:avLst/>
          </a:prstGeom>
        </p:spPr>
        <p:txBody>
          <a:bodyPr anchor="t" rtlCol="false" tIns="0" lIns="0" bIns="0" rIns="0">
            <a:spAutoFit/>
          </a:bodyPr>
          <a:lstStyle/>
          <a:p>
            <a:pPr algn="l">
              <a:lnSpc>
                <a:spcPts val="2470"/>
              </a:lnSpc>
            </a:pPr>
            <a:r>
              <a:rPr lang="en-US" sz="2058">
                <a:solidFill>
                  <a:srgbClr val="FFFFFF"/>
                </a:solidFill>
                <a:latin typeface="Canva Sans"/>
                <a:ea typeface="Canva Sans"/>
                <a:cs typeface="Canva Sans"/>
                <a:sym typeface="Canva Sans"/>
              </a:rPr>
              <a:t>Starvation in pr</a:t>
            </a:r>
            <a:r>
              <a:rPr lang="en-US" sz="2058">
                <a:solidFill>
                  <a:srgbClr val="FFFFFF"/>
                </a:solidFill>
                <a:latin typeface="Canva Sans"/>
                <a:ea typeface="Canva Sans"/>
                <a:cs typeface="Canva Sans"/>
                <a:sym typeface="Canva Sans"/>
              </a:rPr>
              <a:t>iority scheduling happens when low-priority processes are indefinitely delayed because higher-priority processes continuously monopolize the CPU</a:t>
            </a:r>
          </a:p>
        </p:txBody>
      </p:sp>
      <p:sp>
        <p:nvSpPr>
          <p:cNvPr name="Freeform 8" id="8"/>
          <p:cNvSpPr/>
          <p:nvPr/>
        </p:nvSpPr>
        <p:spPr>
          <a:xfrm>
            <a:off x="5991477" y="-142875"/>
            <a:ext cx="5358049" cy="12227000"/>
          </a:xfrm>
          <a:custGeom>
            <a:avLst/>
            <a:gdLst/>
            <a:ahLst/>
            <a:cxnLst/>
            <a:rect r="r" b="b" t="t" l="l"/>
            <a:pathLst>
              <a:path h="12227000" w="5358049">
                <a:moveTo>
                  <a:pt x="0" y="0"/>
                </a:moveTo>
                <a:lnTo>
                  <a:pt x="0" y="504376"/>
                </a:lnTo>
                <a:cubicBezTo>
                  <a:pt x="0" y="630628"/>
                  <a:pt x="102348" y="732976"/>
                  <a:pt x="228600" y="732976"/>
                </a:cubicBezTo>
                <a:lnTo>
                  <a:pt x="2769779" y="732976"/>
                </a:lnTo>
                <a:cubicBezTo>
                  <a:pt x="2830408" y="732976"/>
                  <a:pt x="2888553" y="757061"/>
                  <a:pt x="2931423" y="799932"/>
                </a:cubicBezTo>
                <a:cubicBezTo>
                  <a:pt x="2974294" y="842802"/>
                  <a:pt x="2998379" y="900948"/>
                  <a:pt x="2998379" y="961576"/>
                </a:cubicBezTo>
                <a:lnTo>
                  <a:pt x="2998379" y="4761139"/>
                </a:lnTo>
                <a:cubicBezTo>
                  <a:pt x="2998379" y="4821767"/>
                  <a:pt x="3022463" y="4879913"/>
                  <a:pt x="3065335" y="4922784"/>
                </a:cubicBezTo>
                <a:cubicBezTo>
                  <a:pt x="3108205" y="4965654"/>
                  <a:pt x="3166350" y="4989739"/>
                  <a:pt x="3226979" y="4989739"/>
                </a:cubicBezTo>
                <a:lnTo>
                  <a:pt x="5129449" y="4989739"/>
                </a:lnTo>
                <a:cubicBezTo>
                  <a:pt x="5190078" y="4989739"/>
                  <a:pt x="5248223" y="5013823"/>
                  <a:pt x="5291093" y="5056694"/>
                </a:cubicBezTo>
                <a:cubicBezTo>
                  <a:pt x="5333964" y="5099565"/>
                  <a:pt x="5358049" y="5157710"/>
                  <a:pt x="5358049" y="5218339"/>
                </a:cubicBezTo>
                <a:lnTo>
                  <a:pt x="5358049" y="11998400"/>
                </a:lnTo>
                <a:cubicBezTo>
                  <a:pt x="5358049" y="12124652"/>
                  <a:pt x="5255701" y="12227000"/>
                  <a:pt x="5129449" y="12227000"/>
                </a:cubicBezTo>
                <a:lnTo>
                  <a:pt x="2031160" y="12227000"/>
                </a:lnTo>
                <a:cubicBezTo>
                  <a:pt x="1970532" y="12227000"/>
                  <a:pt x="1912386" y="12202916"/>
                  <a:pt x="1869516" y="12160045"/>
                </a:cubicBezTo>
                <a:cubicBezTo>
                  <a:pt x="1826645" y="12117174"/>
                  <a:pt x="1802560" y="12059029"/>
                  <a:pt x="1802560" y="11998400"/>
                </a:cubicBezTo>
                <a:lnTo>
                  <a:pt x="1802560" y="10701199"/>
                </a:lnTo>
              </a:path>
            </a:pathLst>
          </a:custGeom>
          <a:ln cap="flat" w="66675">
            <a:solidFill>
              <a:srgbClr val="FFFFFF"/>
            </a:solidFill>
            <a:prstDash val="lgDash"/>
            <a:headEnd type="none" len="sm" w="sm"/>
            <a:tailEnd type="none" len="sm" w="sm"/>
          </a:ln>
        </p:spPr>
      </p:sp>
      <p:grpSp>
        <p:nvGrpSpPr>
          <p:cNvPr name="Group 9" id="9"/>
          <p:cNvGrpSpPr/>
          <p:nvPr/>
        </p:nvGrpSpPr>
        <p:grpSpPr>
          <a:xfrm rot="0">
            <a:off x="11983058" y="7392159"/>
            <a:ext cx="6145076" cy="2212487"/>
            <a:chOff x="0" y="0"/>
            <a:chExt cx="1489928" cy="536437"/>
          </a:xfrm>
        </p:grpSpPr>
        <p:sp>
          <p:nvSpPr>
            <p:cNvPr name="Freeform 10" id="10"/>
            <p:cNvSpPr/>
            <p:nvPr/>
          </p:nvSpPr>
          <p:spPr>
            <a:xfrm flipH="false" flipV="false" rot="0">
              <a:off x="0" y="0"/>
              <a:ext cx="1489928" cy="536437"/>
            </a:xfrm>
            <a:custGeom>
              <a:avLst/>
              <a:gdLst/>
              <a:ahLst/>
              <a:cxnLst/>
              <a:rect r="r" b="b" t="t" l="l"/>
              <a:pathLst>
                <a:path h="536437" w="1489928">
                  <a:moveTo>
                    <a:pt x="0" y="0"/>
                  </a:moveTo>
                  <a:lnTo>
                    <a:pt x="1489928" y="0"/>
                  </a:lnTo>
                  <a:lnTo>
                    <a:pt x="1489928" y="536437"/>
                  </a:lnTo>
                  <a:lnTo>
                    <a:pt x="0" y="536437"/>
                  </a:lnTo>
                  <a:close/>
                </a:path>
              </a:pathLst>
            </a:custGeom>
            <a:solidFill>
              <a:srgbClr val="B8D576"/>
            </a:solidFill>
          </p:spPr>
        </p:sp>
        <p:sp>
          <p:nvSpPr>
            <p:cNvPr name="TextBox 11" id="11"/>
            <p:cNvSpPr txBox="true"/>
            <p:nvPr/>
          </p:nvSpPr>
          <p:spPr>
            <a:xfrm>
              <a:off x="0" y="-95250"/>
              <a:ext cx="1489928" cy="631687"/>
            </a:xfrm>
            <a:prstGeom prst="rect">
              <a:avLst/>
            </a:prstGeom>
          </p:spPr>
          <p:txBody>
            <a:bodyPr anchor="ctr" rtlCol="false" tIns="50800" lIns="50800" bIns="50800" rIns="50800"/>
            <a:lstStyle/>
            <a:p>
              <a:pPr algn="ctr">
                <a:lnSpc>
                  <a:spcPts val="3240"/>
                </a:lnSpc>
              </a:pPr>
            </a:p>
          </p:txBody>
        </p:sp>
      </p:grpSp>
      <p:sp>
        <p:nvSpPr>
          <p:cNvPr name="Freeform 12" id="12"/>
          <p:cNvSpPr/>
          <p:nvPr/>
        </p:nvSpPr>
        <p:spPr>
          <a:xfrm flipH="false" flipV="false" rot="0">
            <a:off x="8599059" y="618860"/>
            <a:ext cx="783466" cy="1274439"/>
          </a:xfrm>
          <a:custGeom>
            <a:avLst/>
            <a:gdLst/>
            <a:ahLst/>
            <a:cxnLst/>
            <a:rect r="r" b="b" t="t" l="l"/>
            <a:pathLst>
              <a:path h="1274439" w="783466">
                <a:moveTo>
                  <a:pt x="0" y="0"/>
                </a:moveTo>
                <a:lnTo>
                  <a:pt x="783467" y="0"/>
                </a:lnTo>
                <a:lnTo>
                  <a:pt x="783467" y="1274439"/>
                </a:lnTo>
                <a:lnTo>
                  <a:pt x="0" y="1274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028700" y="1518739"/>
            <a:ext cx="5970389" cy="2152650"/>
          </a:xfrm>
          <a:prstGeom prst="rect">
            <a:avLst/>
          </a:prstGeom>
        </p:spPr>
        <p:txBody>
          <a:bodyPr anchor="t" rtlCol="false" tIns="0" lIns="0" bIns="0" rIns="0">
            <a:spAutoFit/>
          </a:bodyPr>
          <a:lstStyle/>
          <a:p>
            <a:pPr algn="l">
              <a:lnSpc>
                <a:spcPts val="7988"/>
              </a:lnSpc>
            </a:pPr>
            <a:r>
              <a:rPr lang="en-US" sz="6657">
                <a:solidFill>
                  <a:srgbClr val="010101"/>
                </a:solidFill>
                <a:latin typeface="Chunk Five"/>
                <a:ea typeface="Chunk Five"/>
                <a:cs typeface="Chunk Five"/>
                <a:sym typeface="Chunk Five"/>
              </a:rPr>
              <a:t>P</a:t>
            </a:r>
            <a:r>
              <a:rPr lang="en-US" sz="6657">
                <a:solidFill>
                  <a:srgbClr val="010101"/>
                </a:solidFill>
                <a:latin typeface="Chunk Five"/>
                <a:ea typeface="Chunk Five"/>
                <a:cs typeface="Chunk Five"/>
                <a:sym typeface="Chunk Five"/>
              </a:rPr>
              <a:t>riority Scheduling</a:t>
            </a:r>
          </a:p>
        </p:txBody>
      </p:sp>
      <p:sp>
        <p:nvSpPr>
          <p:cNvPr name="TextBox 14" id="14"/>
          <p:cNvSpPr txBox="true"/>
          <p:nvPr/>
        </p:nvSpPr>
        <p:spPr>
          <a:xfrm rot="0">
            <a:off x="12287611" y="7696834"/>
            <a:ext cx="5258316" cy="444572"/>
          </a:xfrm>
          <a:prstGeom prst="rect">
            <a:avLst/>
          </a:prstGeom>
        </p:spPr>
        <p:txBody>
          <a:bodyPr anchor="t" rtlCol="false" tIns="0" lIns="0" bIns="0" rIns="0">
            <a:spAutoFit/>
          </a:bodyPr>
          <a:lstStyle/>
          <a:p>
            <a:pPr algn="l">
              <a:lnSpc>
                <a:spcPts val="3910"/>
              </a:lnSpc>
            </a:pPr>
            <a:r>
              <a:rPr lang="en-US" sz="2172" b="true">
                <a:solidFill>
                  <a:srgbClr val="262626"/>
                </a:solidFill>
                <a:latin typeface="Canva Sans Bold"/>
                <a:ea typeface="Canva Sans Bold"/>
                <a:cs typeface="Canva Sans Bold"/>
                <a:sym typeface="Canva Sans Bold"/>
              </a:rPr>
              <a:t>Non-P</a:t>
            </a:r>
            <a:r>
              <a:rPr lang="en-US" sz="2172" b="true">
                <a:solidFill>
                  <a:srgbClr val="262626"/>
                </a:solidFill>
                <a:latin typeface="Canva Sans Bold"/>
                <a:ea typeface="Canva Sans Bold"/>
                <a:cs typeface="Canva Sans Bold"/>
                <a:sym typeface="Canva Sans Bold"/>
              </a:rPr>
              <a:t>reemptive</a:t>
            </a:r>
          </a:p>
        </p:txBody>
      </p:sp>
      <p:grpSp>
        <p:nvGrpSpPr>
          <p:cNvPr name="Group 15" id="15"/>
          <p:cNvGrpSpPr/>
          <p:nvPr/>
        </p:nvGrpSpPr>
        <p:grpSpPr>
          <a:xfrm rot="0">
            <a:off x="12026719" y="3787718"/>
            <a:ext cx="5881839" cy="2542283"/>
            <a:chOff x="0" y="0"/>
            <a:chExt cx="7842452" cy="3389710"/>
          </a:xfrm>
        </p:grpSpPr>
        <p:grpSp>
          <p:nvGrpSpPr>
            <p:cNvPr name="Group 16" id="16"/>
            <p:cNvGrpSpPr/>
            <p:nvPr/>
          </p:nvGrpSpPr>
          <p:grpSpPr>
            <a:xfrm rot="0">
              <a:off x="0" y="0"/>
              <a:ext cx="7842452" cy="3389710"/>
              <a:chOff x="0" y="0"/>
              <a:chExt cx="1623375" cy="701665"/>
            </a:xfrm>
          </p:grpSpPr>
          <p:sp>
            <p:nvSpPr>
              <p:cNvPr name="Freeform 17" id="17"/>
              <p:cNvSpPr/>
              <p:nvPr/>
            </p:nvSpPr>
            <p:spPr>
              <a:xfrm flipH="false" flipV="false" rot="0">
                <a:off x="0" y="0"/>
                <a:ext cx="1623375" cy="701665"/>
              </a:xfrm>
              <a:custGeom>
                <a:avLst/>
                <a:gdLst/>
                <a:ahLst/>
                <a:cxnLst/>
                <a:rect r="r" b="b" t="t" l="l"/>
                <a:pathLst>
                  <a:path h="701665" w="1623375">
                    <a:moveTo>
                      <a:pt x="0" y="0"/>
                    </a:moveTo>
                    <a:lnTo>
                      <a:pt x="1623375" y="0"/>
                    </a:lnTo>
                    <a:lnTo>
                      <a:pt x="1623375" y="701665"/>
                    </a:lnTo>
                    <a:lnTo>
                      <a:pt x="0" y="701665"/>
                    </a:lnTo>
                    <a:close/>
                  </a:path>
                </a:pathLst>
              </a:custGeom>
              <a:solidFill>
                <a:srgbClr val="FFD95F"/>
              </a:solidFill>
            </p:spPr>
          </p:sp>
          <p:sp>
            <p:nvSpPr>
              <p:cNvPr name="TextBox 18" id="18"/>
              <p:cNvSpPr txBox="true"/>
              <p:nvPr/>
            </p:nvSpPr>
            <p:spPr>
              <a:xfrm>
                <a:off x="0" y="-95250"/>
                <a:ext cx="1623375" cy="796915"/>
              </a:xfrm>
              <a:prstGeom prst="rect">
                <a:avLst/>
              </a:prstGeom>
            </p:spPr>
            <p:txBody>
              <a:bodyPr anchor="ctr" rtlCol="false" tIns="50800" lIns="50800" bIns="50800" rIns="50800"/>
              <a:lstStyle/>
              <a:p>
                <a:pPr algn="ctr">
                  <a:lnSpc>
                    <a:spcPts val="3240"/>
                  </a:lnSpc>
                </a:pPr>
              </a:p>
            </p:txBody>
          </p:sp>
        </p:grpSp>
        <p:sp>
          <p:nvSpPr>
            <p:cNvPr name="TextBox 19" id="19"/>
            <p:cNvSpPr txBox="true"/>
            <p:nvPr/>
          </p:nvSpPr>
          <p:spPr>
            <a:xfrm rot="0">
              <a:off x="331294" y="387605"/>
              <a:ext cx="6030931" cy="489994"/>
            </a:xfrm>
            <a:prstGeom prst="rect">
              <a:avLst/>
            </a:prstGeom>
          </p:spPr>
          <p:txBody>
            <a:bodyPr anchor="t" rtlCol="false" tIns="0" lIns="0" bIns="0" rIns="0">
              <a:spAutoFit/>
            </a:bodyPr>
            <a:lstStyle/>
            <a:p>
              <a:pPr algn="l">
                <a:lnSpc>
                  <a:spcPts val="3435"/>
                </a:lnSpc>
              </a:pPr>
              <a:r>
                <a:rPr lang="en-US" sz="1908" b="true">
                  <a:solidFill>
                    <a:srgbClr val="262626"/>
                  </a:solidFill>
                  <a:latin typeface="Canva Sans Bold"/>
                  <a:ea typeface="Canva Sans Bold"/>
                  <a:cs typeface="Canva Sans Bold"/>
                  <a:sym typeface="Canva Sans Bold"/>
                </a:rPr>
                <a:t>P</a:t>
              </a:r>
              <a:r>
                <a:rPr lang="en-US" sz="1908" b="true">
                  <a:solidFill>
                    <a:srgbClr val="262626"/>
                  </a:solidFill>
                  <a:latin typeface="Canva Sans Bold"/>
                  <a:ea typeface="Canva Sans Bold"/>
                  <a:cs typeface="Canva Sans Bold"/>
                  <a:sym typeface="Canva Sans Bold"/>
                </a:rPr>
                <a:t>reemptive</a:t>
              </a:r>
            </a:p>
          </p:txBody>
        </p:sp>
        <p:sp>
          <p:nvSpPr>
            <p:cNvPr name="TextBox 20" id="20"/>
            <p:cNvSpPr txBox="true"/>
            <p:nvPr/>
          </p:nvSpPr>
          <p:spPr>
            <a:xfrm rot="0">
              <a:off x="331294" y="1177951"/>
              <a:ext cx="7356368" cy="1687154"/>
            </a:xfrm>
            <a:prstGeom prst="rect">
              <a:avLst/>
            </a:prstGeom>
          </p:spPr>
          <p:txBody>
            <a:bodyPr anchor="t" rtlCol="false" tIns="0" lIns="0" bIns="0" rIns="0">
              <a:spAutoFit/>
            </a:bodyPr>
            <a:lstStyle/>
            <a:p>
              <a:pPr algn="l">
                <a:lnSpc>
                  <a:spcPts val="2061"/>
                </a:lnSpc>
              </a:pPr>
              <a:r>
                <a:rPr lang="en-US" sz="1717">
                  <a:solidFill>
                    <a:srgbClr val="000000"/>
                  </a:solidFill>
                  <a:latin typeface="Canva Sans"/>
                  <a:ea typeface="Canva Sans"/>
                  <a:cs typeface="Canva Sans"/>
                  <a:sym typeface="Canva Sans"/>
                </a:rPr>
                <a:t>If a new process arrive</a:t>
              </a:r>
              <a:r>
                <a:rPr lang="en-US" sz="1717">
                  <a:solidFill>
                    <a:srgbClr val="000000"/>
                  </a:solidFill>
                  <a:latin typeface="Canva Sans"/>
                  <a:ea typeface="Canva Sans"/>
                  <a:cs typeface="Canva Sans"/>
                  <a:sym typeface="Canva Sans"/>
                </a:rPr>
                <a:t>s with a higher priority than the currently running task, the scheduler immediately interrupts the current task and assigns the CPU to the new one. This is ideal for critical real-time systems</a:t>
              </a:r>
            </a:p>
          </p:txBody>
        </p:sp>
      </p:grpSp>
      <p:sp>
        <p:nvSpPr>
          <p:cNvPr name="TextBox 21" id="21"/>
          <p:cNvSpPr txBox="true"/>
          <p:nvPr/>
        </p:nvSpPr>
        <p:spPr>
          <a:xfrm rot="0">
            <a:off x="12287611" y="8369908"/>
            <a:ext cx="5620946" cy="878646"/>
          </a:xfrm>
          <a:prstGeom prst="rect">
            <a:avLst/>
          </a:prstGeom>
        </p:spPr>
        <p:txBody>
          <a:bodyPr anchor="t" rtlCol="false" tIns="0" lIns="0" bIns="0" rIns="0">
            <a:spAutoFit/>
          </a:bodyPr>
          <a:lstStyle/>
          <a:p>
            <a:pPr algn="l">
              <a:lnSpc>
                <a:spcPts val="2346"/>
              </a:lnSpc>
            </a:pPr>
            <a:r>
              <a:rPr lang="en-US" sz="1955">
                <a:solidFill>
                  <a:srgbClr val="000000"/>
                </a:solidFill>
                <a:latin typeface="Canva Sans"/>
                <a:ea typeface="Canva Sans"/>
                <a:cs typeface="Canva Sans"/>
                <a:sym typeface="Canva Sans"/>
              </a:rPr>
              <a:t>Once the CPU b</a:t>
            </a:r>
            <a:r>
              <a:rPr lang="en-US" sz="1955">
                <a:solidFill>
                  <a:srgbClr val="000000"/>
                </a:solidFill>
                <a:latin typeface="Canva Sans"/>
                <a:ea typeface="Canva Sans"/>
                <a:cs typeface="Canva Sans"/>
                <a:sym typeface="Canva Sans"/>
              </a:rPr>
              <a:t>egins executing a process, it runs that process to completion regardless of the priorities of incoming tasks</a:t>
            </a:r>
          </a:p>
        </p:txBody>
      </p:sp>
      <p:sp>
        <p:nvSpPr>
          <p:cNvPr name="Freeform 22" id="22"/>
          <p:cNvSpPr/>
          <p:nvPr/>
        </p:nvSpPr>
        <p:spPr>
          <a:xfrm flipH="false" flipV="false" rot="0">
            <a:off x="10998582" y="4192662"/>
            <a:ext cx="783466" cy="1274439"/>
          </a:xfrm>
          <a:custGeom>
            <a:avLst/>
            <a:gdLst/>
            <a:ahLst/>
            <a:cxnLst/>
            <a:rect r="r" b="b" t="t" l="l"/>
            <a:pathLst>
              <a:path h="1274439" w="783466">
                <a:moveTo>
                  <a:pt x="0" y="0"/>
                </a:moveTo>
                <a:lnTo>
                  <a:pt x="783466" y="0"/>
                </a:lnTo>
                <a:lnTo>
                  <a:pt x="783466" y="1274438"/>
                </a:lnTo>
                <a:lnTo>
                  <a:pt x="0" y="12744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0998582" y="8077279"/>
            <a:ext cx="783466" cy="1274439"/>
          </a:xfrm>
          <a:custGeom>
            <a:avLst/>
            <a:gdLst/>
            <a:ahLst/>
            <a:cxnLst/>
            <a:rect r="r" b="b" t="t" l="l"/>
            <a:pathLst>
              <a:path h="1274439" w="783466">
                <a:moveTo>
                  <a:pt x="0" y="0"/>
                </a:moveTo>
                <a:lnTo>
                  <a:pt x="783466" y="0"/>
                </a:lnTo>
                <a:lnTo>
                  <a:pt x="783466" y="1274438"/>
                </a:lnTo>
                <a:lnTo>
                  <a:pt x="0" y="12744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0">
            <a:off x="-1078999" y="-911764"/>
            <a:ext cx="2009235" cy="2606319"/>
          </a:xfrm>
          <a:custGeom>
            <a:avLst/>
            <a:gdLst/>
            <a:ahLst/>
            <a:cxnLst/>
            <a:rect r="r" b="b" t="t" l="l"/>
            <a:pathLst>
              <a:path h="2606319" w="2009235">
                <a:moveTo>
                  <a:pt x="0" y="0"/>
                </a:moveTo>
                <a:lnTo>
                  <a:pt x="2009234" y="0"/>
                </a:lnTo>
                <a:lnTo>
                  <a:pt x="2009234" y="2606318"/>
                </a:lnTo>
                <a:lnTo>
                  <a:pt x="0" y="26063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5" id="25"/>
          <p:cNvSpPr txBox="true"/>
          <p:nvPr/>
        </p:nvSpPr>
        <p:spPr>
          <a:xfrm rot="0">
            <a:off x="1028700" y="4481122"/>
            <a:ext cx="6630763" cy="2911038"/>
          </a:xfrm>
          <a:prstGeom prst="rect">
            <a:avLst/>
          </a:prstGeom>
        </p:spPr>
        <p:txBody>
          <a:bodyPr anchor="t" rtlCol="false" tIns="0" lIns="0" bIns="0" rIns="0">
            <a:spAutoFit/>
          </a:bodyPr>
          <a:lstStyle/>
          <a:p>
            <a:pPr algn="l">
              <a:lnSpc>
                <a:spcPts val="3349"/>
              </a:lnSpc>
              <a:spcBef>
                <a:spcPct val="0"/>
              </a:spcBef>
            </a:pPr>
            <a:r>
              <a:rPr lang="en-US" sz="2392">
                <a:solidFill>
                  <a:srgbClr val="000000"/>
                </a:solidFill>
                <a:latin typeface="Canva Sans"/>
                <a:ea typeface="Canva Sans"/>
                <a:cs typeface="Canva Sans"/>
                <a:sym typeface="Canva Sans"/>
              </a:rPr>
              <a:t>Priority scheduling is an operating system algorithm that assigns a priority to each process and allocates the CPU to the process with the highest priority first. It is widely used in batch processing and real-time systems to ensure that critical or time-sensitive tasks receive immediate attention.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723827" y="2370113"/>
            <a:ext cx="11837918" cy="7306903"/>
          </a:xfrm>
          <a:custGeom>
            <a:avLst/>
            <a:gdLst/>
            <a:ahLst/>
            <a:cxnLst/>
            <a:rect r="r" b="b" t="t" l="l"/>
            <a:pathLst>
              <a:path h="7306903" w="11837918">
                <a:moveTo>
                  <a:pt x="0" y="0"/>
                </a:moveTo>
                <a:lnTo>
                  <a:pt x="11837918" y="0"/>
                </a:lnTo>
                <a:lnTo>
                  <a:pt x="11837918" y="7306902"/>
                </a:lnTo>
                <a:lnTo>
                  <a:pt x="0" y="7306902"/>
                </a:lnTo>
                <a:lnTo>
                  <a:pt x="0" y="0"/>
                </a:lnTo>
                <a:close/>
              </a:path>
            </a:pathLst>
          </a:custGeom>
          <a:blipFill>
            <a:blip r:embed="rId2"/>
            <a:stretch>
              <a:fillRect l="0" t="-8006" r="0" b="0"/>
            </a:stretch>
          </a:blipFill>
        </p:spPr>
      </p:sp>
      <p:sp>
        <p:nvSpPr>
          <p:cNvPr name="TextBox 3" id="3"/>
          <p:cNvSpPr txBox="true"/>
          <p:nvPr/>
        </p:nvSpPr>
        <p:spPr>
          <a:xfrm rot="0">
            <a:off x="3953913" y="85725"/>
            <a:ext cx="14095981" cy="942975"/>
          </a:xfrm>
          <a:prstGeom prst="rect">
            <a:avLst/>
          </a:prstGeom>
        </p:spPr>
        <p:txBody>
          <a:bodyPr anchor="t" rtlCol="false" tIns="0" lIns="0" bIns="0" rIns="0">
            <a:spAutoFit/>
          </a:bodyPr>
          <a:lstStyle/>
          <a:p>
            <a:pPr algn="l">
              <a:lnSpc>
                <a:spcPts val="6548"/>
              </a:lnSpc>
            </a:pPr>
            <a:r>
              <a:rPr lang="en-US" sz="5457">
                <a:solidFill>
                  <a:srgbClr val="010101"/>
                </a:solidFill>
                <a:latin typeface="Chunk Five"/>
                <a:ea typeface="Chunk Five"/>
                <a:cs typeface="Chunk Five"/>
                <a:sym typeface="Chunk Five"/>
              </a:rPr>
              <a:t>P</a:t>
            </a:r>
            <a:r>
              <a:rPr lang="en-US" sz="5457">
                <a:solidFill>
                  <a:srgbClr val="010101"/>
                </a:solidFill>
                <a:latin typeface="Chunk Five"/>
                <a:ea typeface="Chunk Five"/>
                <a:cs typeface="Chunk Five"/>
                <a:sym typeface="Chunk Five"/>
              </a:rPr>
              <a:t>riority Scheduling - flowchart</a:t>
            </a:r>
          </a:p>
        </p:txBody>
      </p:sp>
      <p:sp>
        <p:nvSpPr>
          <p:cNvPr name="Freeform 4" id="4"/>
          <p:cNvSpPr/>
          <p:nvPr/>
        </p:nvSpPr>
        <p:spPr>
          <a:xfrm flipH="true" flipV="false" rot="0">
            <a:off x="-779457" y="699278"/>
            <a:ext cx="2009235" cy="2606319"/>
          </a:xfrm>
          <a:custGeom>
            <a:avLst/>
            <a:gdLst/>
            <a:ahLst/>
            <a:cxnLst/>
            <a:rect r="r" b="b" t="t" l="l"/>
            <a:pathLst>
              <a:path h="2606319" w="2009235">
                <a:moveTo>
                  <a:pt x="2009234" y="0"/>
                </a:moveTo>
                <a:lnTo>
                  <a:pt x="0" y="0"/>
                </a:lnTo>
                <a:lnTo>
                  <a:pt x="0" y="2606319"/>
                </a:lnTo>
                <a:lnTo>
                  <a:pt x="2009234" y="2606319"/>
                </a:lnTo>
                <a:lnTo>
                  <a:pt x="200923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31060" y="6938090"/>
            <a:ext cx="2009235" cy="2606319"/>
          </a:xfrm>
          <a:custGeom>
            <a:avLst/>
            <a:gdLst/>
            <a:ahLst/>
            <a:cxnLst/>
            <a:rect r="r" b="b" t="t" l="l"/>
            <a:pathLst>
              <a:path h="2606319" w="2009235">
                <a:moveTo>
                  <a:pt x="0" y="0"/>
                </a:moveTo>
                <a:lnTo>
                  <a:pt x="2009234" y="0"/>
                </a:lnTo>
                <a:lnTo>
                  <a:pt x="2009234" y="2606319"/>
                </a:lnTo>
                <a:lnTo>
                  <a:pt x="0" y="26063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468836" y="-289487"/>
            <a:ext cx="2350782" cy="1417174"/>
          </a:xfrm>
          <a:custGeom>
            <a:avLst/>
            <a:gdLst/>
            <a:ahLst/>
            <a:cxnLst/>
            <a:rect r="r" b="b" t="t" l="l"/>
            <a:pathLst>
              <a:path h="1417174" w="2350782">
                <a:moveTo>
                  <a:pt x="0" y="0"/>
                </a:moveTo>
                <a:lnTo>
                  <a:pt x="2350781" y="0"/>
                </a:lnTo>
                <a:lnTo>
                  <a:pt x="2350781" y="1417174"/>
                </a:lnTo>
                <a:lnTo>
                  <a:pt x="0" y="1417174"/>
                </a:lnTo>
                <a:lnTo>
                  <a:pt x="0" y="0"/>
                </a:lnTo>
                <a:close/>
              </a:path>
            </a:pathLst>
          </a:custGeom>
          <a:blipFill>
            <a:blip r:embed="rId2"/>
            <a:stretch>
              <a:fillRect l="0" t="0" r="0" b="-47499"/>
            </a:stretch>
          </a:blipFill>
        </p:spPr>
      </p:sp>
      <p:sp>
        <p:nvSpPr>
          <p:cNvPr name="Freeform 3" id="3"/>
          <p:cNvSpPr/>
          <p:nvPr/>
        </p:nvSpPr>
        <p:spPr>
          <a:xfrm flipH="false" flipV="false" rot="0">
            <a:off x="729736" y="1127687"/>
            <a:ext cx="6161224" cy="6125865"/>
          </a:xfrm>
          <a:custGeom>
            <a:avLst/>
            <a:gdLst/>
            <a:ahLst/>
            <a:cxnLst/>
            <a:rect r="r" b="b" t="t" l="l"/>
            <a:pathLst>
              <a:path h="6125865" w="6161224">
                <a:moveTo>
                  <a:pt x="0" y="0"/>
                </a:moveTo>
                <a:lnTo>
                  <a:pt x="6161224" y="0"/>
                </a:lnTo>
                <a:lnTo>
                  <a:pt x="6161224" y="6125866"/>
                </a:lnTo>
                <a:lnTo>
                  <a:pt x="0" y="6125866"/>
                </a:lnTo>
                <a:lnTo>
                  <a:pt x="0" y="0"/>
                </a:lnTo>
                <a:close/>
              </a:path>
            </a:pathLst>
          </a:custGeom>
          <a:blipFill>
            <a:blip r:embed="rId3"/>
            <a:stretch>
              <a:fillRect l="0" t="0" r="0" b="0"/>
            </a:stretch>
          </a:blipFill>
        </p:spPr>
      </p:sp>
      <p:grpSp>
        <p:nvGrpSpPr>
          <p:cNvPr name="Group 4" id="4"/>
          <p:cNvGrpSpPr/>
          <p:nvPr/>
        </p:nvGrpSpPr>
        <p:grpSpPr>
          <a:xfrm rot="0">
            <a:off x="10461158" y="2233658"/>
            <a:ext cx="6090511" cy="6589600"/>
            <a:chOff x="0" y="0"/>
            <a:chExt cx="1604085" cy="1735532"/>
          </a:xfrm>
        </p:grpSpPr>
        <p:sp>
          <p:nvSpPr>
            <p:cNvPr name="Freeform 5" id="5"/>
            <p:cNvSpPr/>
            <p:nvPr/>
          </p:nvSpPr>
          <p:spPr>
            <a:xfrm flipH="false" flipV="false" rot="0">
              <a:off x="0" y="0"/>
              <a:ext cx="1604085" cy="1735532"/>
            </a:xfrm>
            <a:custGeom>
              <a:avLst/>
              <a:gdLst/>
              <a:ahLst/>
              <a:cxnLst/>
              <a:rect r="r" b="b" t="t" l="l"/>
              <a:pathLst>
                <a:path h="1735532" w="1604085">
                  <a:moveTo>
                    <a:pt x="30507" y="0"/>
                  </a:moveTo>
                  <a:lnTo>
                    <a:pt x="1573578" y="0"/>
                  </a:lnTo>
                  <a:cubicBezTo>
                    <a:pt x="1590427" y="0"/>
                    <a:pt x="1604085" y="13659"/>
                    <a:pt x="1604085" y="30507"/>
                  </a:cubicBezTo>
                  <a:lnTo>
                    <a:pt x="1604085" y="1705025"/>
                  </a:lnTo>
                  <a:cubicBezTo>
                    <a:pt x="1604085" y="1713116"/>
                    <a:pt x="1600871" y="1720876"/>
                    <a:pt x="1595150" y="1726597"/>
                  </a:cubicBezTo>
                  <a:cubicBezTo>
                    <a:pt x="1589429" y="1732318"/>
                    <a:pt x="1581669" y="1735532"/>
                    <a:pt x="1573578" y="1735532"/>
                  </a:cubicBezTo>
                  <a:lnTo>
                    <a:pt x="30507" y="1735532"/>
                  </a:lnTo>
                  <a:cubicBezTo>
                    <a:pt x="22416" y="1735532"/>
                    <a:pt x="14657" y="1732318"/>
                    <a:pt x="8935" y="1726597"/>
                  </a:cubicBezTo>
                  <a:cubicBezTo>
                    <a:pt x="3214" y="1720876"/>
                    <a:pt x="0" y="1713116"/>
                    <a:pt x="0" y="1705025"/>
                  </a:cubicBezTo>
                  <a:lnTo>
                    <a:pt x="0" y="30507"/>
                  </a:lnTo>
                  <a:cubicBezTo>
                    <a:pt x="0" y="22416"/>
                    <a:pt x="3214" y="14657"/>
                    <a:pt x="8935" y="8935"/>
                  </a:cubicBezTo>
                  <a:cubicBezTo>
                    <a:pt x="14657" y="3214"/>
                    <a:pt x="22416" y="0"/>
                    <a:pt x="30507" y="0"/>
                  </a:cubicBezTo>
                  <a:close/>
                </a:path>
              </a:pathLst>
            </a:custGeom>
            <a:solidFill>
              <a:srgbClr val="6A88CF"/>
            </a:solidFill>
          </p:spPr>
        </p:sp>
        <p:sp>
          <p:nvSpPr>
            <p:cNvPr name="TextBox 6" id="6"/>
            <p:cNvSpPr txBox="true"/>
            <p:nvPr/>
          </p:nvSpPr>
          <p:spPr>
            <a:xfrm>
              <a:off x="0" y="-95250"/>
              <a:ext cx="1604085" cy="1830782"/>
            </a:xfrm>
            <a:prstGeom prst="rect">
              <a:avLst/>
            </a:prstGeom>
          </p:spPr>
          <p:txBody>
            <a:bodyPr anchor="ctr" rtlCol="false" tIns="50800" lIns="50800" bIns="50800" rIns="50800"/>
            <a:lstStyle/>
            <a:p>
              <a:pPr algn="l" marL="388620" indent="-194310" lvl="1">
                <a:lnSpc>
                  <a:spcPts val="3240"/>
                </a:lnSpc>
                <a:buFont typeface="Arial"/>
                <a:buChar char="•"/>
              </a:pPr>
              <a:r>
                <a:rPr lang="en-US" sz="1800">
                  <a:solidFill>
                    <a:srgbClr val="FBF9FB"/>
                  </a:solidFill>
                  <a:latin typeface="Canva Sans"/>
                  <a:ea typeface="Canva Sans"/>
                  <a:cs typeface="Canva Sans"/>
                  <a:sym typeface="Canva Sans"/>
                </a:rPr>
                <a:t>We instantiate the queue. It is empty.</a:t>
              </a:r>
            </a:p>
            <a:p>
              <a:pPr algn="l" marL="388620" indent="-194310" lvl="1">
                <a:lnSpc>
                  <a:spcPts val="3240"/>
                </a:lnSpc>
                <a:buFont typeface="Arial"/>
                <a:buChar char="•"/>
              </a:pPr>
              <a:r>
                <a:rPr lang="en-US" sz="1800">
                  <a:solidFill>
                    <a:srgbClr val="FBF9FB"/>
                  </a:solidFill>
                  <a:latin typeface="Canva Sans"/>
                  <a:ea typeface="Canva Sans"/>
                  <a:cs typeface="Canva Sans"/>
                  <a:sym typeface="Canva Sans"/>
                </a:rPr>
                <a:t>We insert a tuple. The queue uses the '3' to place it in the heap.</a:t>
              </a:r>
            </a:p>
            <a:p>
              <a:pPr algn="l" marL="388620" indent="-194310" lvl="1">
                <a:lnSpc>
                  <a:spcPts val="3240"/>
                </a:lnSpc>
                <a:buFont typeface="Arial"/>
                <a:buChar char="•"/>
              </a:pPr>
              <a:r>
                <a:rPr lang="en-US" sz="1800">
                  <a:solidFill>
                    <a:srgbClr val="FBF9FB"/>
                  </a:solidFill>
                  <a:latin typeface="Canva Sans"/>
                  <a:ea typeface="Canva Sans"/>
                  <a:cs typeface="Canva Sans"/>
                  <a:sym typeface="Canva Sans"/>
                </a:rPr>
                <a:t>The CPU spins in a loop, constantly checking if there is work to do.</a:t>
              </a:r>
            </a:p>
            <a:p>
              <a:pPr algn="l" marL="388620" indent="-194310" lvl="1">
                <a:lnSpc>
                  <a:spcPts val="3240"/>
                </a:lnSpc>
                <a:buFont typeface="Arial"/>
                <a:buChar char="•"/>
              </a:pPr>
              <a:r>
                <a:rPr lang="en-US" sz="1800">
                  <a:solidFill>
                    <a:srgbClr val="FBF9FB"/>
                  </a:solidFill>
                  <a:latin typeface="Canva Sans"/>
                  <a:ea typeface="Canva Sans"/>
                  <a:cs typeface="Canva Sans"/>
                  <a:sym typeface="Canva Sans"/>
                </a:rPr>
                <a:t>It instantly grabs the most urgent task and removes it from the heap.</a:t>
              </a:r>
            </a:p>
            <a:p>
              <a:pPr algn="l" marL="388620" indent="-194310" lvl="1">
                <a:lnSpc>
                  <a:spcPts val="3240"/>
                </a:lnSpc>
                <a:buFont typeface="Arial"/>
                <a:buChar char="•"/>
              </a:pPr>
              <a:r>
                <a:rPr lang="en-US" sz="1800">
                  <a:solidFill>
                    <a:srgbClr val="FBF9FB"/>
                  </a:solidFill>
                  <a:latin typeface="Canva Sans"/>
                  <a:ea typeface="Canva Sans"/>
                  <a:cs typeface="Canva Sans"/>
                  <a:sym typeface="Canva Sans"/>
                </a:rPr>
                <a:t>We force Python to pause for 1 second. This represents the "Burst Time" we discussed in Module 3.</a:t>
              </a:r>
            </a:p>
            <a:p>
              <a:pPr algn="l" marL="388620" indent="-194310" lvl="1">
                <a:lnSpc>
                  <a:spcPts val="3240"/>
                </a:lnSpc>
                <a:buFont typeface="Arial"/>
                <a:buChar char="•"/>
              </a:pPr>
              <a:r>
                <a:rPr lang="en-US" sz="1800">
                  <a:solidFill>
                    <a:srgbClr val="FBF9FB"/>
                  </a:solidFill>
                  <a:latin typeface="Canva Sans"/>
                  <a:ea typeface="Canva Sans"/>
                  <a:cs typeface="Canva Sans"/>
                  <a:sym typeface="Canva Sans"/>
                </a:rPr>
                <a:t>Tells the queue's internal tracker that we have fully finished processing this item. (Crucial for multi-threaded programming).</a:t>
              </a:r>
            </a:p>
            <a:p>
              <a:pPr algn="l">
                <a:lnSpc>
                  <a:spcPts val="1980"/>
                </a:lnSpc>
              </a:pPr>
            </a:p>
          </p:txBody>
        </p:sp>
      </p:grpSp>
      <p:sp>
        <p:nvSpPr>
          <p:cNvPr name="Freeform 7" id="7"/>
          <p:cNvSpPr/>
          <p:nvPr/>
        </p:nvSpPr>
        <p:spPr>
          <a:xfrm flipH="false" flipV="false" rot="0">
            <a:off x="729736" y="7555752"/>
            <a:ext cx="6161224" cy="2223244"/>
          </a:xfrm>
          <a:custGeom>
            <a:avLst/>
            <a:gdLst/>
            <a:ahLst/>
            <a:cxnLst/>
            <a:rect r="r" b="b" t="t" l="l"/>
            <a:pathLst>
              <a:path h="2223244" w="6161224">
                <a:moveTo>
                  <a:pt x="0" y="0"/>
                </a:moveTo>
                <a:lnTo>
                  <a:pt x="6161224" y="0"/>
                </a:lnTo>
                <a:lnTo>
                  <a:pt x="6161224" y="2223244"/>
                </a:lnTo>
                <a:lnTo>
                  <a:pt x="0" y="2223244"/>
                </a:lnTo>
                <a:lnTo>
                  <a:pt x="0" y="0"/>
                </a:lnTo>
                <a:close/>
              </a:path>
            </a:pathLst>
          </a:custGeom>
          <a:blipFill>
            <a:blip r:embed="rId4"/>
            <a:stretch>
              <a:fillRect l="0" t="0" r="0" b="0"/>
            </a:stretch>
          </a:blipFill>
        </p:spPr>
      </p:sp>
      <p:sp>
        <p:nvSpPr>
          <p:cNvPr name="TextBox 8" id="8"/>
          <p:cNvSpPr txBox="true"/>
          <p:nvPr/>
        </p:nvSpPr>
        <p:spPr>
          <a:xfrm rot="0">
            <a:off x="-513893" y="342900"/>
            <a:ext cx="8122081" cy="685800"/>
          </a:xfrm>
          <a:prstGeom prst="rect">
            <a:avLst/>
          </a:prstGeom>
        </p:spPr>
        <p:txBody>
          <a:bodyPr anchor="t" rtlCol="false" tIns="0" lIns="0" bIns="0" rIns="0">
            <a:spAutoFit/>
          </a:bodyPr>
          <a:lstStyle/>
          <a:p>
            <a:pPr algn="ctr">
              <a:lnSpc>
                <a:spcPts val="4823"/>
              </a:lnSpc>
            </a:pPr>
            <a:r>
              <a:rPr lang="en-US" sz="4019">
                <a:solidFill>
                  <a:srgbClr val="010101"/>
                </a:solidFill>
                <a:latin typeface="Chunk Five"/>
                <a:ea typeface="Chunk Five"/>
                <a:cs typeface="Chunk Five"/>
                <a:sym typeface="Chunk Five"/>
              </a:rPr>
              <a:t>Python Imp</a:t>
            </a:r>
            <a:r>
              <a:rPr lang="en-US" sz="4019">
                <a:solidFill>
                  <a:srgbClr val="010101"/>
                </a:solidFill>
                <a:latin typeface="Chunk Five"/>
                <a:ea typeface="Chunk Five"/>
                <a:cs typeface="Chunk Five"/>
                <a:sym typeface="Chunk Five"/>
              </a:rPr>
              <a:t>lementation</a:t>
            </a:r>
          </a:p>
        </p:txBody>
      </p:sp>
      <p:sp>
        <p:nvSpPr>
          <p:cNvPr name="TextBox 9" id="9"/>
          <p:cNvSpPr txBox="true"/>
          <p:nvPr/>
        </p:nvSpPr>
        <p:spPr>
          <a:xfrm rot="0">
            <a:off x="9286097" y="1284453"/>
            <a:ext cx="8122081" cy="542925"/>
          </a:xfrm>
          <a:prstGeom prst="rect">
            <a:avLst/>
          </a:prstGeom>
        </p:spPr>
        <p:txBody>
          <a:bodyPr anchor="t" rtlCol="false" tIns="0" lIns="0" bIns="0" rIns="0">
            <a:spAutoFit/>
          </a:bodyPr>
          <a:lstStyle/>
          <a:p>
            <a:pPr algn="ctr">
              <a:lnSpc>
                <a:spcPts val="3840"/>
              </a:lnSpc>
            </a:pPr>
            <a:r>
              <a:rPr lang="en-US" sz="3200">
                <a:solidFill>
                  <a:srgbClr val="010101"/>
                </a:solidFill>
                <a:latin typeface="Chunk Five"/>
                <a:ea typeface="Chunk Five"/>
                <a:cs typeface="Chunk Five"/>
                <a:sym typeface="Chunk Five"/>
              </a:rPr>
              <a:t>CODE EXPLANATION</a:t>
            </a:r>
          </a:p>
        </p:txBody>
      </p:sp>
      <p:sp>
        <p:nvSpPr>
          <p:cNvPr name="Freeform 10" id="10"/>
          <p:cNvSpPr/>
          <p:nvPr/>
        </p:nvSpPr>
        <p:spPr>
          <a:xfrm flipH="false" flipV="false" rot="0">
            <a:off x="16882306" y="7955141"/>
            <a:ext cx="2009235" cy="2606319"/>
          </a:xfrm>
          <a:custGeom>
            <a:avLst/>
            <a:gdLst/>
            <a:ahLst/>
            <a:cxnLst/>
            <a:rect r="r" b="b" t="t" l="l"/>
            <a:pathLst>
              <a:path h="2606319" w="2009235">
                <a:moveTo>
                  <a:pt x="0" y="0"/>
                </a:moveTo>
                <a:lnTo>
                  <a:pt x="2009235" y="0"/>
                </a:lnTo>
                <a:lnTo>
                  <a:pt x="2009235" y="2606318"/>
                </a:lnTo>
                <a:lnTo>
                  <a:pt x="0" y="26063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7464" y="8516134"/>
            <a:ext cx="2009235" cy="2606319"/>
          </a:xfrm>
          <a:custGeom>
            <a:avLst/>
            <a:gdLst/>
            <a:ahLst/>
            <a:cxnLst/>
            <a:rect r="r" b="b" t="t" l="l"/>
            <a:pathLst>
              <a:path h="2606319" w="2009235">
                <a:moveTo>
                  <a:pt x="0" y="0"/>
                </a:moveTo>
                <a:lnTo>
                  <a:pt x="2009235" y="0"/>
                </a:lnTo>
                <a:lnTo>
                  <a:pt x="2009235" y="2606319"/>
                </a:lnTo>
                <a:lnTo>
                  <a:pt x="0" y="26063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755659" y="5143500"/>
            <a:ext cx="12187660" cy="4665702"/>
          </a:xfrm>
          <a:custGeom>
            <a:avLst/>
            <a:gdLst/>
            <a:ahLst/>
            <a:cxnLst/>
            <a:rect r="r" b="b" t="t" l="l"/>
            <a:pathLst>
              <a:path h="4665702" w="12187660">
                <a:moveTo>
                  <a:pt x="0" y="0"/>
                </a:moveTo>
                <a:lnTo>
                  <a:pt x="12187660" y="0"/>
                </a:lnTo>
                <a:lnTo>
                  <a:pt x="12187660" y="4665702"/>
                </a:lnTo>
                <a:lnTo>
                  <a:pt x="0" y="4665702"/>
                </a:lnTo>
                <a:lnTo>
                  <a:pt x="0" y="0"/>
                </a:lnTo>
                <a:close/>
              </a:path>
            </a:pathLst>
          </a:custGeom>
          <a:blipFill>
            <a:blip r:embed="rId4"/>
            <a:stretch>
              <a:fillRect l="0" t="-46935" r="0" b="0"/>
            </a:stretch>
          </a:blipFill>
          <a:ln w="38100" cap="sq">
            <a:solidFill>
              <a:srgbClr val="000000"/>
            </a:solidFill>
            <a:prstDash val="solid"/>
            <a:miter/>
          </a:ln>
        </p:spPr>
      </p:sp>
      <p:sp>
        <p:nvSpPr>
          <p:cNvPr name="Freeform 4" id="4"/>
          <p:cNvSpPr/>
          <p:nvPr/>
        </p:nvSpPr>
        <p:spPr>
          <a:xfrm flipH="false" flipV="false" rot="0">
            <a:off x="6920631" y="-412968"/>
            <a:ext cx="3448874" cy="1862134"/>
          </a:xfrm>
          <a:custGeom>
            <a:avLst/>
            <a:gdLst/>
            <a:ahLst/>
            <a:cxnLst/>
            <a:rect r="r" b="b" t="t" l="l"/>
            <a:pathLst>
              <a:path h="1862134" w="3448874">
                <a:moveTo>
                  <a:pt x="0" y="0"/>
                </a:moveTo>
                <a:lnTo>
                  <a:pt x="3448874" y="0"/>
                </a:lnTo>
                <a:lnTo>
                  <a:pt x="3448874" y="1862135"/>
                </a:lnTo>
                <a:lnTo>
                  <a:pt x="0" y="1862135"/>
                </a:lnTo>
                <a:lnTo>
                  <a:pt x="0" y="0"/>
                </a:lnTo>
                <a:close/>
              </a:path>
            </a:pathLst>
          </a:custGeom>
          <a:blipFill>
            <a:blip r:embed="rId5"/>
            <a:stretch>
              <a:fillRect l="0" t="0" r="-64911" b="0"/>
            </a:stretch>
          </a:blipFill>
        </p:spPr>
      </p:sp>
      <p:sp>
        <p:nvSpPr>
          <p:cNvPr name="TextBox 5" id="5"/>
          <p:cNvSpPr txBox="true"/>
          <p:nvPr/>
        </p:nvSpPr>
        <p:spPr>
          <a:xfrm rot="0">
            <a:off x="426940" y="248887"/>
            <a:ext cx="6657439" cy="1023156"/>
          </a:xfrm>
          <a:prstGeom prst="rect">
            <a:avLst/>
          </a:prstGeom>
        </p:spPr>
        <p:txBody>
          <a:bodyPr anchor="t" rtlCol="false" tIns="0" lIns="0" bIns="0" rIns="0">
            <a:spAutoFit/>
          </a:bodyPr>
          <a:lstStyle/>
          <a:p>
            <a:pPr algn="l">
              <a:lnSpc>
                <a:spcPts val="7102"/>
              </a:lnSpc>
            </a:pPr>
            <a:r>
              <a:rPr lang="en-US" sz="5918">
                <a:solidFill>
                  <a:srgbClr val="010101"/>
                </a:solidFill>
                <a:latin typeface="Chunk Five"/>
                <a:ea typeface="Chunk Five"/>
                <a:cs typeface="Chunk Five"/>
                <a:sym typeface="Chunk Five"/>
              </a:rPr>
              <a:t>FIFO</a:t>
            </a:r>
            <a:r>
              <a:rPr lang="en-US" sz="5918">
                <a:solidFill>
                  <a:srgbClr val="010101"/>
                </a:solidFill>
                <a:latin typeface="Chunk Five"/>
                <a:ea typeface="Chunk Five"/>
                <a:cs typeface="Chunk Five"/>
                <a:sym typeface="Chunk Five"/>
              </a:rPr>
              <a:t> Scheduling </a:t>
            </a:r>
          </a:p>
        </p:txBody>
      </p:sp>
      <p:sp>
        <p:nvSpPr>
          <p:cNvPr name="TextBox 6" id="6"/>
          <p:cNvSpPr txBox="true"/>
          <p:nvPr/>
        </p:nvSpPr>
        <p:spPr>
          <a:xfrm rot="0">
            <a:off x="606612" y="2417087"/>
            <a:ext cx="12628039" cy="1937386"/>
          </a:xfrm>
          <a:prstGeom prst="rect">
            <a:avLst/>
          </a:prstGeom>
        </p:spPr>
        <p:txBody>
          <a:bodyPr anchor="t" rtlCol="false" tIns="0" lIns="0" bIns="0" rIns="0">
            <a:spAutoFit/>
          </a:bodyPr>
          <a:lstStyle/>
          <a:p>
            <a:pPr algn="l">
              <a:lnSpc>
                <a:spcPts val="3959"/>
              </a:lnSpc>
              <a:spcBef>
                <a:spcPct val="0"/>
              </a:spcBef>
            </a:pPr>
            <a:r>
              <a:rPr lang="en-US" sz="2199">
                <a:solidFill>
                  <a:srgbClr val="010101"/>
                </a:solidFill>
                <a:latin typeface="Canva Sans"/>
                <a:ea typeface="Canva Sans"/>
                <a:cs typeface="Canva Sans"/>
                <a:sym typeface="Canva Sans"/>
              </a:rPr>
              <a:t>FIFO (First-In, First-Out) Scheduling (also known as First-Come, First-Served or FCFS) is the simplest CPU scheduling algorithm used in operating systems. It processes tasks, requests, or data packets strictly in the order they arrive, meaning the first task to enter the queue is the first one executed. [1, 2, 3, 4, 5]</a:t>
            </a:r>
          </a:p>
        </p:txBody>
      </p:sp>
      <p:sp>
        <p:nvSpPr>
          <p:cNvPr name="Freeform 7" id="7"/>
          <p:cNvSpPr/>
          <p:nvPr/>
        </p:nvSpPr>
        <p:spPr>
          <a:xfrm flipH="false" flipV="false" rot="0">
            <a:off x="16254683" y="-274459"/>
            <a:ext cx="2009235" cy="2606319"/>
          </a:xfrm>
          <a:custGeom>
            <a:avLst/>
            <a:gdLst/>
            <a:ahLst/>
            <a:cxnLst/>
            <a:rect r="r" b="b" t="t" l="l"/>
            <a:pathLst>
              <a:path h="2606319" w="2009235">
                <a:moveTo>
                  <a:pt x="0" y="0"/>
                </a:moveTo>
                <a:lnTo>
                  <a:pt x="2009234" y="0"/>
                </a:lnTo>
                <a:lnTo>
                  <a:pt x="2009234" y="2606318"/>
                </a:lnTo>
                <a:lnTo>
                  <a:pt x="0" y="26063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797583" y="1845140"/>
            <a:ext cx="11875421" cy="7413160"/>
          </a:xfrm>
          <a:custGeom>
            <a:avLst/>
            <a:gdLst/>
            <a:ahLst/>
            <a:cxnLst/>
            <a:rect r="r" b="b" t="t" l="l"/>
            <a:pathLst>
              <a:path h="7413160" w="11875421">
                <a:moveTo>
                  <a:pt x="0" y="0"/>
                </a:moveTo>
                <a:lnTo>
                  <a:pt x="11875420" y="0"/>
                </a:lnTo>
                <a:lnTo>
                  <a:pt x="11875420" y="7413160"/>
                </a:lnTo>
                <a:lnTo>
                  <a:pt x="0" y="7413160"/>
                </a:lnTo>
                <a:lnTo>
                  <a:pt x="0" y="0"/>
                </a:lnTo>
                <a:close/>
              </a:path>
            </a:pathLst>
          </a:custGeom>
          <a:blipFill>
            <a:blip r:embed="rId2"/>
            <a:stretch>
              <a:fillRect l="0" t="-6795" r="0" b="0"/>
            </a:stretch>
          </a:blipFill>
        </p:spPr>
      </p:sp>
      <p:sp>
        <p:nvSpPr>
          <p:cNvPr name="TextBox 3" id="3"/>
          <p:cNvSpPr txBox="true"/>
          <p:nvPr/>
        </p:nvSpPr>
        <p:spPr>
          <a:xfrm rot="0">
            <a:off x="4408480" y="95250"/>
            <a:ext cx="9972681" cy="933450"/>
          </a:xfrm>
          <a:prstGeom prst="rect">
            <a:avLst/>
          </a:prstGeom>
        </p:spPr>
        <p:txBody>
          <a:bodyPr anchor="t" rtlCol="false" tIns="0" lIns="0" bIns="0" rIns="0">
            <a:spAutoFit/>
          </a:bodyPr>
          <a:lstStyle/>
          <a:p>
            <a:pPr algn="l">
              <a:lnSpc>
                <a:spcPts val="6502"/>
              </a:lnSpc>
            </a:pPr>
            <a:r>
              <a:rPr lang="en-US" sz="5418">
                <a:solidFill>
                  <a:srgbClr val="010101"/>
                </a:solidFill>
                <a:latin typeface="Chunk Five"/>
                <a:ea typeface="Chunk Five"/>
                <a:cs typeface="Chunk Five"/>
                <a:sym typeface="Chunk Five"/>
              </a:rPr>
              <a:t>FIFO</a:t>
            </a:r>
            <a:r>
              <a:rPr lang="en-US" sz="5418">
                <a:solidFill>
                  <a:srgbClr val="010101"/>
                </a:solidFill>
                <a:latin typeface="Chunk Five"/>
                <a:ea typeface="Chunk Five"/>
                <a:cs typeface="Chunk Five"/>
                <a:sym typeface="Chunk Five"/>
              </a:rPr>
              <a:t> Scheduling - Flowchart</a:t>
            </a:r>
          </a:p>
        </p:txBody>
      </p:sp>
      <p:sp>
        <p:nvSpPr>
          <p:cNvPr name="Freeform 4" id="4"/>
          <p:cNvSpPr/>
          <p:nvPr/>
        </p:nvSpPr>
        <p:spPr>
          <a:xfrm flipH="true" flipV="false" rot="0">
            <a:off x="-779457" y="699278"/>
            <a:ext cx="2009235" cy="2606319"/>
          </a:xfrm>
          <a:custGeom>
            <a:avLst/>
            <a:gdLst/>
            <a:ahLst/>
            <a:cxnLst/>
            <a:rect r="r" b="b" t="t" l="l"/>
            <a:pathLst>
              <a:path h="2606319" w="2009235">
                <a:moveTo>
                  <a:pt x="2009234" y="0"/>
                </a:moveTo>
                <a:lnTo>
                  <a:pt x="0" y="0"/>
                </a:lnTo>
                <a:lnTo>
                  <a:pt x="0" y="2606319"/>
                </a:lnTo>
                <a:lnTo>
                  <a:pt x="2009234" y="2606319"/>
                </a:lnTo>
                <a:lnTo>
                  <a:pt x="200923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31060" y="6938090"/>
            <a:ext cx="2009235" cy="2606319"/>
          </a:xfrm>
          <a:custGeom>
            <a:avLst/>
            <a:gdLst/>
            <a:ahLst/>
            <a:cxnLst/>
            <a:rect r="r" b="b" t="t" l="l"/>
            <a:pathLst>
              <a:path h="2606319" w="2009235">
                <a:moveTo>
                  <a:pt x="0" y="0"/>
                </a:moveTo>
                <a:lnTo>
                  <a:pt x="2009234" y="0"/>
                </a:lnTo>
                <a:lnTo>
                  <a:pt x="2009234" y="2606319"/>
                </a:lnTo>
                <a:lnTo>
                  <a:pt x="0" y="26063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212264"/>
            <a:ext cx="6676522" cy="2884219"/>
            <a:chOff x="0" y="0"/>
            <a:chExt cx="1383938" cy="597853"/>
          </a:xfrm>
        </p:grpSpPr>
        <p:sp>
          <p:nvSpPr>
            <p:cNvPr name="Freeform 3" id="3"/>
            <p:cNvSpPr/>
            <p:nvPr/>
          </p:nvSpPr>
          <p:spPr>
            <a:xfrm flipH="false" flipV="false" rot="0">
              <a:off x="0" y="0"/>
              <a:ext cx="1383938" cy="597853"/>
            </a:xfrm>
            <a:custGeom>
              <a:avLst/>
              <a:gdLst/>
              <a:ahLst/>
              <a:cxnLst/>
              <a:rect r="r" b="b" t="t" l="l"/>
              <a:pathLst>
                <a:path h="597853" w="1383938">
                  <a:moveTo>
                    <a:pt x="0" y="0"/>
                  </a:moveTo>
                  <a:lnTo>
                    <a:pt x="1383938" y="0"/>
                  </a:lnTo>
                  <a:lnTo>
                    <a:pt x="1383938" y="597853"/>
                  </a:lnTo>
                  <a:lnTo>
                    <a:pt x="0" y="597853"/>
                  </a:lnTo>
                  <a:close/>
                </a:path>
              </a:pathLst>
            </a:custGeom>
            <a:solidFill>
              <a:srgbClr val="FFD95F"/>
            </a:solidFill>
          </p:spPr>
        </p:sp>
        <p:sp>
          <p:nvSpPr>
            <p:cNvPr name="TextBox 4" id="4"/>
            <p:cNvSpPr txBox="true"/>
            <p:nvPr/>
          </p:nvSpPr>
          <p:spPr>
            <a:xfrm>
              <a:off x="0" y="-95250"/>
              <a:ext cx="1383938" cy="693103"/>
            </a:xfrm>
            <a:prstGeom prst="rect">
              <a:avLst/>
            </a:prstGeom>
          </p:spPr>
          <p:txBody>
            <a:bodyPr anchor="ctr" rtlCol="false" tIns="50800" lIns="50800" bIns="50800" rIns="50800"/>
            <a:lstStyle/>
            <a:p>
              <a:pPr algn="ctr">
                <a:lnSpc>
                  <a:spcPts val="3240"/>
                </a:lnSpc>
              </a:pPr>
            </a:p>
          </p:txBody>
        </p:sp>
      </p:grpSp>
      <p:grpSp>
        <p:nvGrpSpPr>
          <p:cNvPr name="Group 5" id="5"/>
          <p:cNvGrpSpPr/>
          <p:nvPr/>
        </p:nvGrpSpPr>
        <p:grpSpPr>
          <a:xfrm rot="0">
            <a:off x="10457573" y="6179383"/>
            <a:ext cx="7085037" cy="3075046"/>
            <a:chOff x="0" y="0"/>
            <a:chExt cx="1485803" cy="644868"/>
          </a:xfrm>
        </p:grpSpPr>
        <p:sp>
          <p:nvSpPr>
            <p:cNvPr name="Freeform 6" id="6"/>
            <p:cNvSpPr/>
            <p:nvPr/>
          </p:nvSpPr>
          <p:spPr>
            <a:xfrm flipH="false" flipV="false" rot="0">
              <a:off x="0" y="0"/>
              <a:ext cx="1485803" cy="644868"/>
            </a:xfrm>
            <a:custGeom>
              <a:avLst/>
              <a:gdLst/>
              <a:ahLst/>
              <a:cxnLst/>
              <a:rect r="r" b="b" t="t" l="l"/>
              <a:pathLst>
                <a:path h="644868" w="1485803">
                  <a:moveTo>
                    <a:pt x="0" y="0"/>
                  </a:moveTo>
                  <a:lnTo>
                    <a:pt x="1485803" y="0"/>
                  </a:lnTo>
                  <a:lnTo>
                    <a:pt x="1485803" y="644868"/>
                  </a:lnTo>
                  <a:lnTo>
                    <a:pt x="0" y="644868"/>
                  </a:lnTo>
                  <a:close/>
                </a:path>
              </a:pathLst>
            </a:custGeom>
            <a:solidFill>
              <a:srgbClr val="D70654"/>
            </a:solidFill>
          </p:spPr>
        </p:sp>
        <p:sp>
          <p:nvSpPr>
            <p:cNvPr name="TextBox 7" id="7"/>
            <p:cNvSpPr txBox="true"/>
            <p:nvPr/>
          </p:nvSpPr>
          <p:spPr>
            <a:xfrm>
              <a:off x="0" y="-95250"/>
              <a:ext cx="1485803" cy="740118"/>
            </a:xfrm>
            <a:prstGeom prst="rect">
              <a:avLst/>
            </a:prstGeom>
          </p:spPr>
          <p:txBody>
            <a:bodyPr anchor="ctr" rtlCol="false" tIns="50800" lIns="50800" bIns="50800" rIns="50800"/>
            <a:lstStyle/>
            <a:p>
              <a:pPr algn="ctr">
                <a:lnSpc>
                  <a:spcPts val="3240"/>
                </a:lnSpc>
              </a:pPr>
            </a:p>
          </p:txBody>
        </p:sp>
      </p:grpSp>
      <p:sp>
        <p:nvSpPr>
          <p:cNvPr name="Freeform 8" id="8"/>
          <p:cNvSpPr/>
          <p:nvPr/>
        </p:nvSpPr>
        <p:spPr>
          <a:xfrm flipH="false" flipV="false" rot="0">
            <a:off x="8588655" y="1200788"/>
            <a:ext cx="4458588" cy="4458588"/>
          </a:xfrm>
          <a:custGeom>
            <a:avLst/>
            <a:gdLst/>
            <a:ahLst/>
            <a:cxnLst/>
            <a:rect r="r" b="b" t="t" l="l"/>
            <a:pathLst>
              <a:path h="4458588" w="4458588">
                <a:moveTo>
                  <a:pt x="0" y="0"/>
                </a:moveTo>
                <a:lnTo>
                  <a:pt x="4458589" y="0"/>
                </a:lnTo>
                <a:lnTo>
                  <a:pt x="4458589" y="4458588"/>
                </a:lnTo>
                <a:lnTo>
                  <a:pt x="0" y="4458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400000">
            <a:off x="6374724" y="7777822"/>
            <a:ext cx="5536882" cy="1109019"/>
          </a:xfrm>
          <a:custGeom>
            <a:avLst/>
            <a:gdLst/>
            <a:ahLst/>
            <a:cxnLst/>
            <a:rect r="r" b="b" t="t" l="l"/>
            <a:pathLst>
              <a:path h="1109019" w="5536882">
                <a:moveTo>
                  <a:pt x="0" y="0"/>
                </a:moveTo>
                <a:lnTo>
                  <a:pt x="5536882" y="0"/>
                </a:lnTo>
                <a:lnTo>
                  <a:pt x="5536882" y="1109019"/>
                </a:lnTo>
                <a:lnTo>
                  <a:pt x="0" y="11090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3026391" y="1200788"/>
            <a:ext cx="5536882" cy="1109019"/>
          </a:xfrm>
          <a:custGeom>
            <a:avLst/>
            <a:gdLst/>
            <a:ahLst/>
            <a:cxnLst/>
            <a:rect r="r" b="b" t="t" l="l"/>
            <a:pathLst>
              <a:path h="1109019" w="5536882">
                <a:moveTo>
                  <a:pt x="0" y="0"/>
                </a:moveTo>
                <a:lnTo>
                  <a:pt x="5536882" y="0"/>
                </a:lnTo>
                <a:lnTo>
                  <a:pt x="5536882" y="1109019"/>
                </a:lnTo>
                <a:lnTo>
                  <a:pt x="0" y="11090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8357343" y="6829669"/>
            <a:ext cx="1571644" cy="157164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0743"/>
            </a:solidFill>
            <a:ln w="123825" cap="sq">
              <a:solidFill>
                <a:srgbClr val="FFFFFF"/>
              </a:solidFill>
              <a:prstDash val="solid"/>
              <a:miter/>
            </a:ln>
          </p:spPr>
        </p:sp>
        <p:sp>
          <p:nvSpPr>
            <p:cNvPr name="TextBox 13" id="13"/>
            <p:cNvSpPr txBox="true"/>
            <p:nvPr/>
          </p:nvSpPr>
          <p:spPr>
            <a:xfrm>
              <a:off x="76200" y="-19050"/>
              <a:ext cx="660400" cy="755650"/>
            </a:xfrm>
            <a:prstGeom prst="rect">
              <a:avLst/>
            </a:prstGeom>
          </p:spPr>
          <p:txBody>
            <a:bodyPr anchor="ctr" rtlCol="false" tIns="50800" lIns="50800" bIns="50800" rIns="50800"/>
            <a:lstStyle/>
            <a:p>
              <a:pPr algn="ctr">
                <a:lnSpc>
                  <a:spcPts val="3240"/>
                </a:lnSpc>
              </a:pPr>
            </a:p>
          </p:txBody>
        </p:sp>
      </p:grpSp>
      <p:grpSp>
        <p:nvGrpSpPr>
          <p:cNvPr name="Group 14" id="14"/>
          <p:cNvGrpSpPr/>
          <p:nvPr/>
        </p:nvGrpSpPr>
        <p:grpSpPr>
          <a:xfrm rot="0">
            <a:off x="8357343" y="2868552"/>
            <a:ext cx="1571644" cy="157164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95F"/>
            </a:solidFill>
            <a:ln w="123825" cap="sq">
              <a:solidFill>
                <a:srgbClr val="FFFFFF"/>
              </a:solidFill>
              <a:prstDash val="solid"/>
              <a:miter/>
            </a:ln>
          </p:spPr>
        </p:sp>
        <p:sp>
          <p:nvSpPr>
            <p:cNvPr name="TextBox 16" id="16"/>
            <p:cNvSpPr txBox="true"/>
            <p:nvPr/>
          </p:nvSpPr>
          <p:spPr>
            <a:xfrm>
              <a:off x="76200" y="-19050"/>
              <a:ext cx="660400" cy="755650"/>
            </a:xfrm>
            <a:prstGeom prst="rect">
              <a:avLst/>
            </a:prstGeom>
          </p:spPr>
          <p:txBody>
            <a:bodyPr anchor="ctr" rtlCol="false" tIns="50800" lIns="50800" bIns="50800" rIns="50800"/>
            <a:lstStyle/>
            <a:p>
              <a:pPr algn="ctr">
                <a:lnSpc>
                  <a:spcPts val="3240"/>
                </a:lnSpc>
              </a:pPr>
            </a:p>
          </p:txBody>
        </p:sp>
      </p:grpSp>
      <p:sp>
        <p:nvSpPr>
          <p:cNvPr name="TextBox 17" id="17"/>
          <p:cNvSpPr txBox="true"/>
          <p:nvPr/>
        </p:nvSpPr>
        <p:spPr>
          <a:xfrm rot="0">
            <a:off x="493169" y="316071"/>
            <a:ext cx="8789339" cy="1162050"/>
          </a:xfrm>
          <a:prstGeom prst="rect">
            <a:avLst/>
          </a:prstGeom>
        </p:spPr>
        <p:txBody>
          <a:bodyPr anchor="t" rtlCol="false" tIns="0" lIns="0" bIns="0" rIns="0">
            <a:spAutoFit/>
          </a:bodyPr>
          <a:lstStyle/>
          <a:p>
            <a:pPr algn="l">
              <a:lnSpc>
                <a:spcPts val="8175"/>
              </a:lnSpc>
            </a:pPr>
            <a:r>
              <a:rPr lang="en-US" sz="6812">
                <a:solidFill>
                  <a:srgbClr val="010101"/>
                </a:solidFill>
                <a:latin typeface="Chunk Five"/>
                <a:ea typeface="Chunk Five"/>
                <a:cs typeface="Chunk Five"/>
                <a:sym typeface="Chunk Five"/>
              </a:rPr>
              <a:t>FIFO </a:t>
            </a:r>
            <a:r>
              <a:rPr lang="en-US" sz="6812">
                <a:solidFill>
                  <a:srgbClr val="010101"/>
                </a:solidFill>
                <a:latin typeface="Chunk Five"/>
                <a:ea typeface="Chunk Five"/>
                <a:cs typeface="Chunk Five"/>
                <a:sym typeface="Chunk Five"/>
              </a:rPr>
              <a:t>Characteristics</a:t>
            </a:r>
          </a:p>
        </p:txBody>
      </p:sp>
      <p:sp>
        <p:nvSpPr>
          <p:cNvPr name="TextBox 18" id="18"/>
          <p:cNvSpPr txBox="true"/>
          <p:nvPr/>
        </p:nvSpPr>
        <p:spPr>
          <a:xfrm rot="0">
            <a:off x="1455714" y="2796104"/>
            <a:ext cx="4591754" cy="408905"/>
          </a:xfrm>
          <a:prstGeom prst="rect">
            <a:avLst/>
          </a:prstGeom>
        </p:spPr>
        <p:txBody>
          <a:bodyPr anchor="t" rtlCol="false" tIns="0" lIns="0" bIns="0" rIns="0">
            <a:spAutoFit/>
          </a:bodyPr>
          <a:lstStyle/>
          <a:p>
            <a:pPr algn="l">
              <a:lnSpc>
                <a:spcPts val="3201"/>
              </a:lnSpc>
            </a:pPr>
            <a:r>
              <a:rPr lang="en-US" sz="2668" b="true">
                <a:solidFill>
                  <a:srgbClr val="010101"/>
                </a:solidFill>
                <a:latin typeface="Canva Sans Bold"/>
                <a:ea typeface="Canva Sans Bold"/>
                <a:cs typeface="Canva Sans Bold"/>
                <a:sym typeface="Canva Sans Bold"/>
              </a:rPr>
              <a:t>A</a:t>
            </a:r>
            <a:r>
              <a:rPr lang="en-US" b="true" sz="2668">
                <a:solidFill>
                  <a:srgbClr val="010101"/>
                </a:solidFill>
                <a:latin typeface="Canva Sans Bold"/>
                <a:ea typeface="Canva Sans Bold"/>
                <a:cs typeface="Canva Sans Bold"/>
                <a:sym typeface="Canva Sans Bold"/>
              </a:rPr>
              <a:t>dvantages</a:t>
            </a:r>
          </a:p>
        </p:txBody>
      </p:sp>
      <p:sp>
        <p:nvSpPr>
          <p:cNvPr name="TextBox 19" id="19"/>
          <p:cNvSpPr txBox="true"/>
          <p:nvPr/>
        </p:nvSpPr>
        <p:spPr>
          <a:xfrm rot="0">
            <a:off x="1455714" y="3465819"/>
            <a:ext cx="5470937" cy="1187674"/>
          </a:xfrm>
          <a:prstGeom prst="rect">
            <a:avLst/>
          </a:prstGeom>
        </p:spPr>
        <p:txBody>
          <a:bodyPr anchor="t" rtlCol="false" tIns="0" lIns="0" bIns="0" rIns="0">
            <a:spAutoFit/>
          </a:bodyPr>
          <a:lstStyle/>
          <a:p>
            <a:pPr algn="l">
              <a:lnSpc>
                <a:spcPts val="3201"/>
              </a:lnSpc>
            </a:pPr>
            <a:r>
              <a:rPr lang="en-US" sz="2287">
                <a:solidFill>
                  <a:srgbClr val="010101"/>
                </a:solidFill>
                <a:latin typeface="Canva Sans"/>
                <a:ea typeface="Canva Sans"/>
                <a:cs typeface="Canva Sans"/>
                <a:sym typeface="Canva Sans"/>
              </a:rPr>
              <a:t>Very simple concept and easy to implement. It is fair for arriving task and has predictable execution order.</a:t>
            </a:r>
          </a:p>
        </p:txBody>
      </p:sp>
      <p:sp>
        <p:nvSpPr>
          <p:cNvPr name="TextBox 20" id="20"/>
          <p:cNvSpPr txBox="true"/>
          <p:nvPr/>
        </p:nvSpPr>
        <p:spPr>
          <a:xfrm rot="0">
            <a:off x="10935938" y="6562739"/>
            <a:ext cx="5418345" cy="394760"/>
          </a:xfrm>
          <a:prstGeom prst="rect">
            <a:avLst/>
          </a:prstGeom>
        </p:spPr>
        <p:txBody>
          <a:bodyPr anchor="t" rtlCol="false" tIns="0" lIns="0" bIns="0" rIns="0">
            <a:spAutoFit/>
          </a:bodyPr>
          <a:lstStyle/>
          <a:p>
            <a:pPr algn="l">
              <a:lnSpc>
                <a:spcPts val="3164"/>
              </a:lnSpc>
            </a:pPr>
            <a:r>
              <a:rPr lang="en-US" sz="2637" b="true">
                <a:solidFill>
                  <a:srgbClr val="FFFFFF"/>
                </a:solidFill>
                <a:latin typeface="Canva Sans Bold"/>
                <a:ea typeface="Canva Sans Bold"/>
                <a:cs typeface="Canva Sans Bold"/>
                <a:sym typeface="Canva Sans Bold"/>
              </a:rPr>
              <a:t>L</a:t>
            </a:r>
            <a:r>
              <a:rPr lang="en-US" b="true" sz="2637">
                <a:solidFill>
                  <a:srgbClr val="FFFFFF"/>
                </a:solidFill>
                <a:latin typeface="Canva Sans Bold"/>
                <a:ea typeface="Canva Sans Bold"/>
                <a:cs typeface="Canva Sans Bold"/>
                <a:sym typeface="Canva Sans Bold"/>
              </a:rPr>
              <a:t>imitations</a:t>
            </a:r>
          </a:p>
        </p:txBody>
      </p:sp>
      <p:sp>
        <p:nvSpPr>
          <p:cNvPr name="TextBox 21" id="21"/>
          <p:cNvSpPr txBox="true"/>
          <p:nvPr/>
        </p:nvSpPr>
        <p:spPr>
          <a:xfrm rot="0">
            <a:off x="10935938" y="7197323"/>
            <a:ext cx="6120926" cy="1559721"/>
          </a:xfrm>
          <a:prstGeom prst="rect">
            <a:avLst/>
          </a:prstGeom>
        </p:spPr>
        <p:txBody>
          <a:bodyPr anchor="t" rtlCol="false" tIns="0" lIns="0" bIns="0" rIns="0">
            <a:spAutoFit/>
          </a:bodyPr>
          <a:lstStyle/>
          <a:p>
            <a:pPr algn="l">
              <a:lnSpc>
                <a:spcPts val="3164"/>
              </a:lnSpc>
            </a:pPr>
            <a:r>
              <a:rPr lang="en-US" sz="2260">
                <a:solidFill>
                  <a:srgbClr val="FFFFFF"/>
                </a:solidFill>
                <a:latin typeface="Canva Sans"/>
                <a:ea typeface="Canva Sans"/>
                <a:cs typeface="Canva Sans"/>
                <a:sym typeface="Canva Sans"/>
              </a:rPr>
              <a:t>Urgent tasks cannot jump ahead . Long Tasks dealys other shorter tasks. It has lower responsiveness and not suitable for mixed priority workloads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8730841">
            <a:off x="17118213" y="-127280"/>
            <a:ext cx="1317726" cy="1022829"/>
          </a:xfrm>
          <a:custGeom>
            <a:avLst/>
            <a:gdLst/>
            <a:ahLst/>
            <a:cxnLst/>
            <a:rect r="r" b="b" t="t" l="l"/>
            <a:pathLst>
              <a:path h="1022829" w="1317726">
                <a:moveTo>
                  <a:pt x="0" y="0"/>
                </a:moveTo>
                <a:lnTo>
                  <a:pt x="1317725" y="0"/>
                </a:lnTo>
                <a:lnTo>
                  <a:pt x="1317725" y="1022830"/>
                </a:lnTo>
                <a:lnTo>
                  <a:pt x="0" y="10228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2712" y="-280375"/>
            <a:ext cx="1867740" cy="1759072"/>
          </a:xfrm>
          <a:custGeom>
            <a:avLst/>
            <a:gdLst/>
            <a:ahLst/>
            <a:cxnLst/>
            <a:rect r="r" b="b" t="t" l="l"/>
            <a:pathLst>
              <a:path h="1759072" w="1867740">
                <a:moveTo>
                  <a:pt x="0" y="0"/>
                </a:moveTo>
                <a:lnTo>
                  <a:pt x="1867741" y="0"/>
                </a:lnTo>
                <a:lnTo>
                  <a:pt x="1867741" y="1759072"/>
                </a:lnTo>
                <a:lnTo>
                  <a:pt x="0" y="17590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4" id="4"/>
          <p:cNvGraphicFramePr/>
          <p:nvPr/>
        </p:nvGraphicFramePr>
        <p:xfrm>
          <a:off x="4148442" y="1905391"/>
          <a:ext cx="5657850" cy="5029200"/>
        </p:xfrm>
        <a:graphic>
          <a:graphicData uri="http://schemas.openxmlformats.org/presentationml/2006/ole">
            <p:oleObj imgW="6781800" imgH="61595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5" id="5"/>
          <p:cNvSpPr txBox="true"/>
          <p:nvPr/>
        </p:nvSpPr>
        <p:spPr>
          <a:xfrm rot="0">
            <a:off x="2109792" y="250785"/>
            <a:ext cx="14399442" cy="1101330"/>
          </a:xfrm>
          <a:prstGeom prst="rect">
            <a:avLst/>
          </a:prstGeom>
        </p:spPr>
        <p:txBody>
          <a:bodyPr anchor="t" rtlCol="false" tIns="0" lIns="0" bIns="0" rIns="0">
            <a:spAutoFit/>
          </a:bodyPr>
          <a:lstStyle/>
          <a:p>
            <a:pPr algn="ctr">
              <a:lnSpc>
                <a:spcPts val="7646"/>
              </a:lnSpc>
            </a:pPr>
            <a:r>
              <a:rPr lang="en-US" sz="6372">
                <a:solidFill>
                  <a:srgbClr val="010101"/>
                </a:solidFill>
                <a:latin typeface="Chunk Five"/>
                <a:ea typeface="Chunk Five"/>
                <a:cs typeface="Chunk Five"/>
                <a:sym typeface="Chunk Five"/>
              </a:rPr>
              <a:t>Comparison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89858" y="7751204"/>
            <a:ext cx="5294696" cy="446846"/>
          </a:xfrm>
          <a:prstGeom prst="rect">
            <a:avLst/>
          </a:prstGeom>
        </p:spPr>
        <p:txBody>
          <a:bodyPr anchor="t" rtlCol="false" tIns="0" lIns="0" bIns="0" rIns="0">
            <a:spAutoFit/>
          </a:bodyPr>
          <a:lstStyle/>
          <a:p>
            <a:pPr algn="l">
              <a:lnSpc>
                <a:spcPts val="3937"/>
              </a:lnSpc>
            </a:pPr>
            <a:r>
              <a:rPr lang="en-US" b="true" sz="2187">
                <a:solidFill>
                  <a:srgbClr val="FFFFFF"/>
                </a:solidFill>
                <a:latin typeface="Canva Sans Bold"/>
                <a:ea typeface="Canva Sans Bold"/>
                <a:cs typeface="Canva Sans Bold"/>
                <a:sym typeface="Canva Sans Bold"/>
              </a:rPr>
              <a:t>G</a:t>
            </a:r>
            <a:r>
              <a:rPr lang="en-US" b="true" sz="2187">
                <a:solidFill>
                  <a:srgbClr val="FFFFFF"/>
                </a:solidFill>
                <a:latin typeface="Canva Sans Bold"/>
                <a:ea typeface="Canva Sans Bold"/>
                <a:cs typeface="Canva Sans Bold"/>
                <a:sym typeface="Canva Sans Bold"/>
              </a:rPr>
              <a:t>rowth strategy implementation</a:t>
            </a:r>
          </a:p>
        </p:txBody>
      </p:sp>
      <p:grpSp>
        <p:nvGrpSpPr>
          <p:cNvPr name="Group 3" id="3"/>
          <p:cNvGrpSpPr/>
          <p:nvPr/>
        </p:nvGrpSpPr>
        <p:grpSpPr>
          <a:xfrm rot="0">
            <a:off x="1648479" y="2743640"/>
            <a:ext cx="6115125" cy="5639038"/>
            <a:chOff x="0" y="0"/>
            <a:chExt cx="8153500" cy="7518717"/>
          </a:xfrm>
        </p:grpSpPr>
        <p:sp>
          <p:nvSpPr>
            <p:cNvPr name="Freeform 4" id="4"/>
            <p:cNvSpPr/>
            <p:nvPr/>
          </p:nvSpPr>
          <p:spPr>
            <a:xfrm flipH="false" flipV="false" rot="0">
              <a:off x="0" y="1517801"/>
              <a:ext cx="7895942" cy="6000916"/>
            </a:xfrm>
            <a:custGeom>
              <a:avLst/>
              <a:gdLst/>
              <a:ahLst/>
              <a:cxnLst/>
              <a:rect r="r" b="b" t="t" l="l"/>
              <a:pathLst>
                <a:path h="6000916" w="7895942">
                  <a:moveTo>
                    <a:pt x="0" y="0"/>
                  </a:moveTo>
                  <a:lnTo>
                    <a:pt x="7895942" y="0"/>
                  </a:lnTo>
                  <a:lnTo>
                    <a:pt x="7895942" y="6000916"/>
                  </a:lnTo>
                  <a:lnTo>
                    <a:pt x="0" y="6000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221605" y="1460803"/>
              <a:ext cx="6674336" cy="651686"/>
            </a:xfrm>
            <a:prstGeom prst="rect">
              <a:avLst/>
            </a:prstGeom>
          </p:spPr>
          <p:txBody>
            <a:bodyPr anchor="t" rtlCol="false" tIns="0" lIns="0" bIns="0" rIns="0">
              <a:spAutoFit/>
            </a:bodyPr>
            <a:lstStyle/>
            <a:p>
              <a:pPr algn="ctr">
                <a:lnSpc>
                  <a:spcPts val="4134"/>
                </a:lnSpc>
                <a:spcBef>
                  <a:spcPct val="0"/>
                </a:spcBef>
              </a:pPr>
              <a:r>
                <a:rPr lang="en-US" b="true" sz="2953">
                  <a:solidFill>
                    <a:srgbClr val="010101"/>
                  </a:solidFill>
                  <a:latin typeface="Canva Sans Bold"/>
                  <a:ea typeface="Canva Sans Bold"/>
                  <a:cs typeface="Canva Sans Bold"/>
                  <a:sym typeface="Canva Sans Bold"/>
                </a:rPr>
                <a:t>Ho</a:t>
              </a:r>
              <a:r>
                <a:rPr lang="en-US" b="true" sz="2953">
                  <a:solidFill>
                    <a:srgbClr val="010101"/>
                  </a:solidFill>
                  <a:latin typeface="Canva Sans Bold"/>
                  <a:ea typeface="Canva Sans Bold"/>
                  <a:cs typeface="Canva Sans Bold"/>
                  <a:sym typeface="Canva Sans Bold"/>
                </a:rPr>
                <a:t>spital emergency rooms</a:t>
              </a:r>
            </a:p>
          </p:txBody>
        </p:sp>
        <p:sp>
          <p:nvSpPr>
            <p:cNvPr name="TextBox 6" id="6"/>
            <p:cNvSpPr txBox="true"/>
            <p:nvPr/>
          </p:nvSpPr>
          <p:spPr>
            <a:xfrm rot="0">
              <a:off x="1221605" y="3222184"/>
              <a:ext cx="6375280" cy="651685"/>
            </a:xfrm>
            <a:prstGeom prst="rect">
              <a:avLst/>
            </a:prstGeom>
          </p:spPr>
          <p:txBody>
            <a:bodyPr anchor="t" rtlCol="false" tIns="0" lIns="0" bIns="0" rIns="0">
              <a:spAutoFit/>
            </a:bodyPr>
            <a:lstStyle/>
            <a:p>
              <a:pPr algn="ctr">
                <a:lnSpc>
                  <a:spcPts val="4134"/>
                </a:lnSpc>
                <a:spcBef>
                  <a:spcPct val="0"/>
                </a:spcBef>
              </a:pPr>
              <a:r>
                <a:rPr lang="en-US" b="true" sz="2953">
                  <a:solidFill>
                    <a:srgbClr val="010101"/>
                  </a:solidFill>
                  <a:latin typeface="Canva Sans Bold"/>
                  <a:ea typeface="Canva Sans Bold"/>
                  <a:cs typeface="Canva Sans Bold"/>
                  <a:sym typeface="Canva Sans Bold"/>
                </a:rPr>
                <a:t>CPU p</a:t>
              </a:r>
              <a:r>
                <a:rPr lang="en-US" b="true" sz="2953">
                  <a:solidFill>
                    <a:srgbClr val="010101"/>
                  </a:solidFill>
                  <a:latin typeface="Canva Sans Bold"/>
                  <a:ea typeface="Canva Sans Bold"/>
                  <a:cs typeface="Canva Sans Bold"/>
                  <a:sym typeface="Canva Sans Bold"/>
                </a:rPr>
                <a:t>rocess scheduling</a:t>
              </a:r>
            </a:p>
          </p:txBody>
        </p:sp>
        <p:sp>
          <p:nvSpPr>
            <p:cNvPr name="TextBox 7" id="7"/>
            <p:cNvSpPr txBox="true"/>
            <p:nvPr/>
          </p:nvSpPr>
          <p:spPr>
            <a:xfrm rot="0">
              <a:off x="1520662" y="4895851"/>
              <a:ext cx="4854618" cy="651685"/>
            </a:xfrm>
            <a:prstGeom prst="rect">
              <a:avLst/>
            </a:prstGeom>
          </p:spPr>
          <p:txBody>
            <a:bodyPr anchor="t" rtlCol="false" tIns="0" lIns="0" bIns="0" rIns="0">
              <a:spAutoFit/>
            </a:bodyPr>
            <a:lstStyle/>
            <a:p>
              <a:pPr algn="ctr">
                <a:lnSpc>
                  <a:spcPts val="4134"/>
                </a:lnSpc>
                <a:spcBef>
                  <a:spcPct val="0"/>
                </a:spcBef>
              </a:pPr>
              <a:r>
                <a:rPr lang="en-US" b="true" sz="2953">
                  <a:solidFill>
                    <a:srgbClr val="010101"/>
                  </a:solidFill>
                  <a:latin typeface="Canva Sans Bold"/>
                  <a:ea typeface="Canva Sans Bold"/>
                  <a:cs typeface="Canva Sans Bold"/>
                  <a:sym typeface="Canva Sans Bold"/>
                </a:rPr>
                <a:t>Ai</a:t>
              </a:r>
              <a:r>
                <a:rPr lang="en-US" b="true" sz="2953">
                  <a:solidFill>
                    <a:srgbClr val="010101"/>
                  </a:solidFill>
                  <a:latin typeface="Canva Sans Bold"/>
                  <a:ea typeface="Canva Sans Bold"/>
                  <a:cs typeface="Canva Sans Bold"/>
                  <a:sym typeface="Canva Sans Bold"/>
                </a:rPr>
                <a:t>r traffic control</a:t>
              </a:r>
            </a:p>
          </p:txBody>
        </p:sp>
        <p:sp>
          <p:nvSpPr>
            <p:cNvPr name="TextBox 8" id="8"/>
            <p:cNvSpPr txBox="true"/>
            <p:nvPr/>
          </p:nvSpPr>
          <p:spPr>
            <a:xfrm rot="0">
              <a:off x="1479164" y="6579043"/>
              <a:ext cx="6416778" cy="594004"/>
            </a:xfrm>
            <a:prstGeom prst="rect">
              <a:avLst/>
            </a:prstGeom>
          </p:spPr>
          <p:txBody>
            <a:bodyPr anchor="t" rtlCol="false" tIns="0" lIns="0" bIns="0" rIns="0">
              <a:spAutoFit/>
            </a:bodyPr>
            <a:lstStyle/>
            <a:p>
              <a:pPr algn="ctr">
                <a:lnSpc>
                  <a:spcPts val="3828"/>
                </a:lnSpc>
                <a:spcBef>
                  <a:spcPct val="0"/>
                </a:spcBef>
              </a:pPr>
              <a:r>
                <a:rPr lang="en-US" b="true" sz="2734">
                  <a:solidFill>
                    <a:srgbClr val="010101"/>
                  </a:solidFill>
                  <a:latin typeface="Canva Sans Bold"/>
                  <a:ea typeface="Canva Sans Bold"/>
                  <a:cs typeface="Canva Sans Bold"/>
                  <a:sym typeface="Canva Sans Bold"/>
                </a:rPr>
                <a:t>Custom</a:t>
              </a:r>
              <a:r>
                <a:rPr lang="en-US" b="true" sz="2734">
                  <a:solidFill>
                    <a:srgbClr val="010101"/>
                  </a:solidFill>
                  <a:latin typeface="Canva Sans Bold"/>
                  <a:ea typeface="Canva Sans Bold"/>
                  <a:cs typeface="Canva Sans Bold"/>
                  <a:sym typeface="Canva Sans Bold"/>
                </a:rPr>
                <a:t>er support tickets</a:t>
              </a:r>
            </a:p>
          </p:txBody>
        </p:sp>
        <p:sp>
          <p:nvSpPr>
            <p:cNvPr name="TextBox 9" id="9"/>
            <p:cNvSpPr txBox="true"/>
            <p:nvPr/>
          </p:nvSpPr>
          <p:spPr>
            <a:xfrm rot="0">
              <a:off x="0" y="-19050"/>
              <a:ext cx="8153500" cy="660629"/>
            </a:xfrm>
            <a:prstGeom prst="rect">
              <a:avLst/>
            </a:prstGeom>
          </p:spPr>
          <p:txBody>
            <a:bodyPr anchor="t" rtlCol="false" tIns="0" lIns="0" bIns="0" rIns="0">
              <a:spAutoFit/>
            </a:bodyPr>
            <a:lstStyle/>
            <a:p>
              <a:pPr algn="ctr">
                <a:lnSpc>
                  <a:spcPts val="3298"/>
                </a:lnSpc>
              </a:pPr>
              <a:r>
                <a:rPr lang="en-US" sz="3171">
                  <a:solidFill>
                    <a:srgbClr val="010101"/>
                  </a:solidFill>
                  <a:latin typeface="Chunk Five"/>
                  <a:ea typeface="Chunk Five"/>
                  <a:cs typeface="Chunk Five"/>
                  <a:sym typeface="Chunk Five"/>
                </a:rPr>
                <a:t>Priority Scheduling</a:t>
              </a:r>
            </a:p>
          </p:txBody>
        </p:sp>
      </p:grpSp>
      <p:grpSp>
        <p:nvGrpSpPr>
          <p:cNvPr name="Group 10" id="10"/>
          <p:cNvGrpSpPr/>
          <p:nvPr/>
        </p:nvGrpSpPr>
        <p:grpSpPr>
          <a:xfrm rot="0">
            <a:off x="10769485" y="2743640"/>
            <a:ext cx="6115125" cy="5639038"/>
            <a:chOff x="0" y="0"/>
            <a:chExt cx="8153500" cy="7518717"/>
          </a:xfrm>
        </p:grpSpPr>
        <p:sp>
          <p:nvSpPr>
            <p:cNvPr name="Freeform 11" id="11"/>
            <p:cNvSpPr/>
            <p:nvPr/>
          </p:nvSpPr>
          <p:spPr>
            <a:xfrm flipH="false" flipV="false" rot="0">
              <a:off x="0" y="1517801"/>
              <a:ext cx="7895942" cy="6000916"/>
            </a:xfrm>
            <a:custGeom>
              <a:avLst/>
              <a:gdLst/>
              <a:ahLst/>
              <a:cxnLst/>
              <a:rect r="r" b="b" t="t" l="l"/>
              <a:pathLst>
                <a:path h="6000916" w="7895942">
                  <a:moveTo>
                    <a:pt x="0" y="0"/>
                  </a:moveTo>
                  <a:lnTo>
                    <a:pt x="7895942" y="0"/>
                  </a:lnTo>
                  <a:lnTo>
                    <a:pt x="7895942" y="6000916"/>
                  </a:lnTo>
                  <a:lnTo>
                    <a:pt x="0" y="6000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1606039"/>
              <a:ext cx="6674336" cy="651686"/>
            </a:xfrm>
            <a:prstGeom prst="rect">
              <a:avLst/>
            </a:prstGeom>
          </p:spPr>
          <p:txBody>
            <a:bodyPr anchor="t" rtlCol="false" tIns="0" lIns="0" bIns="0" rIns="0">
              <a:spAutoFit/>
            </a:bodyPr>
            <a:lstStyle/>
            <a:p>
              <a:pPr algn="ctr">
                <a:lnSpc>
                  <a:spcPts val="4134"/>
                </a:lnSpc>
                <a:spcBef>
                  <a:spcPct val="0"/>
                </a:spcBef>
              </a:pPr>
              <a:r>
                <a:rPr lang="en-US" b="true" sz="2953">
                  <a:solidFill>
                    <a:srgbClr val="010101"/>
                  </a:solidFill>
                  <a:latin typeface="Canva Sans Bold"/>
                  <a:ea typeface="Canva Sans Bold"/>
                  <a:cs typeface="Canva Sans Bold"/>
                  <a:sym typeface="Canva Sans Bold"/>
                </a:rPr>
                <a:t>Pr</a:t>
              </a:r>
              <a:r>
                <a:rPr lang="en-US" b="true" sz="2953">
                  <a:solidFill>
                    <a:srgbClr val="010101"/>
                  </a:solidFill>
                  <a:latin typeface="Canva Sans Bold"/>
                  <a:ea typeface="Canva Sans Bold"/>
                  <a:cs typeface="Canva Sans Bold"/>
                  <a:sym typeface="Canva Sans Bold"/>
                </a:rPr>
                <a:t>inter queues</a:t>
              </a:r>
            </a:p>
          </p:txBody>
        </p:sp>
        <p:sp>
          <p:nvSpPr>
            <p:cNvPr name="TextBox 13" id="13"/>
            <p:cNvSpPr txBox="true"/>
            <p:nvPr/>
          </p:nvSpPr>
          <p:spPr>
            <a:xfrm rot="0">
              <a:off x="299056" y="3250945"/>
              <a:ext cx="6375280" cy="651685"/>
            </a:xfrm>
            <a:prstGeom prst="rect">
              <a:avLst/>
            </a:prstGeom>
          </p:spPr>
          <p:txBody>
            <a:bodyPr anchor="t" rtlCol="false" tIns="0" lIns="0" bIns="0" rIns="0">
              <a:spAutoFit/>
            </a:bodyPr>
            <a:lstStyle/>
            <a:p>
              <a:pPr algn="ctr">
                <a:lnSpc>
                  <a:spcPts val="4134"/>
                </a:lnSpc>
                <a:spcBef>
                  <a:spcPct val="0"/>
                </a:spcBef>
              </a:pPr>
              <a:r>
                <a:rPr lang="en-US" b="true" sz="2953">
                  <a:solidFill>
                    <a:srgbClr val="010101"/>
                  </a:solidFill>
                  <a:latin typeface="Canva Sans Bold"/>
                  <a:ea typeface="Canva Sans Bold"/>
                  <a:cs typeface="Canva Sans Bold"/>
                  <a:sym typeface="Canva Sans Bold"/>
                </a:rPr>
                <a:t>Ti</a:t>
              </a:r>
              <a:r>
                <a:rPr lang="en-US" b="true" sz="2953">
                  <a:solidFill>
                    <a:srgbClr val="010101"/>
                  </a:solidFill>
                  <a:latin typeface="Canva Sans Bold"/>
                  <a:ea typeface="Canva Sans Bold"/>
                  <a:cs typeface="Canva Sans Bold"/>
                  <a:sym typeface="Canva Sans Bold"/>
                </a:rPr>
                <a:t>cket counters</a:t>
              </a:r>
            </a:p>
          </p:txBody>
        </p:sp>
        <p:sp>
          <p:nvSpPr>
            <p:cNvPr name="TextBox 14" id="14"/>
            <p:cNvSpPr txBox="true"/>
            <p:nvPr/>
          </p:nvSpPr>
          <p:spPr>
            <a:xfrm rot="0">
              <a:off x="1479164" y="4910232"/>
              <a:ext cx="5855330" cy="651685"/>
            </a:xfrm>
            <a:prstGeom prst="rect">
              <a:avLst/>
            </a:prstGeom>
          </p:spPr>
          <p:txBody>
            <a:bodyPr anchor="t" rtlCol="false" tIns="0" lIns="0" bIns="0" rIns="0">
              <a:spAutoFit/>
            </a:bodyPr>
            <a:lstStyle/>
            <a:p>
              <a:pPr algn="ctr">
                <a:lnSpc>
                  <a:spcPts val="4134"/>
                </a:lnSpc>
                <a:spcBef>
                  <a:spcPct val="0"/>
                </a:spcBef>
              </a:pPr>
              <a:r>
                <a:rPr lang="en-US" b="true" sz="2953">
                  <a:solidFill>
                    <a:srgbClr val="010101"/>
                  </a:solidFill>
                  <a:latin typeface="Canva Sans Bold"/>
                  <a:ea typeface="Canva Sans Bold"/>
                  <a:cs typeface="Canva Sans Bold"/>
                  <a:sym typeface="Canva Sans Bold"/>
                </a:rPr>
                <a:t>Supe</a:t>
              </a:r>
              <a:r>
                <a:rPr lang="en-US" b="true" sz="2953">
                  <a:solidFill>
                    <a:srgbClr val="010101"/>
                  </a:solidFill>
                  <a:latin typeface="Canva Sans Bold"/>
                  <a:ea typeface="Canva Sans Bold"/>
                  <a:cs typeface="Canva Sans Bold"/>
                  <a:sym typeface="Canva Sans Bold"/>
                </a:rPr>
                <a:t>rmarket checkout</a:t>
              </a:r>
            </a:p>
          </p:txBody>
        </p:sp>
        <p:sp>
          <p:nvSpPr>
            <p:cNvPr name="TextBox 15" id="15"/>
            <p:cNvSpPr txBox="true"/>
            <p:nvPr/>
          </p:nvSpPr>
          <p:spPr>
            <a:xfrm rot="0">
              <a:off x="868361" y="6542227"/>
              <a:ext cx="6416778" cy="594004"/>
            </a:xfrm>
            <a:prstGeom prst="rect">
              <a:avLst/>
            </a:prstGeom>
          </p:spPr>
          <p:txBody>
            <a:bodyPr anchor="t" rtlCol="false" tIns="0" lIns="0" bIns="0" rIns="0">
              <a:spAutoFit/>
            </a:bodyPr>
            <a:lstStyle/>
            <a:p>
              <a:pPr algn="ctr">
                <a:lnSpc>
                  <a:spcPts val="3828"/>
                </a:lnSpc>
                <a:spcBef>
                  <a:spcPct val="0"/>
                </a:spcBef>
              </a:pPr>
              <a:r>
                <a:rPr lang="en-US" b="true" sz="2734">
                  <a:solidFill>
                    <a:srgbClr val="010101"/>
                  </a:solidFill>
                  <a:latin typeface="Canva Sans Bold"/>
                  <a:ea typeface="Canva Sans Bold"/>
                  <a:cs typeface="Canva Sans Bold"/>
                  <a:sym typeface="Canva Sans Bold"/>
                </a:rPr>
                <a:t>Call</a:t>
              </a:r>
              <a:r>
                <a:rPr lang="en-US" b="true" sz="2734">
                  <a:solidFill>
                    <a:srgbClr val="010101"/>
                  </a:solidFill>
                  <a:latin typeface="Canva Sans Bold"/>
                  <a:ea typeface="Canva Sans Bold"/>
                  <a:cs typeface="Canva Sans Bold"/>
                  <a:sym typeface="Canva Sans Bold"/>
                </a:rPr>
                <a:t> waiting systems</a:t>
              </a:r>
            </a:p>
          </p:txBody>
        </p:sp>
        <p:sp>
          <p:nvSpPr>
            <p:cNvPr name="TextBox 16" id="16"/>
            <p:cNvSpPr txBox="true"/>
            <p:nvPr/>
          </p:nvSpPr>
          <p:spPr>
            <a:xfrm rot="0">
              <a:off x="0" y="-19050"/>
              <a:ext cx="8153500" cy="660629"/>
            </a:xfrm>
            <a:prstGeom prst="rect">
              <a:avLst/>
            </a:prstGeom>
          </p:spPr>
          <p:txBody>
            <a:bodyPr anchor="t" rtlCol="false" tIns="0" lIns="0" bIns="0" rIns="0">
              <a:spAutoFit/>
            </a:bodyPr>
            <a:lstStyle/>
            <a:p>
              <a:pPr algn="ctr">
                <a:lnSpc>
                  <a:spcPts val="3298"/>
                </a:lnSpc>
              </a:pPr>
              <a:r>
                <a:rPr lang="en-US" sz="3171">
                  <a:solidFill>
                    <a:srgbClr val="010101"/>
                  </a:solidFill>
                  <a:latin typeface="Chunk Five"/>
                  <a:ea typeface="Chunk Five"/>
                  <a:cs typeface="Chunk Five"/>
                  <a:sym typeface="Chunk Five"/>
                </a:rPr>
                <a:t>FIFO Queue</a:t>
              </a:r>
            </a:p>
          </p:txBody>
        </p:sp>
      </p:grpSp>
      <p:sp>
        <p:nvSpPr>
          <p:cNvPr name="Freeform 17" id="17"/>
          <p:cNvSpPr/>
          <p:nvPr/>
        </p:nvSpPr>
        <p:spPr>
          <a:xfrm flipH="false" flipV="false" rot="0">
            <a:off x="7763604" y="3391095"/>
            <a:ext cx="951809" cy="949905"/>
          </a:xfrm>
          <a:custGeom>
            <a:avLst/>
            <a:gdLst/>
            <a:ahLst/>
            <a:cxnLst/>
            <a:rect r="r" b="b" t="t" l="l"/>
            <a:pathLst>
              <a:path h="949905" w="951809">
                <a:moveTo>
                  <a:pt x="0" y="0"/>
                </a:moveTo>
                <a:lnTo>
                  <a:pt x="951809" y="0"/>
                </a:lnTo>
                <a:lnTo>
                  <a:pt x="951809" y="949906"/>
                </a:lnTo>
                <a:lnTo>
                  <a:pt x="0" y="949906"/>
                </a:lnTo>
                <a:lnTo>
                  <a:pt x="0" y="0"/>
                </a:lnTo>
                <a:close/>
              </a:path>
            </a:pathLst>
          </a:custGeom>
          <a:blipFill>
            <a:blip r:embed="rId4"/>
            <a:stretch>
              <a:fillRect l="0" t="0" r="0" b="0"/>
            </a:stretch>
          </a:blipFill>
        </p:spPr>
      </p:sp>
      <p:sp>
        <p:nvSpPr>
          <p:cNvPr name="Freeform 18" id="18"/>
          <p:cNvSpPr/>
          <p:nvPr/>
        </p:nvSpPr>
        <p:spPr>
          <a:xfrm flipH="false" flipV="false" rot="0">
            <a:off x="7761532" y="4696853"/>
            <a:ext cx="953881" cy="1040336"/>
          </a:xfrm>
          <a:custGeom>
            <a:avLst/>
            <a:gdLst/>
            <a:ahLst/>
            <a:cxnLst/>
            <a:rect r="r" b="b" t="t" l="l"/>
            <a:pathLst>
              <a:path h="1040336" w="953881">
                <a:moveTo>
                  <a:pt x="0" y="0"/>
                </a:moveTo>
                <a:lnTo>
                  <a:pt x="953881" y="0"/>
                </a:lnTo>
                <a:lnTo>
                  <a:pt x="953881" y="1040336"/>
                </a:lnTo>
                <a:lnTo>
                  <a:pt x="0" y="1040336"/>
                </a:lnTo>
                <a:lnTo>
                  <a:pt x="0" y="0"/>
                </a:lnTo>
                <a:close/>
              </a:path>
            </a:pathLst>
          </a:custGeom>
          <a:blipFill>
            <a:blip r:embed="rId5"/>
            <a:stretch>
              <a:fillRect l="0" t="0" r="0" b="0"/>
            </a:stretch>
          </a:blipFill>
        </p:spPr>
      </p:sp>
      <p:sp>
        <p:nvSpPr>
          <p:cNvPr name="Freeform 19" id="19"/>
          <p:cNvSpPr/>
          <p:nvPr/>
        </p:nvSpPr>
        <p:spPr>
          <a:xfrm flipH="false" flipV="false" rot="0">
            <a:off x="7763604" y="6089614"/>
            <a:ext cx="951809" cy="913222"/>
          </a:xfrm>
          <a:custGeom>
            <a:avLst/>
            <a:gdLst/>
            <a:ahLst/>
            <a:cxnLst/>
            <a:rect r="r" b="b" t="t" l="l"/>
            <a:pathLst>
              <a:path h="913222" w="951809">
                <a:moveTo>
                  <a:pt x="0" y="0"/>
                </a:moveTo>
                <a:lnTo>
                  <a:pt x="951809" y="0"/>
                </a:lnTo>
                <a:lnTo>
                  <a:pt x="951809" y="913222"/>
                </a:lnTo>
                <a:lnTo>
                  <a:pt x="0" y="913222"/>
                </a:lnTo>
                <a:lnTo>
                  <a:pt x="0" y="0"/>
                </a:lnTo>
                <a:close/>
              </a:path>
            </a:pathLst>
          </a:custGeom>
          <a:blipFill>
            <a:blip r:embed="rId6"/>
            <a:stretch>
              <a:fillRect l="0" t="0" r="0" b="0"/>
            </a:stretch>
          </a:blipFill>
        </p:spPr>
      </p:sp>
      <p:sp>
        <p:nvSpPr>
          <p:cNvPr name="Freeform 20" id="20"/>
          <p:cNvSpPr/>
          <p:nvPr/>
        </p:nvSpPr>
        <p:spPr>
          <a:xfrm flipH="false" flipV="false" rot="0">
            <a:off x="7432671" y="7201483"/>
            <a:ext cx="2003314" cy="1347093"/>
          </a:xfrm>
          <a:custGeom>
            <a:avLst/>
            <a:gdLst/>
            <a:ahLst/>
            <a:cxnLst/>
            <a:rect r="r" b="b" t="t" l="l"/>
            <a:pathLst>
              <a:path h="1347093" w="2003314">
                <a:moveTo>
                  <a:pt x="0" y="0"/>
                </a:moveTo>
                <a:lnTo>
                  <a:pt x="2003314" y="0"/>
                </a:lnTo>
                <a:lnTo>
                  <a:pt x="2003314" y="1347093"/>
                </a:lnTo>
                <a:lnTo>
                  <a:pt x="0" y="1347093"/>
                </a:lnTo>
                <a:lnTo>
                  <a:pt x="0" y="0"/>
                </a:lnTo>
                <a:close/>
              </a:path>
            </a:pathLst>
          </a:custGeom>
          <a:blipFill>
            <a:blip r:embed="rId7"/>
            <a:stretch>
              <a:fillRect l="0" t="0" r="0" b="0"/>
            </a:stretch>
          </a:blipFill>
        </p:spPr>
      </p:sp>
      <p:sp>
        <p:nvSpPr>
          <p:cNvPr name="AutoShape 21" id="21"/>
          <p:cNvSpPr/>
          <p:nvPr/>
        </p:nvSpPr>
        <p:spPr>
          <a:xfrm flipV="true">
            <a:off x="10102735" y="1639782"/>
            <a:ext cx="0" cy="7618518"/>
          </a:xfrm>
          <a:prstGeom prst="line">
            <a:avLst/>
          </a:prstGeom>
          <a:ln cap="flat" w="38100">
            <a:solidFill>
              <a:srgbClr val="000000"/>
            </a:solidFill>
            <a:prstDash val="solid"/>
            <a:headEnd type="none" len="sm" w="sm"/>
            <a:tailEnd type="none" len="sm" w="sm"/>
          </a:ln>
        </p:spPr>
      </p:sp>
      <p:sp>
        <p:nvSpPr>
          <p:cNvPr name="Freeform 22" id="22"/>
          <p:cNvSpPr/>
          <p:nvPr/>
        </p:nvSpPr>
        <p:spPr>
          <a:xfrm flipH="false" flipV="false" rot="0">
            <a:off x="15106507" y="3625006"/>
            <a:ext cx="994556" cy="851340"/>
          </a:xfrm>
          <a:custGeom>
            <a:avLst/>
            <a:gdLst/>
            <a:ahLst/>
            <a:cxnLst/>
            <a:rect r="r" b="b" t="t" l="l"/>
            <a:pathLst>
              <a:path h="851340" w="994556">
                <a:moveTo>
                  <a:pt x="0" y="0"/>
                </a:moveTo>
                <a:lnTo>
                  <a:pt x="994556" y="0"/>
                </a:lnTo>
                <a:lnTo>
                  <a:pt x="994556" y="851340"/>
                </a:lnTo>
                <a:lnTo>
                  <a:pt x="0" y="851340"/>
                </a:lnTo>
                <a:lnTo>
                  <a:pt x="0" y="0"/>
                </a:lnTo>
                <a:close/>
              </a:path>
            </a:pathLst>
          </a:custGeom>
          <a:blipFill>
            <a:blip r:embed="rId8"/>
            <a:stretch>
              <a:fillRect l="0" t="0" r="0" b="0"/>
            </a:stretch>
          </a:blipFill>
        </p:spPr>
      </p:sp>
      <p:sp>
        <p:nvSpPr>
          <p:cNvPr name="Freeform 23" id="23"/>
          <p:cNvSpPr/>
          <p:nvPr/>
        </p:nvSpPr>
        <p:spPr>
          <a:xfrm flipH="false" flipV="false" rot="0">
            <a:off x="15185215" y="4840137"/>
            <a:ext cx="1114049" cy="964311"/>
          </a:xfrm>
          <a:custGeom>
            <a:avLst/>
            <a:gdLst/>
            <a:ahLst/>
            <a:cxnLst/>
            <a:rect r="r" b="b" t="t" l="l"/>
            <a:pathLst>
              <a:path h="964311" w="1114049">
                <a:moveTo>
                  <a:pt x="0" y="0"/>
                </a:moveTo>
                <a:lnTo>
                  <a:pt x="1114049" y="0"/>
                </a:lnTo>
                <a:lnTo>
                  <a:pt x="1114049" y="964312"/>
                </a:lnTo>
                <a:lnTo>
                  <a:pt x="0" y="964312"/>
                </a:lnTo>
                <a:lnTo>
                  <a:pt x="0" y="0"/>
                </a:lnTo>
                <a:close/>
              </a:path>
            </a:pathLst>
          </a:custGeom>
          <a:blipFill>
            <a:blip r:embed="rId9"/>
            <a:stretch>
              <a:fillRect l="0" t="0" r="0" b="0"/>
            </a:stretch>
          </a:blipFill>
        </p:spPr>
      </p:sp>
      <p:sp>
        <p:nvSpPr>
          <p:cNvPr name="Freeform 24" id="24"/>
          <p:cNvSpPr/>
          <p:nvPr/>
        </p:nvSpPr>
        <p:spPr>
          <a:xfrm flipH="false" flipV="false" rot="0">
            <a:off x="16366473" y="6115723"/>
            <a:ext cx="1036275" cy="861003"/>
          </a:xfrm>
          <a:custGeom>
            <a:avLst/>
            <a:gdLst/>
            <a:ahLst/>
            <a:cxnLst/>
            <a:rect r="r" b="b" t="t" l="l"/>
            <a:pathLst>
              <a:path h="861003" w="1036275">
                <a:moveTo>
                  <a:pt x="0" y="0"/>
                </a:moveTo>
                <a:lnTo>
                  <a:pt x="1036274" y="0"/>
                </a:lnTo>
                <a:lnTo>
                  <a:pt x="1036274" y="861003"/>
                </a:lnTo>
                <a:lnTo>
                  <a:pt x="0" y="861003"/>
                </a:lnTo>
                <a:lnTo>
                  <a:pt x="0" y="0"/>
                </a:lnTo>
                <a:close/>
              </a:path>
            </a:pathLst>
          </a:custGeom>
          <a:blipFill>
            <a:blip r:embed="rId10"/>
            <a:stretch>
              <a:fillRect l="0" t="0" r="0" b="0"/>
            </a:stretch>
          </a:blipFill>
        </p:spPr>
      </p:sp>
      <p:sp>
        <p:nvSpPr>
          <p:cNvPr name="Freeform 25" id="25"/>
          <p:cNvSpPr/>
          <p:nvPr/>
        </p:nvSpPr>
        <p:spPr>
          <a:xfrm flipH="false" flipV="false" rot="0">
            <a:off x="16299264" y="7283449"/>
            <a:ext cx="1265883" cy="991671"/>
          </a:xfrm>
          <a:custGeom>
            <a:avLst/>
            <a:gdLst/>
            <a:ahLst/>
            <a:cxnLst/>
            <a:rect r="r" b="b" t="t" l="l"/>
            <a:pathLst>
              <a:path h="991671" w="1265883">
                <a:moveTo>
                  <a:pt x="0" y="0"/>
                </a:moveTo>
                <a:lnTo>
                  <a:pt x="1265883" y="0"/>
                </a:lnTo>
                <a:lnTo>
                  <a:pt x="1265883" y="991671"/>
                </a:lnTo>
                <a:lnTo>
                  <a:pt x="0" y="991671"/>
                </a:lnTo>
                <a:lnTo>
                  <a:pt x="0" y="0"/>
                </a:lnTo>
                <a:close/>
              </a:path>
            </a:pathLst>
          </a:custGeom>
          <a:blipFill>
            <a:blip r:embed="rId11"/>
            <a:stretch>
              <a:fillRect l="0" t="0" r="0" b="0"/>
            </a:stretch>
          </a:blipFill>
        </p:spPr>
      </p:sp>
      <p:sp>
        <p:nvSpPr>
          <p:cNvPr name="TextBox 26" id="26"/>
          <p:cNvSpPr txBox="true"/>
          <p:nvPr/>
        </p:nvSpPr>
        <p:spPr>
          <a:xfrm rot="0">
            <a:off x="454820" y="437880"/>
            <a:ext cx="10965581" cy="971065"/>
          </a:xfrm>
          <a:prstGeom prst="rect">
            <a:avLst/>
          </a:prstGeom>
        </p:spPr>
        <p:txBody>
          <a:bodyPr anchor="t" rtlCol="false" tIns="0" lIns="0" bIns="0" rIns="0">
            <a:spAutoFit/>
          </a:bodyPr>
          <a:lstStyle/>
          <a:p>
            <a:pPr algn="l">
              <a:lnSpc>
                <a:spcPts val="6892"/>
              </a:lnSpc>
            </a:pPr>
            <a:r>
              <a:rPr lang="en-US" sz="5744">
                <a:solidFill>
                  <a:srgbClr val="010101"/>
                </a:solidFill>
                <a:latin typeface="Chunk Five"/>
                <a:ea typeface="Chunk Five"/>
                <a:cs typeface="Chunk Five"/>
                <a:sym typeface="Chunk Five"/>
              </a:rPr>
              <a:t>Real-Wo</a:t>
            </a:r>
            <a:r>
              <a:rPr lang="en-US" sz="5744">
                <a:solidFill>
                  <a:srgbClr val="010101"/>
                </a:solidFill>
                <a:latin typeface="Chunk Five"/>
                <a:ea typeface="Chunk Five"/>
                <a:cs typeface="Chunk Five"/>
                <a:sym typeface="Chunk Five"/>
              </a:rPr>
              <a:t>rld Applications</a:t>
            </a:r>
          </a:p>
        </p:txBody>
      </p:sp>
      <p:sp>
        <p:nvSpPr>
          <p:cNvPr name="TextBox 27" id="27"/>
          <p:cNvSpPr txBox="true"/>
          <p:nvPr/>
        </p:nvSpPr>
        <p:spPr>
          <a:xfrm rot="0">
            <a:off x="1489858" y="8405712"/>
            <a:ext cx="5942813" cy="675589"/>
          </a:xfrm>
          <a:prstGeom prst="rect">
            <a:avLst/>
          </a:prstGeom>
        </p:spPr>
        <p:txBody>
          <a:bodyPr anchor="t" rtlCol="false" tIns="0" lIns="0" bIns="0" rIns="0">
            <a:spAutoFit/>
          </a:bodyPr>
          <a:lstStyle/>
          <a:p>
            <a:pPr algn="l">
              <a:lnSpc>
                <a:spcPts val="2756"/>
              </a:lnSpc>
            </a:pPr>
            <a:r>
              <a:rPr lang="en-US" sz="1968">
                <a:solidFill>
                  <a:srgbClr val="FFFFFF"/>
                </a:solidFill>
                <a:latin typeface="Canva Sans"/>
                <a:ea typeface="Canva Sans"/>
                <a:cs typeface="Canva Sans"/>
                <a:sym typeface="Canva Sans"/>
              </a:rPr>
              <a:t>Scaling creative businesses while maintaining artistic integrity and quality standards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27998" y="181249"/>
            <a:ext cx="12658058" cy="981075"/>
          </a:xfrm>
          <a:prstGeom prst="rect">
            <a:avLst/>
          </a:prstGeom>
        </p:spPr>
        <p:txBody>
          <a:bodyPr anchor="t" rtlCol="false" tIns="0" lIns="0" bIns="0" rIns="0">
            <a:spAutoFit/>
          </a:bodyPr>
          <a:lstStyle/>
          <a:p>
            <a:pPr algn="ctr">
              <a:lnSpc>
                <a:spcPts val="6831"/>
              </a:lnSpc>
            </a:pPr>
            <a:r>
              <a:rPr lang="en-US" sz="5692">
                <a:solidFill>
                  <a:srgbClr val="010101"/>
                </a:solidFill>
                <a:latin typeface="Chunk Five"/>
                <a:ea typeface="Chunk Five"/>
                <a:cs typeface="Chunk Five"/>
                <a:sym typeface="Chunk Five"/>
              </a:rPr>
              <a:t>Conclusion</a:t>
            </a:r>
          </a:p>
        </p:txBody>
      </p:sp>
      <p:grpSp>
        <p:nvGrpSpPr>
          <p:cNvPr name="Group 3" id="3"/>
          <p:cNvGrpSpPr/>
          <p:nvPr/>
        </p:nvGrpSpPr>
        <p:grpSpPr>
          <a:xfrm rot="0">
            <a:off x="6433220" y="1833462"/>
            <a:ext cx="5421559" cy="1315780"/>
            <a:chOff x="0" y="0"/>
            <a:chExt cx="7228745" cy="1754374"/>
          </a:xfrm>
        </p:grpSpPr>
        <p:grpSp>
          <p:nvGrpSpPr>
            <p:cNvPr name="Group 4" id="4"/>
            <p:cNvGrpSpPr/>
            <p:nvPr/>
          </p:nvGrpSpPr>
          <p:grpSpPr>
            <a:xfrm rot="0">
              <a:off x="0" y="0"/>
              <a:ext cx="7228745" cy="1455314"/>
              <a:chOff x="0" y="0"/>
              <a:chExt cx="1427900" cy="287469"/>
            </a:xfrm>
          </p:grpSpPr>
          <p:sp>
            <p:nvSpPr>
              <p:cNvPr name="Freeform 5" id="5"/>
              <p:cNvSpPr/>
              <p:nvPr/>
            </p:nvSpPr>
            <p:spPr>
              <a:xfrm flipH="false" flipV="false" rot="0">
                <a:off x="0" y="0"/>
                <a:ext cx="1427900" cy="287469"/>
              </a:xfrm>
              <a:custGeom>
                <a:avLst/>
                <a:gdLst/>
                <a:ahLst/>
                <a:cxnLst/>
                <a:rect r="r" b="b" t="t" l="l"/>
                <a:pathLst>
                  <a:path h="287469" w="1427900">
                    <a:moveTo>
                      <a:pt x="42840" y="0"/>
                    </a:moveTo>
                    <a:lnTo>
                      <a:pt x="1385061" y="0"/>
                    </a:lnTo>
                    <a:cubicBezTo>
                      <a:pt x="1396423" y="0"/>
                      <a:pt x="1407319" y="4513"/>
                      <a:pt x="1415353" y="12547"/>
                    </a:cubicBezTo>
                    <a:cubicBezTo>
                      <a:pt x="1423387" y="20581"/>
                      <a:pt x="1427900" y="31478"/>
                      <a:pt x="1427900" y="42840"/>
                    </a:cubicBezTo>
                    <a:lnTo>
                      <a:pt x="1427900" y="244630"/>
                    </a:lnTo>
                    <a:cubicBezTo>
                      <a:pt x="1427900" y="255991"/>
                      <a:pt x="1423387" y="266888"/>
                      <a:pt x="1415353" y="274922"/>
                    </a:cubicBezTo>
                    <a:cubicBezTo>
                      <a:pt x="1407319" y="282956"/>
                      <a:pt x="1396423" y="287469"/>
                      <a:pt x="1385061" y="287469"/>
                    </a:cubicBezTo>
                    <a:lnTo>
                      <a:pt x="42840" y="287469"/>
                    </a:lnTo>
                    <a:cubicBezTo>
                      <a:pt x="19180" y="287469"/>
                      <a:pt x="0" y="268289"/>
                      <a:pt x="0" y="244630"/>
                    </a:cubicBezTo>
                    <a:lnTo>
                      <a:pt x="0" y="42840"/>
                    </a:lnTo>
                    <a:cubicBezTo>
                      <a:pt x="0" y="31478"/>
                      <a:pt x="4513" y="20581"/>
                      <a:pt x="12547" y="12547"/>
                    </a:cubicBezTo>
                    <a:cubicBezTo>
                      <a:pt x="20581" y="4513"/>
                      <a:pt x="31478" y="0"/>
                      <a:pt x="42840" y="0"/>
                    </a:cubicBezTo>
                    <a:close/>
                  </a:path>
                </a:pathLst>
              </a:custGeom>
              <a:solidFill>
                <a:srgbClr val="B8D576"/>
              </a:solidFill>
            </p:spPr>
          </p:sp>
          <p:sp>
            <p:nvSpPr>
              <p:cNvPr name="TextBox 6" id="6"/>
              <p:cNvSpPr txBox="true"/>
              <p:nvPr/>
            </p:nvSpPr>
            <p:spPr>
              <a:xfrm>
                <a:off x="0" y="-95250"/>
                <a:ext cx="1427900" cy="382719"/>
              </a:xfrm>
              <a:prstGeom prst="rect">
                <a:avLst/>
              </a:prstGeom>
            </p:spPr>
            <p:txBody>
              <a:bodyPr anchor="ctr" rtlCol="false" tIns="50800" lIns="50800" bIns="50800" rIns="50800"/>
              <a:lstStyle/>
              <a:p>
                <a:pPr algn="ctr">
                  <a:lnSpc>
                    <a:spcPts val="3240"/>
                  </a:lnSpc>
                </a:pPr>
              </a:p>
            </p:txBody>
          </p:sp>
        </p:grpSp>
        <p:sp>
          <p:nvSpPr>
            <p:cNvPr name="TextBox 7" id="7"/>
            <p:cNvSpPr txBox="true"/>
            <p:nvPr/>
          </p:nvSpPr>
          <p:spPr>
            <a:xfrm rot="0">
              <a:off x="365639" y="420874"/>
              <a:ext cx="6576366" cy="1333500"/>
            </a:xfrm>
            <a:prstGeom prst="rect">
              <a:avLst/>
            </a:prstGeom>
          </p:spPr>
          <p:txBody>
            <a:bodyPr anchor="t" rtlCol="false" tIns="0" lIns="0" bIns="0" rIns="0">
              <a:spAutoFit/>
            </a:bodyPr>
            <a:lstStyle/>
            <a:p>
              <a:pPr algn="ctr">
                <a:lnSpc>
                  <a:spcPts val="2643"/>
                </a:lnSpc>
              </a:pPr>
              <a:r>
                <a:rPr lang="en-US" sz="2202" b="true">
                  <a:solidFill>
                    <a:srgbClr val="010101"/>
                  </a:solidFill>
                  <a:latin typeface="Canva Sans Bold"/>
                  <a:ea typeface="Canva Sans Bold"/>
                  <a:cs typeface="Canva Sans Bold"/>
                  <a:sym typeface="Canva Sans Bold"/>
                </a:rPr>
                <a:t>Key Takeaways</a:t>
              </a:r>
            </a:p>
            <a:p>
              <a:pPr algn="ctr">
                <a:lnSpc>
                  <a:spcPts val="2643"/>
                </a:lnSpc>
              </a:pPr>
            </a:p>
            <a:p>
              <a:pPr algn="ctr">
                <a:lnSpc>
                  <a:spcPts val="2643"/>
                </a:lnSpc>
              </a:pPr>
            </a:p>
          </p:txBody>
        </p:sp>
      </p:grpSp>
      <p:grpSp>
        <p:nvGrpSpPr>
          <p:cNvPr name="Group 8" id="8"/>
          <p:cNvGrpSpPr/>
          <p:nvPr/>
        </p:nvGrpSpPr>
        <p:grpSpPr>
          <a:xfrm rot="0">
            <a:off x="6844024" y="5413838"/>
            <a:ext cx="4972072" cy="3659601"/>
            <a:chOff x="0" y="0"/>
            <a:chExt cx="6629429" cy="4879468"/>
          </a:xfrm>
        </p:grpSpPr>
        <p:grpSp>
          <p:nvGrpSpPr>
            <p:cNvPr name="Group 9" id="9"/>
            <p:cNvGrpSpPr/>
            <p:nvPr/>
          </p:nvGrpSpPr>
          <p:grpSpPr>
            <a:xfrm rot="0">
              <a:off x="0" y="2791218"/>
              <a:ext cx="6629429" cy="2088250"/>
              <a:chOff x="0" y="0"/>
              <a:chExt cx="912610" cy="287469"/>
            </a:xfrm>
          </p:grpSpPr>
          <p:sp>
            <p:nvSpPr>
              <p:cNvPr name="Freeform 10" id="10"/>
              <p:cNvSpPr/>
              <p:nvPr/>
            </p:nvSpPr>
            <p:spPr>
              <a:xfrm flipH="false" flipV="false" rot="0">
                <a:off x="0" y="0"/>
                <a:ext cx="912610" cy="287469"/>
              </a:xfrm>
              <a:custGeom>
                <a:avLst/>
                <a:gdLst/>
                <a:ahLst/>
                <a:cxnLst/>
                <a:rect r="r" b="b" t="t" l="l"/>
                <a:pathLst>
                  <a:path h="287469" w="912610">
                    <a:moveTo>
                      <a:pt x="47162" y="0"/>
                    </a:moveTo>
                    <a:lnTo>
                      <a:pt x="865448" y="0"/>
                    </a:lnTo>
                    <a:cubicBezTo>
                      <a:pt x="877956" y="0"/>
                      <a:pt x="889952" y="4969"/>
                      <a:pt x="898796" y="13813"/>
                    </a:cubicBezTo>
                    <a:cubicBezTo>
                      <a:pt x="907641" y="22658"/>
                      <a:pt x="912610" y="34654"/>
                      <a:pt x="912610" y="47162"/>
                    </a:cubicBezTo>
                    <a:lnTo>
                      <a:pt x="912610" y="240308"/>
                    </a:lnTo>
                    <a:cubicBezTo>
                      <a:pt x="912610" y="266354"/>
                      <a:pt x="891495" y="287469"/>
                      <a:pt x="865448" y="287469"/>
                    </a:cubicBezTo>
                    <a:lnTo>
                      <a:pt x="47162" y="287469"/>
                    </a:lnTo>
                    <a:cubicBezTo>
                      <a:pt x="21115" y="287469"/>
                      <a:pt x="0" y="266354"/>
                      <a:pt x="0" y="240308"/>
                    </a:cubicBezTo>
                    <a:lnTo>
                      <a:pt x="0" y="47162"/>
                    </a:lnTo>
                    <a:cubicBezTo>
                      <a:pt x="0" y="21115"/>
                      <a:pt x="21115" y="0"/>
                      <a:pt x="47162" y="0"/>
                    </a:cubicBezTo>
                    <a:close/>
                  </a:path>
                </a:pathLst>
              </a:custGeom>
              <a:solidFill>
                <a:srgbClr val="B8D576"/>
              </a:solidFill>
            </p:spPr>
          </p:sp>
          <p:sp>
            <p:nvSpPr>
              <p:cNvPr name="TextBox 11" id="11"/>
              <p:cNvSpPr txBox="true"/>
              <p:nvPr/>
            </p:nvSpPr>
            <p:spPr>
              <a:xfrm>
                <a:off x="0" y="-95250"/>
                <a:ext cx="912610" cy="382719"/>
              </a:xfrm>
              <a:prstGeom prst="rect">
                <a:avLst/>
              </a:prstGeom>
            </p:spPr>
            <p:txBody>
              <a:bodyPr anchor="ctr" rtlCol="false" tIns="50800" lIns="50800" bIns="50800" rIns="50800"/>
              <a:lstStyle/>
              <a:p>
                <a:pPr algn="ctr">
                  <a:lnSpc>
                    <a:spcPts val="3239"/>
                  </a:lnSpc>
                </a:pPr>
              </a:p>
            </p:txBody>
          </p:sp>
        </p:grpSp>
        <p:grpSp>
          <p:nvGrpSpPr>
            <p:cNvPr name="Group 12" id="12"/>
            <p:cNvGrpSpPr/>
            <p:nvPr/>
          </p:nvGrpSpPr>
          <p:grpSpPr>
            <a:xfrm rot="0">
              <a:off x="1700401" y="0"/>
              <a:ext cx="3228627" cy="322862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D576"/>
              </a:solidFill>
              <a:ln w="133350" cap="sq">
                <a:solidFill>
                  <a:srgbClr val="8BA948"/>
                </a:solidFill>
                <a:prstDash val="solid"/>
                <a:miter/>
              </a:ln>
            </p:spPr>
          </p:sp>
          <p:sp>
            <p:nvSpPr>
              <p:cNvPr name="TextBox 14" id="14"/>
              <p:cNvSpPr txBox="true"/>
              <p:nvPr/>
            </p:nvSpPr>
            <p:spPr>
              <a:xfrm>
                <a:off x="76200" y="-19050"/>
                <a:ext cx="660400" cy="755650"/>
              </a:xfrm>
              <a:prstGeom prst="rect">
                <a:avLst/>
              </a:prstGeom>
            </p:spPr>
            <p:txBody>
              <a:bodyPr anchor="ctr" rtlCol="false" tIns="50800" lIns="50800" bIns="50800" rIns="50800"/>
              <a:lstStyle/>
              <a:p>
                <a:pPr algn="ctr">
                  <a:lnSpc>
                    <a:spcPts val="3239"/>
                  </a:lnSpc>
                </a:pPr>
              </a:p>
            </p:txBody>
          </p:sp>
        </p:grpSp>
        <p:sp>
          <p:nvSpPr>
            <p:cNvPr name="Freeform 15" id="15"/>
            <p:cNvSpPr/>
            <p:nvPr/>
          </p:nvSpPr>
          <p:spPr>
            <a:xfrm flipH="false" flipV="false" rot="0">
              <a:off x="2652528" y="907124"/>
              <a:ext cx="1324373" cy="1414379"/>
            </a:xfrm>
            <a:custGeom>
              <a:avLst/>
              <a:gdLst/>
              <a:ahLst/>
              <a:cxnLst/>
              <a:rect r="r" b="b" t="t" l="l"/>
              <a:pathLst>
                <a:path h="1414379" w="1324373">
                  <a:moveTo>
                    <a:pt x="0" y="0"/>
                  </a:moveTo>
                  <a:lnTo>
                    <a:pt x="1324373" y="0"/>
                  </a:lnTo>
                  <a:lnTo>
                    <a:pt x="1324373" y="1414379"/>
                  </a:lnTo>
                  <a:lnTo>
                    <a:pt x="0" y="14143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470487" y="3367698"/>
              <a:ext cx="5451077" cy="1201988"/>
            </a:xfrm>
            <a:prstGeom prst="rect">
              <a:avLst/>
            </a:prstGeom>
          </p:spPr>
          <p:txBody>
            <a:bodyPr anchor="t" rtlCol="false" tIns="0" lIns="0" bIns="0" rIns="0">
              <a:spAutoFit/>
            </a:bodyPr>
            <a:lstStyle/>
            <a:p>
              <a:pPr algn="ctr">
                <a:lnSpc>
                  <a:spcPts val="2423"/>
                </a:lnSpc>
              </a:pPr>
              <a:r>
                <a:rPr lang="en-US" sz="2019" b="true">
                  <a:solidFill>
                    <a:srgbClr val="010101"/>
                  </a:solidFill>
                  <a:latin typeface="Canva Sans Bold"/>
                  <a:ea typeface="Canva Sans Bold"/>
                  <a:cs typeface="Canva Sans Bold"/>
                  <a:sym typeface="Canva Sans Bold"/>
                </a:rPr>
                <a:t>Choosing the</a:t>
              </a:r>
              <a:r>
                <a:rPr lang="en-US" sz="2019" b="true">
                  <a:solidFill>
                    <a:srgbClr val="010101"/>
                  </a:solidFill>
                  <a:latin typeface="Canva Sans Bold"/>
                  <a:ea typeface="Canva Sans Bold"/>
                  <a:cs typeface="Canva Sans Bold"/>
                  <a:sym typeface="Canva Sans Bold"/>
                </a:rPr>
                <a:t> right scheduling strategy depends on the application's requirements.</a:t>
              </a:r>
            </a:p>
          </p:txBody>
        </p:sp>
      </p:grpSp>
      <p:grpSp>
        <p:nvGrpSpPr>
          <p:cNvPr name="Group 17" id="17"/>
          <p:cNvGrpSpPr/>
          <p:nvPr/>
        </p:nvGrpSpPr>
        <p:grpSpPr>
          <a:xfrm rot="0">
            <a:off x="449389" y="3531849"/>
            <a:ext cx="5103285" cy="3223302"/>
            <a:chOff x="0" y="0"/>
            <a:chExt cx="6804379" cy="4297736"/>
          </a:xfrm>
        </p:grpSpPr>
        <p:grpSp>
          <p:nvGrpSpPr>
            <p:cNvPr name="Group 18" id="18"/>
            <p:cNvGrpSpPr/>
            <p:nvPr/>
          </p:nvGrpSpPr>
          <p:grpSpPr>
            <a:xfrm rot="0">
              <a:off x="0" y="0"/>
              <a:ext cx="6804379" cy="4297736"/>
              <a:chOff x="0" y="0"/>
              <a:chExt cx="1007044" cy="636062"/>
            </a:xfrm>
          </p:grpSpPr>
          <p:sp>
            <p:nvSpPr>
              <p:cNvPr name="Freeform 19" id="19"/>
              <p:cNvSpPr/>
              <p:nvPr/>
            </p:nvSpPr>
            <p:spPr>
              <a:xfrm flipH="false" flipV="false" rot="0">
                <a:off x="0" y="0"/>
                <a:ext cx="1007044" cy="636062"/>
              </a:xfrm>
              <a:custGeom>
                <a:avLst/>
                <a:gdLst/>
                <a:ahLst/>
                <a:cxnLst/>
                <a:rect r="r" b="b" t="t" l="l"/>
                <a:pathLst>
                  <a:path h="636062" w="1007044">
                    <a:moveTo>
                      <a:pt x="45511" y="0"/>
                    </a:moveTo>
                    <a:lnTo>
                      <a:pt x="961532" y="0"/>
                    </a:lnTo>
                    <a:cubicBezTo>
                      <a:pt x="973603" y="0"/>
                      <a:pt x="985179" y="4795"/>
                      <a:pt x="993714" y="13330"/>
                    </a:cubicBezTo>
                    <a:cubicBezTo>
                      <a:pt x="1002249" y="21865"/>
                      <a:pt x="1007044" y="33441"/>
                      <a:pt x="1007044" y="45511"/>
                    </a:cubicBezTo>
                    <a:lnTo>
                      <a:pt x="1007044" y="590551"/>
                    </a:lnTo>
                    <a:cubicBezTo>
                      <a:pt x="1007044" y="602621"/>
                      <a:pt x="1002249" y="614197"/>
                      <a:pt x="993714" y="622732"/>
                    </a:cubicBezTo>
                    <a:cubicBezTo>
                      <a:pt x="985179" y="631267"/>
                      <a:pt x="973603" y="636062"/>
                      <a:pt x="961532" y="636062"/>
                    </a:cubicBezTo>
                    <a:lnTo>
                      <a:pt x="45511" y="636062"/>
                    </a:lnTo>
                    <a:cubicBezTo>
                      <a:pt x="33441" y="636062"/>
                      <a:pt x="21865" y="631267"/>
                      <a:pt x="13330" y="622732"/>
                    </a:cubicBezTo>
                    <a:cubicBezTo>
                      <a:pt x="4795" y="614197"/>
                      <a:pt x="0" y="602621"/>
                      <a:pt x="0" y="590551"/>
                    </a:cubicBezTo>
                    <a:lnTo>
                      <a:pt x="0" y="45511"/>
                    </a:lnTo>
                    <a:cubicBezTo>
                      <a:pt x="0" y="33441"/>
                      <a:pt x="4795" y="21865"/>
                      <a:pt x="13330" y="13330"/>
                    </a:cubicBezTo>
                    <a:cubicBezTo>
                      <a:pt x="21865" y="4795"/>
                      <a:pt x="33441" y="0"/>
                      <a:pt x="45511" y="0"/>
                    </a:cubicBezTo>
                    <a:close/>
                  </a:path>
                </a:pathLst>
              </a:custGeom>
              <a:solidFill>
                <a:srgbClr val="D70654"/>
              </a:solidFill>
            </p:spPr>
          </p:sp>
          <p:sp>
            <p:nvSpPr>
              <p:cNvPr name="TextBox 20" id="20"/>
              <p:cNvSpPr txBox="true"/>
              <p:nvPr/>
            </p:nvSpPr>
            <p:spPr>
              <a:xfrm>
                <a:off x="0" y="-95250"/>
                <a:ext cx="1007044" cy="731312"/>
              </a:xfrm>
              <a:prstGeom prst="rect">
                <a:avLst/>
              </a:prstGeom>
            </p:spPr>
            <p:txBody>
              <a:bodyPr anchor="ctr" rtlCol="false" tIns="50800" lIns="50800" bIns="50800" rIns="50800"/>
              <a:lstStyle/>
              <a:p>
                <a:pPr algn="ctr">
                  <a:lnSpc>
                    <a:spcPts val="3240"/>
                  </a:lnSpc>
                </a:pPr>
              </a:p>
            </p:txBody>
          </p:sp>
        </p:grpSp>
        <p:sp>
          <p:nvSpPr>
            <p:cNvPr name="TextBox 21" id="21"/>
            <p:cNvSpPr txBox="true"/>
            <p:nvPr/>
          </p:nvSpPr>
          <p:spPr>
            <a:xfrm rot="0">
              <a:off x="74875" y="449554"/>
              <a:ext cx="6207538" cy="3848182"/>
            </a:xfrm>
            <a:prstGeom prst="rect">
              <a:avLst/>
            </a:prstGeom>
          </p:spPr>
          <p:txBody>
            <a:bodyPr anchor="t" rtlCol="false" tIns="0" lIns="0" bIns="0" rIns="0">
              <a:spAutoFit/>
            </a:bodyPr>
            <a:lstStyle/>
            <a:p>
              <a:pPr algn="ctr">
                <a:lnSpc>
                  <a:spcPts val="3363"/>
                </a:lnSpc>
              </a:pPr>
              <a:r>
                <a:rPr lang="en-US" b="true" sz="2402" u="sng">
                  <a:solidFill>
                    <a:srgbClr val="FFFFFF"/>
                  </a:solidFill>
                  <a:latin typeface="Canva Sans Bold"/>
                  <a:ea typeface="Canva Sans Bold"/>
                  <a:cs typeface="Canva Sans Bold"/>
                  <a:sym typeface="Canva Sans Bold"/>
                </a:rPr>
                <a:t>Priority Sch</a:t>
              </a:r>
              <a:r>
                <a:rPr lang="en-US" b="true" sz="2402" u="sng">
                  <a:solidFill>
                    <a:srgbClr val="FFFFFF"/>
                  </a:solidFill>
                  <a:latin typeface="Canva Sans Bold"/>
                  <a:ea typeface="Canva Sans Bold"/>
                  <a:cs typeface="Canva Sans Bold"/>
                  <a:sym typeface="Canva Sans Bold"/>
                </a:rPr>
                <a:t>eduling</a:t>
              </a:r>
            </a:p>
            <a:p>
              <a:pPr algn="ctr">
                <a:lnSpc>
                  <a:spcPts val="3363"/>
                </a:lnSpc>
              </a:pPr>
            </a:p>
            <a:p>
              <a:pPr algn="l" marL="518681" indent="-259341" lvl="1">
                <a:lnSpc>
                  <a:spcPts val="3363"/>
                </a:lnSpc>
                <a:buFont typeface="Arial"/>
                <a:buChar char="•"/>
              </a:pPr>
              <a:r>
                <a:rPr lang="en-US" sz="2402">
                  <a:solidFill>
                    <a:srgbClr val="FFFFFF"/>
                  </a:solidFill>
                  <a:latin typeface="Canva Sans"/>
                  <a:ea typeface="Canva Sans"/>
                  <a:cs typeface="Canva Sans"/>
                  <a:sym typeface="Canva Sans"/>
                </a:rPr>
                <a:t>Executes urgent tasks first</a:t>
              </a:r>
            </a:p>
            <a:p>
              <a:pPr algn="l" marL="518681" indent="-259341" lvl="1">
                <a:lnSpc>
                  <a:spcPts val="3363"/>
                </a:lnSpc>
                <a:buFont typeface="Arial"/>
                <a:buChar char="•"/>
              </a:pPr>
              <a:r>
                <a:rPr lang="en-US" sz="2402">
                  <a:solidFill>
                    <a:srgbClr val="FFFFFF"/>
                  </a:solidFill>
                  <a:latin typeface="Canva Sans"/>
                  <a:ea typeface="Canva Sans"/>
                  <a:cs typeface="Canva Sans"/>
                  <a:sym typeface="Canva Sans"/>
                </a:rPr>
                <a:t> Better responsiveness</a:t>
              </a:r>
            </a:p>
            <a:p>
              <a:pPr algn="l" marL="518681" indent="-259341" lvl="1">
                <a:lnSpc>
                  <a:spcPts val="3363"/>
                </a:lnSpc>
                <a:buFont typeface="Arial"/>
                <a:buChar char="•"/>
              </a:pPr>
              <a:r>
                <a:rPr lang="en-US" sz="2402">
                  <a:solidFill>
                    <a:srgbClr val="FFFFFF"/>
                  </a:solidFill>
                  <a:latin typeface="Canva Sans"/>
                  <a:ea typeface="Canva Sans"/>
                  <a:cs typeface="Canva Sans"/>
                  <a:sym typeface="Canva Sans"/>
                </a:rPr>
                <a:t>May cause starvation for low-priority tasks</a:t>
              </a:r>
            </a:p>
            <a:p>
              <a:pPr algn="l">
                <a:lnSpc>
                  <a:spcPts val="3363"/>
                </a:lnSpc>
              </a:pPr>
            </a:p>
          </p:txBody>
        </p:sp>
      </p:grpSp>
      <p:grpSp>
        <p:nvGrpSpPr>
          <p:cNvPr name="Group 22" id="22"/>
          <p:cNvGrpSpPr/>
          <p:nvPr/>
        </p:nvGrpSpPr>
        <p:grpSpPr>
          <a:xfrm rot="0">
            <a:off x="13188280" y="3531849"/>
            <a:ext cx="4768376" cy="3223302"/>
            <a:chOff x="0" y="0"/>
            <a:chExt cx="6357834" cy="4297736"/>
          </a:xfrm>
        </p:grpSpPr>
        <p:grpSp>
          <p:nvGrpSpPr>
            <p:cNvPr name="Group 23" id="23"/>
            <p:cNvGrpSpPr/>
            <p:nvPr/>
          </p:nvGrpSpPr>
          <p:grpSpPr>
            <a:xfrm rot="0">
              <a:off x="0" y="0"/>
              <a:ext cx="6357834" cy="4297736"/>
              <a:chOff x="0" y="0"/>
              <a:chExt cx="998509" cy="674967"/>
            </a:xfrm>
          </p:grpSpPr>
          <p:sp>
            <p:nvSpPr>
              <p:cNvPr name="Freeform 24" id="24"/>
              <p:cNvSpPr/>
              <p:nvPr/>
            </p:nvSpPr>
            <p:spPr>
              <a:xfrm flipH="false" flipV="false" rot="0">
                <a:off x="0" y="0"/>
                <a:ext cx="998509" cy="674967"/>
              </a:xfrm>
              <a:custGeom>
                <a:avLst/>
                <a:gdLst/>
                <a:ahLst/>
                <a:cxnLst/>
                <a:rect r="r" b="b" t="t" l="l"/>
                <a:pathLst>
                  <a:path h="674967" w="998509">
                    <a:moveTo>
                      <a:pt x="61262" y="0"/>
                    </a:moveTo>
                    <a:lnTo>
                      <a:pt x="937247" y="0"/>
                    </a:lnTo>
                    <a:cubicBezTo>
                      <a:pt x="971082" y="0"/>
                      <a:pt x="998509" y="27428"/>
                      <a:pt x="998509" y="61262"/>
                    </a:cubicBezTo>
                    <a:lnTo>
                      <a:pt x="998509" y="613705"/>
                    </a:lnTo>
                    <a:cubicBezTo>
                      <a:pt x="998509" y="629953"/>
                      <a:pt x="992055" y="645535"/>
                      <a:pt x="980566" y="657024"/>
                    </a:cubicBezTo>
                    <a:cubicBezTo>
                      <a:pt x="969077" y="668513"/>
                      <a:pt x="953495" y="674967"/>
                      <a:pt x="937247" y="674967"/>
                    </a:cubicBezTo>
                    <a:lnTo>
                      <a:pt x="61262" y="674967"/>
                    </a:lnTo>
                    <a:cubicBezTo>
                      <a:pt x="45014" y="674967"/>
                      <a:pt x="29432" y="668513"/>
                      <a:pt x="17943" y="657024"/>
                    </a:cubicBezTo>
                    <a:cubicBezTo>
                      <a:pt x="6454" y="645535"/>
                      <a:pt x="0" y="629953"/>
                      <a:pt x="0" y="613705"/>
                    </a:cubicBezTo>
                    <a:lnTo>
                      <a:pt x="0" y="61262"/>
                    </a:lnTo>
                    <a:cubicBezTo>
                      <a:pt x="0" y="45014"/>
                      <a:pt x="6454" y="29432"/>
                      <a:pt x="17943" y="17943"/>
                    </a:cubicBezTo>
                    <a:cubicBezTo>
                      <a:pt x="29432" y="6454"/>
                      <a:pt x="45014" y="0"/>
                      <a:pt x="61262" y="0"/>
                    </a:cubicBezTo>
                    <a:close/>
                  </a:path>
                </a:pathLst>
              </a:custGeom>
              <a:solidFill>
                <a:srgbClr val="FFD95F"/>
              </a:solidFill>
            </p:spPr>
          </p:sp>
          <p:sp>
            <p:nvSpPr>
              <p:cNvPr name="TextBox 25" id="25"/>
              <p:cNvSpPr txBox="true"/>
              <p:nvPr/>
            </p:nvSpPr>
            <p:spPr>
              <a:xfrm>
                <a:off x="0" y="-95250"/>
                <a:ext cx="998509" cy="770217"/>
              </a:xfrm>
              <a:prstGeom prst="rect">
                <a:avLst/>
              </a:prstGeom>
            </p:spPr>
            <p:txBody>
              <a:bodyPr anchor="ctr" rtlCol="false" tIns="50800" lIns="50800" bIns="50800" rIns="50800"/>
              <a:lstStyle/>
              <a:p>
                <a:pPr algn="ctr">
                  <a:lnSpc>
                    <a:spcPts val="3240"/>
                  </a:lnSpc>
                </a:pPr>
              </a:p>
            </p:txBody>
          </p:sp>
        </p:grpSp>
        <p:sp>
          <p:nvSpPr>
            <p:cNvPr name="TextBox 26" id="26"/>
            <p:cNvSpPr txBox="true"/>
            <p:nvPr/>
          </p:nvSpPr>
          <p:spPr>
            <a:xfrm rot="0">
              <a:off x="445286" y="427611"/>
              <a:ext cx="5611743" cy="3870125"/>
            </a:xfrm>
            <a:prstGeom prst="rect">
              <a:avLst/>
            </a:prstGeom>
          </p:spPr>
          <p:txBody>
            <a:bodyPr anchor="t" rtlCol="false" tIns="0" lIns="0" bIns="0" rIns="0">
              <a:spAutoFit/>
            </a:bodyPr>
            <a:lstStyle/>
            <a:p>
              <a:pPr algn="ctr">
                <a:lnSpc>
                  <a:spcPts val="2933"/>
                </a:lnSpc>
              </a:pPr>
              <a:r>
                <a:rPr lang="en-US" b="true" sz="2095" u="sng">
                  <a:solidFill>
                    <a:srgbClr val="010101"/>
                  </a:solidFill>
                  <a:latin typeface="Canva Sans Bold"/>
                  <a:ea typeface="Canva Sans Bold"/>
                  <a:cs typeface="Canva Sans Bold"/>
                  <a:sym typeface="Canva Sans Bold"/>
                </a:rPr>
                <a:t>FIFO</a:t>
              </a:r>
              <a:r>
                <a:rPr lang="en-US" b="true" sz="2095" u="sng">
                  <a:solidFill>
                    <a:srgbClr val="010101"/>
                  </a:solidFill>
                  <a:latin typeface="Canva Sans Bold"/>
                  <a:ea typeface="Canva Sans Bold"/>
                  <a:cs typeface="Canva Sans Bold"/>
                  <a:sym typeface="Canva Sans Bold"/>
                </a:rPr>
                <a:t> Queue</a:t>
              </a:r>
            </a:p>
            <a:p>
              <a:pPr algn="ctr">
                <a:lnSpc>
                  <a:spcPts val="2933"/>
                </a:lnSpc>
              </a:pPr>
            </a:p>
            <a:p>
              <a:pPr algn="l" marL="452392" indent="-226196" lvl="1">
                <a:lnSpc>
                  <a:spcPts val="2933"/>
                </a:lnSpc>
                <a:buFont typeface="Arial"/>
                <a:buChar char="•"/>
              </a:pPr>
              <a:r>
                <a:rPr lang="en-US" sz="2095">
                  <a:solidFill>
                    <a:srgbClr val="010101"/>
                  </a:solidFill>
                  <a:latin typeface="Canva Sans"/>
                  <a:ea typeface="Canva Sans"/>
                  <a:cs typeface="Canva Sans"/>
                  <a:sym typeface="Canva Sans"/>
                </a:rPr>
                <a:t>First to in first to out</a:t>
              </a:r>
            </a:p>
            <a:p>
              <a:pPr algn="l" marL="452392" indent="-226196" lvl="1">
                <a:lnSpc>
                  <a:spcPts val="2933"/>
                </a:lnSpc>
                <a:buFont typeface="Arial"/>
                <a:buChar char="•"/>
              </a:pPr>
              <a:r>
                <a:rPr lang="en-US" sz="2095">
                  <a:solidFill>
                    <a:srgbClr val="010101"/>
                  </a:solidFill>
                  <a:latin typeface="Canva Sans"/>
                  <a:ea typeface="Canva Sans"/>
                  <a:cs typeface="Canva Sans"/>
                  <a:sym typeface="Canva Sans"/>
                </a:rPr>
                <a:t>Easy concept to apply</a:t>
              </a:r>
            </a:p>
            <a:p>
              <a:pPr algn="l" marL="452392" indent="-226196" lvl="1">
                <a:lnSpc>
                  <a:spcPts val="2933"/>
                </a:lnSpc>
                <a:buFont typeface="Arial"/>
                <a:buChar char="•"/>
              </a:pPr>
              <a:r>
                <a:rPr lang="en-US" sz="2095">
                  <a:solidFill>
                    <a:srgbClr val="010101"/>
                  </a:solidFill>
                  <a:latin typeface="Canva Sans"/>
                  <a:ea typeface="Canva Sans"/>
                  <a:cs typeface="Canva Sans"/>
                  <a:sym typeface="Canva Sans"/>
                </a:rPr>
                <a:t>Cannot handle urgent tasks efficiently</a:t>
              </a:r>
            </a:p>
            <a:p>
              <a:pPr algn="ctr">
                <a:lnSpc>
                  <a:spcPts val="2933"/>
                </a:lnSpc>
              </a:pPr>
            </a:p>
            <a:p>
              <a:pPr algn="ctr">
                <a:lnSpc>
                  <a:spcPts val="2933"/>
                </a:lnSpc>
              </a:pPr>
            </a:p>
          </p:txBody>
        </p:sp>
      </p:grpSp>
      <p:sp>
        <p:nvSpPr>
          <p:cNvPr name="Freeform 27" id="27"/>
          <p:cNvSpPr/>
          <p:nvPr/>
        </p:nvSpPr>
        <p:spPr>
          <a:xfrm flipH="false" flipV="false" rot="0">
            <a:off x="-696033" y="8715800"/>
            <a:ext cx="2009235" cy="2606319"/>
          </a:xfrm>
          <a:custGeom>
            <a:avLst/>
            <a:gdLst/>
            <a:ahLst/>
            <a:cxnLst/>
            <a:rect r="r" b="b" t="t" l="l"/>
            <a:pathLst>
              <a:path h="2606319" w="2009235">
                <a:moveTo>
                  <a:pt x="0" y="0"/>
                </a:moveTo>
                <a:lnTo>
                  <a:pt x="2009235" y="0"/>
                </a:lnTo>
                <a:lnTo>
                  <a:pt x="2009235" y="2606319"/>
                </a:lnTo>
                <a:lnTo>
                  <a:pt x="0" y="26063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6801218" y="-274459"/>
            <a:ext cx="2009235" cy="2606319"/>
          </a:xfrm>
          <a:custGeom>
            <a:avLst/>
            <a:gdLst/>
            <a:ahLst/>
            <a:cxnLst/>
            <a:rect r="r" b="b" t="t" l="l"/>
            <a:pathLst>
              <a:path h="2606319" w="2009235">
                <a:moveTo>
                  <a:pt x="0" y="0"/>
                </a:moveTo>
                <a:lnTo>
                  <a:pt x="2009235" y="0"/>
                </a:lnTo>
                <a:lnTo>
                  <a:pt x="2009235" y="2606318"/>
                </a:lnTo>
                <a:lnTo>
                  <a:pt x="0" y="26063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DAHPQzCA7DY</dc:identifier>
  <dcterms:modified xsi:type="dcterms:W3CDTF">2011-08-01T06:04:30Z</dcterms:modified>
  <cp:revision>1</cp:revision>
  <dc:title>Creative Roadmap Illustrative Colorful Presentation</dc:title>
</cp:coreProperties>
</file>