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17"/>
  </p:notesMasterIdLst>
  <p:sldIdLst>
    <p:sldId id="275" r:id="rId2"/>
    <p:sldId id="258" r:id="rId3"/>
    <p:sldId id="259" r:id="rId4"/>
    <p:sldId id="260" r:id="rId5"/>
    <p:sldId id="261" r:id="rId6"/>
    <p:sldId id="262" r:id="rId7"/>
    <p:sldId id="263" r:id="rId8"/>
    <p:sldId id="264" r:id="rId9"/>
    <p:sldId id="265" r:id="rId10"/>
    <p:sldId id="266" r:id="rId11"/>
    <p:sldId id="273" r:id="rId12"/>
    <p:sldId id="274" r:id="rId13"/>
    <p:sldId id="269" r:id="rId14"/>
    <p:sldId id="270" r:id="rId15"/>
    <p:sldId id="272" r:id="rId16"/>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0596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office analogy: tasks are work orders, threads are workers, CPU cores are desks, and the OS is the supervisor. Tell the class the goal is not memorizing definitions, but understanding the 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master map. Every later slide returns to this pipeline. Keep saying: code does not directly touch the core; it goes through Python runtime and 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using factory analogy: process is the factory, threads are workers inside it, core is the physical desk/machine. Multiple workers may exist, but desks/cores actually do the executing.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explanation: Worker Pool is like hiring exactly 3 workers. You can give 10 jobs, but only 3 are handled at once. Other jobs wait in the executor queue.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code. Do not rush. First explain pool size, then number of tasks, then sleep. Say the sleep makes the output overlap because while one thread waits, another thread gets a chance.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explain visible concurrent execution. Tasks 1,2,3 start first. After about 2 seconds, workers pick 4,5,6, and so 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clarify that threads and cores are different. The GIL makes Python bytecode mostly one-at-a-time, but sleep/I-O releases it. The OS snapshot is like a bookmark plus saved temporary values.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producer-consumer separates creation from processing. The queue is a safe middleman. Producers can be fast or slow; consumers can be fast or slow; the queue regulates flow.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implementation is correct and useful for demo, but the assignment says producer-consumer does not need to be implemented. Still, the code helps the class understand the concept.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producer-consumer. Blocking means the OS puts that thread to sleep instead of wasting CPU by checking repeatedly.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queue lock simply: two producers should not write the same RAM structure at the same time. queue.Queue handles locking for 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the common doubt: if one process has the GIL, how do four threads work? They take turns very quickly, especially because sleep and blocking release the GIL.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not to memorize this table. Instead: Worker Pool is worker-count control for a batch. Producer-Consumer is flow control between creators and processors.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restaurant analogy here. It makes the class remember the difference: known list of orders versus a counter where orders keep arriving.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five recap points. Invite questions using a simple example: What happens if producers are faster than consumers?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73CAA6-C40E-491B-A178-9FC26F6A9E2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337125348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73CAA6-C40E-491B-A178-9FC26F6A9E2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35066513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73CAA6-C40E-491B-A178-9FC26F6A9E2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79619859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73CAA6-C40E-491B-A178-9FC26F6A9E2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52551257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73CAA6-C40E-491B-A178-9FC26F6A9E2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398660370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73CAA6-C40E-491B-A178-9FC26F6A9E2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50397229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73CAA6-C40E-491B-A178-9FC26F6A9E2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27159056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73CAA6-C40E-491B-A178-9FC26F6A9E2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260467549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73CAA6-C40E-491B-A178-9FC26F6A9E2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77392539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73CAA6-C40E-491B-A178-9FC26F6A9E2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41198328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73CAA6-C40E-491B-A178-9FC26F6A9E2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63DEA3-98B6-4038-AFAC-DEE919552412}" type="slidenum">
              <a:rPr lang="en-US" smtClean="0"/>
              <a:t>‹#›</a:t>
            </a:fld>
            <a:endParaRPr lang="en-US"/>
          </a:p>
        </p:txBody>
      </p:sp>
    </p:spTree>
    <p:extLst>
      <p:ext uri="{BB962C8B-B14F-4D97-AF65-F5344CB8AC3E}">
        <p14:creationId xmlns:p14="http://schemas.microsoft.com/office/powerpoint/2010/main" val="219708342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008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73CAA6-C40E-491B-A178-9FC26F6A9E24}" type="datetimeFigureOut">
              <a:rPr lang="en-US" smtClean="0"/>
              <a:t>6/30/2026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63DEA3-98B6-4038-AFAC-DEE919552412}" type="slidenum">
              <a:rPr lang="en-US" smtClean="0"/>
              <a:t>‹#›</a:t>
            </a:fld>
            <a:endParaRPr lang="en-US"/>
          </a:p>
        </p:txBody>
      </p:sp>
    </p:spTree>
    <p:extLst>
      <p:ext uri="{BB962C8B-B14F-4D97-AF65-F5344CB8AC3E}">
        <p14:creationId xmlns:p14="http://schemas.microsoft.com/office/powerpoint/2010/main" val="292318565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502920"/>
            <a:ext cx="10972800" cy="731520"/>
          </a:xfrm>
          <a:prstGeom prst="rect">
            <a:avLst/>
          </a:prstGeom>
          <a:noFill/>
        </p:spPr>
        <p:txBody>
          <a:bodyPr wrap="square">
            <a:spAutoFit/>
          </a:bodyPr>
          <a:lstStyle/>
          <a:p>
            <a:pPr algn="l"/>
            <a:r>
              <a:rPr sz="3400" b="1">
                <a:solidFill>
                  <a:srgbClr val="142530"/>
                </a:solidFill>
              </a:rPr>
              <a:t>Worker Pool vs Producer–Consumer</a:t>
            </a:r>
          </a:p>
        </p:txBody>
      </p:sp>
      <p:sp>
        <p:nvSpPr>
          <p:cNvPr id="3" name="TextBox 2"/>
          <p:cNvSpPr txBox="1"/>
          <p:nvPr/>
        </p:nvSpPr>
        <p:spPr>
          <a:xfrm>
            <a:off x="530352" y="1225296"/>
            <a:ext cx="8961120" cy="411480"/>
          </a:xfrm>
          <a:prstGeom prst="rect">
            <a:avLst/>
          </a:prstGeom>
          <a:noFill/>
        </p:spPr>
        <p:txBody>
          <a:bodyPr wrap="square">
            <a:spAutoFit/>
          </a:bodyPr>
          <a:lstStyle/>
          <a:p>
            <a:pPr algn="l"/>
            <a:r>
              <a:rPr sz="1700" b="0">
                <a:solidFill>
                  <a:srgbClr val="637480"/>
                </a:solidFill>
              </a:rPr>
              <a:t>Concurrency explained through code flow, queues, and hardware execution</a:t>
            </a:r>
          </a:p>
        </p:txBody>
      </p:sp>
      <p:sp>
        <p:nvSpPr>
          <p:cNvPr id="4" name="TextBox 3"/>
          <p:cNvSpPr txBox="1"/>
          <p:nvPr/>
        </p:nvSpPr>
        <p:spPr>
          <a:xfrm>
            <a:off x="548640" y="1901952"/>
            <a:ext cx="2468880" cy="256032"/>
          </a:xfrm>
          <a:prstGeom prst="rect">
            <a:avLst/>
          </a:prstGeom>
          <a:noFill/>
        </p:spPr>
        <p:txBody>
          <a:bodyPr wrap="square">
            <a:spAutoFit/>
          </a:bodyPr>
          <a:lstStyle/>
          <a:p>
            <a:pPr algn="l"/>
            <a:r>
              <a:rPr sz="1100" b="1">
                <a:solidFill>
                  <a:srgbClr val="637480"/>
                </a:solidFill>
              </a:rPr>
              <a:t>CONCURRENCY MODELS</a:t>
            </a:r>
          </a:p>
        </p:txBody>
      </p:sp>
      <p:cxnSp>
        <p:nvCxnSpPr>
          <p:cNvPr id="5" name="Connector 4"/>
          <p:cNvCxnSpPr/>
          <p:nvPr/>
        </p:nvCxnSpPr>
        <p:spPr>
          <a:xfrm>
            <a:off x="530352" y="2157984"/>
            <a:ext cx="10625328" cy="0"/>
          </a:xfrm>
          <a:prstGeom prst="line">
            <a:avLst/>
          </a:prstGeom>
          <a:ln w="12700">
            <a:solidFill>
              <a:srgbClr val="D0D9DD"/>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234440" y="2880360"/>
            <a:ext cx="2148840" cy="841248"/>
          </a:xfrm>
          <a:prstGeom prst="roundRect">
            <a:avLst/>
          </a:prstGeom>
          <a:solidFill>
            <a:srgbClr val="FFFFFF"/>
          </a:solidFill>
          <a:ln w="22860">
            <a:solidFill>
              <a:srgbClr val="1DC9BA"/>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1800" b="1">
                <a:solidFill>
                  <a:srgbClr val="142530"/>
                </a:solidFill>
              </a:rPr>
              <a:t>Tasks
arrive</a:t>
            </a:r>
          </a:p>
        </p:txBody>
      </p:sp>
      <p:cxnSp>
        <p:nvCxnSpPr>
          <p:cNvPr id="7" name="Connector 6"/>
          <p:cNvCxnSpPr/>
          <p:nvPr/>
        </p:nvCxnSpPr>
        <p:spPr>
          <a:xfrm>
            <a:off x="3383280" y="3300984"/>
            <a:ext cx="502920" cy="0"/>
          </a:xfrm>
          <a:prstGeom prst="line">
            <a:avLst/>
          </a:prstGeom>
          <a:ln w="25400">
            <a:solidFill>
              <a:srgbClr val="1DC9B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886200" y="2880360"/>
            <a:ext cx="2423160" cy="841248"/>
          </a:xfrm>
          <a:prstGeom prst="roundRect">
            <a:avLst/>
          </a:prstGeom>
          <a:solidFill>
            <a:srgbClr val="FFFFFF"/>
          </a:solidFill>
          <a:ln w="22860">
            <a:solidFill>
              <a:srgbClr val="F4BC37"/>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1800" b="1">
                <a:solidFill>
                  <a:srgbClr val="142530"/>
                </a:solidFill>
              </a:rPr>
              <a:t>Queue /
Task flow</a:t>
            </a:r>
          </a:p>
        </p:txBody>
      </p:sp>
      <p:cxnSp>
        <p:nvCxnSpPr>
          <p:cNvPr id="9" name="Connector 8"/>
          <p:cNvCxnSpPr/>
          <p:nvPr/>
        </p:nvCxnSpPr>
        <p:spPr>
          <a:xfrm>
            <a:off x="6309360" y="3300984"/>
            <a:ext cx="502920" cy="0"/>
          </a:xfrm>
          <a:prstGeom prst="line">
            <a:avLst/>
          </a:prstGeom>
          <a:ln w="25400">
            <a:solidFill>
              <a:srgbClr val="1DC9B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812280" y="2880360"/>
            <a:ext cx="2423160" cy="841248"/>
          </a:xfrm>
          <a:prstGeom prst="roundRect">
            <a:avLst/>
          </a:prstGeom>
          <a:solidFill>
            <a:srgbClr val="FFFFFF"/>
          </a:solidFill>
          <a:ln w="22860">
            <a:solidFill>
              <a:srgbClr val="0C5899"/>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1800" b="1">
                <a:solidFill>
                  <a:srgbClr val="142530"/>
                </a:solidFill>
              </a:rPr>
              <a:t>Workers
execute</a:t>
            </a:r>
          </a:p>
        </p:txBody>
      </p:sp>
      <p:cxnSp>
        <p:nvCxnSpPr>
          <p:cNvPr id="11" name="Connector 10"/>
          <p:cNvCxnSpPr/>
          <p:nvPr/>
        </p:nvCxnSpPr>
        <p:spPr>
          <a:xfrm>
            <a:off x="9235440" y="3300984"/>
            <a:ext cx="502920" cy="0"/>
          </a:xfrm>
          <a:prstGeom prst="line">
            <a:avLst/>
          </a:prstGeom>
          <a:ln w="25400">
            <a:solidFill>
              <a:srgbClr val="1DC9B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738360" y="2880360"/>
            <a:ext cx="1691640" cy="841248"/>
          </a:xfrm>
          <a:prstGeom prst="roundRect">
            <a:avLst/>
          </a:prstGeom>
          <a:solidFill>
            <a:srgbClr val="FFFFFF"/>
          </a:solidFill>
          <a:ln w="22860">
            <a:solidFill>
              <a:srgbClr val="EB4D78"/>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1800" b="1">
                <a:solidFill>
                  <a:srgbClr val="142530"/>
                </a:solidFill>
              </a:rPr>
              <a:t>Results</a:t>
            </a:r>
          </a:p>
        </p:txBody>
      </p:sp>
      <p:sp>
        <p:nvSpPr>
          <p:cNvPr id="13" name="Rounded Rectangle 12"/>
          <p:cNvSpPr/>
          <p:nvPr/>
        </p:nvSpPr>
        <p:spPr>
          <a:xfrm>
            <a:off x="1325880" y="4343400"/>
            <a:ext cx="4297680" cy="914400"/>
          </a:xfrm>
          <a:prstGeom prst="roundRect">
            <a:avLst/>
          </a:prstGeom>
          <a:solidFill>
            <a:srgbClr val="EBF5F7"/>
          </a:solidFill>
          <a:ln w="22860">
            <a:solidFill>
              <a:srgbClr val="0C5899"/>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1550" b="1">
                <a:solidFill>
                  <a:srgbClr val="142530"/>
                </a:solidFill>
              </a:rPr>
              <a:t>Worker Pool
Fixed number of worker threads process a known list of tasks.</a:t>
            </a:r>
          </a:p>
        </p:txBody>
      </p:sp>
      <p:sp>
        <p:nvSpPr>
          <p:cNvPr id="14" name="Rounded Rectangle 13"/>
          <p:cNvSpPr/>
          <p:nvPr/>
        </p:nvSpPr>
        <p:spPr>
          <a:xfrm>
            <a:off x="6446520" y="4343400"/>
            <a:ext cx="4297680" cy="914400"/>
          </a:xfrm>
          <a:prstGeom prst="roundRect">
            <a:avLst/>
          </a:prstGeom>
          <a:solidFill>
            <a:srgbClr val="EBF5F7"/>
          </a:solidFill>
          <a:ln w="22860">
            <a:solidFill>
              <a:srgbClr val="1DC9BA"/>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1550" b="1">
                <a:solidFill>
                  <a:srgbClr val="142530"/>
                </a:solidFill>
              </a:rPr>
              <a:t>Producer–Consumer
Producers create tasks, consumers process them, and a queue connects them.</a:t>
            </a:r>
          </a:p>
        </p:txBody>
      </p:sp>
      <p:sp>
        <p:nvSpPr>
          <p:cNvPr id="17" name="Text 21">
            <a:extLst>
              <a:ext uri="{FF2B5EF4-FFF2-40B4-BE49-F238E27FC236}">
                <a16:creationId xmlns:a16="http://schemas.microsoft.com/office/drawing/2014/main" id="{D90FF7F4-65CD-5BAA-6549-569575823CFD}"/>
              </a:ext>
            </a:extLst>
          </p:cNvPr>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5862"/>
            <a:ext cx="12191695" cy="6858000"/>
          </a:xfrm>
          <a:prstGeom prst="rect">
            <a:avLst/>
          </a:prstGeom>
          <a:solidFill>
            <a:srgbClr val="F8F7F2"/>
          </a:solidFill>
          <a:ln w="12700">
            <a:solidFill>
              <a:srgbClr val="F8F7F2">
                <a:alpha val="0"/>
              </a:srgbClr>
            </a:solidFill>
            <a:prstDash val="solid"/>
          </a:ln>
        </p:spPr>
        <p:txBody>
          <a:bodyPr/>
          <a:lstStyle/>
          <a:p>
            <a:endParaRPr dirty="0"/>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Concurrency in one picture</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r>
              <a:rPr lang="en-US" sz="900" b="1" dirty="0">
                <a:solidFill>
                  <a:srgbClr val="61727A"/>
                </a:solidFill>
              </a:rPr>
              <a:t>STARTING MAP</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Shape 5"/>
          <p:cNvSpPr/>
          <p:nvPr/>
        </p:nvSpPr>
        <p:spPr>
          <a:xfrm>
            <a:off x="914400" y="3108960"/>
            <a:ext cx="1828800" cy="0"/>
          </a:xfrm>
          <a:prstGeom prst="line">
            <a:avLst/>
          </a:prstGeom>
          <a:noFill/>
          <a:ln w="31750">
            <a:solidFill>
              <a:srgbClr val="0F4C81"/>
            </a:solidFill>
            <a:prstDash val="solid"/>
            <a:headEnd type="none"/>
            <a:tailEnd type="triangle"/>
          </a:ln>
        </p:spPr>
        <p:txBody>
          <a:bodyPr/>
          <a:lstStyle/>
          <a:p>
            <a:endParaRPr/>
          </a:p>
        </p:txBody>
      </p:sp>
      <p:sp>
        <p:nvSpPr>
          <p:cNvPr id="8" name="Shape 6"/>
          <p:cNvSpPr/>
          <p:nvPr/>
        </p:nvSpPr>
        <p:spPr>
          <a:xfrm>
            <a:off x="4206240" y="3108960"/>
            <a:ext cx="1920240" cy="0"/>
          </a:xfrm>
          <a:prstGeom prst="line">
            <a:avLst/>
          </a:prstGeom>
          <a:noFill/>
          <a:ln w="31750">
            <a:solidFill>
              <a:srgbClr val="0F4C81"/>
            </a:solidFill>
            <a:prstDash val="solid"/>
            <a:headEnd type="none"/>
            <a:tailEnd type="triangle"/>
          </a:ln>
        </p:spPr>
        <p:txBody>
          <a:bodyPr/>
          <a:lstStyle/>
          <a:p>
            <a:endParaRPr/>
          </a:p>
        </p:txBody>
      </p:sp>
      <p:sp>
        <p:nvSpPr>
          <p:cNvPr id="9" name="Shape 7"/>
          <p:cNvSpPr/>
          <p:nvPr/>
        </p:nvSpPr>
        <p:spPr>
          <a:xfrm>
            <a:off x="7498080" y="3108960"/>
            <a:ext cx="1920240" cy="0"/>
          </a:xfrm>
          <a:prstGeom prst="line">
            <a:avLst/>
          </a:prstGeom>
          <a:noFill/>
          <a:ln w="31750">
            <a:solidFill>
              <a:srgbClr val="0F4C81"/>
            </a:solidFill>
            <a:prstDash val="solid"/>
            <a:headEnd type="none"/>
            <a:tailEnd type="triangle"/>
          </a:ln>
        </p:spPr>
        <p:txBody>
          <a:bodyPr/>
          <a:lstStyle/>
          <a:p>
            <a:endParaRPr/>
          </a:p>
        </p:txBody>
      </p:sp>
      <p:sp>
        <p:nvSpPr>
          <p:cNvPr id="10" name="Shape 8"/>
          <p:cNvSpPr/>
          <p:nvPr/>
        </p:nvSpPr>
        <p:spPr>
          <a:xfrm>
            <a:off x="640080" y="2606040"/>
            <a:ext cx="1554480" cy="960120"/>
          </a:xfrm>
          <a:prstGeom prst="roundRect">
            <a:avLst>
              <a:gd name="adj" fmla="val 7619"/>
            </a:avLst>
          </a:prstGeom>
          <a:solidFill>
            <a:srgbClr val="FFFFFF"/>
          </a:solidFill>
          <a:ln w="19050">
            <a:solidFill>
              <a:srgbClr val="0F4C81"/>
            </a:solidFill>
            <a:prstDash val="solid"/>
          </a:ln>
        </p:spPr>
        <p:txBody>
          <a:bodyPr/>
          <a:lstStyle/>
          <a:p>
            <a:endParaRPr/>
          </a:p>
        </p:txBody>
      </p:sp>
      <p:sp>
        <p:nvSpPr>
          <p:cNvPr id="11" name="Text 9"/>
          <p:cNvSpPr/>
          <p:nvPr/>
        </p:nvSpPr>
        <p:spPr>
          <a:xfrm>
            <a:off x="749808" y="2734056"/>
            <a:ext cx="1335024" cy="74066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Your Python</a:t>
            </a:r>
            <a:endParaRPr lang="en-US" sz="1500" dirty="0"/>
          </a:p>
          <a:p>
            <a:pPr marL="0" indent="0" algn="ctr">
              <a:buNone/>
            </a:pPr>
            <a:r>
              <a:rPr lang="en-US" sz="1500" b="1" dirty="0">
                <a:solidFill>
                  <a:srgbClr val="102027"/>
                </a:solidFill>
              </a:rPr>
              <a:t>code</a:t>
            </a:r>
            <a:endParaRPr lang="en-US" sz="1500" dirty="0"/>
          </a:p>
        </p:txBody>
      </p:sp>
      <p:sp>
        <p:nvSpPr>
          <p:cNvPr id="12" name="Shape 10"/>
          <p:cNvSpPr/>
          <p:nvPr/>
        </p:nvSpPr>
        <p:spPr>
          <a:xfrm>
            <a:off x="2834640" y="2606040"/>
            <a:ext cx="1691640" cy="960120"/>
          </a:xfrm>
          <a:prstGeom prst="roundRect">
            <a:avLst>
              <a:gd name="adj" fmla="val 7619"/>
            </a:avLst>
          </a:prstGeom>
          <a:solidFill>
            <a:srgbClr val="FFFFFF"/>
          </a:solidFill>
          <a:ln w="19050">
            <a:solidFill>
              <a:srgbClr val="EF476F"/>
            </a:solidFill>
            <a:prstDash val="solid"/>
          </a:ln>
        </p:spPr>
        <p:txBody>
          <a:bodyPr/>
          <a:lstStyle/>
          <a:p>
            <a:endParaRPr/>
          </a:p>
        </p:txBody>
      </p:sp>
      <p:sp>
        <p:nvSpPr>
          <p:cNvPr id="13" name="Text 11"/>
          <p:cNvSpPr/>
          <p:nvPr/>
        </p:nvSpPr>
        <p:spPr>
          <a:xfrm>
            <a:off x="2944368" y="2734056"/>
            <a:ext cx="1472184" cy="74066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Python runtime</a:t>
            </a:r>
            <a:endParaRPr lang="en-US" sz="1500" dirty="0"/>
          </a:p>
          <a:p>
            <a:pPr marL="0" indent="0" algn="ctr">
              <a:buNone/>
            </a:pPr>
            <a:r>
              <a:rPr lang="en-US" sz="1500" b="1" dirty="0">
                <a:solidFill>
                  <a:srgbClr val="102027"/>
                </a:solidFill>
              </a:rPr>
              <a:t>+ GIL</a:t>
            </a:r>
            <a:endParaRPr lang="en-US" sz="1500" dirty="0"/>
          </a:p>
        </p:txBody>
      </p:sp>
      <p:sp>
        <p:nvSpPr>
          <p:cNvPr id="14" name="Shape 12"/>
          <p:cNvSpPr/>
          <p:nvPr/>
        </p:nvSpPr>
        <p:spPr>
          <a:xfrm>
            <a:off x="5486400" y="2606040"/>
            <a:ext cx="1874520" cy="960120"/>
          </a:xfrm>
          <a:prstGeom prst="roundRect">
            <a:avLst>
              <a:gd name="adj" fmla="val 7619"/>
            </a:avLst>
          </a:prstGeom>
          <a:solidFill>
            <a:srgbClr val="FFFFFF"/>
          </a:solidFill>
          <a:ln w="19050">
            <a:solidFill>
              <a:srgbClr val="06D6A0"/>
            </a:solidFill>
            <a:prstDash val="solid"/>
          </a:ln>
        </p:spPr>
        <p:txBody>
          <a:bodyPr/>
          <a:lstStyle/>
          <a:p>
            <a:endParaRPr/>
          </a:p>
        </p:txBody>
      </p:sp>
      <p:sp>
        <p:nvSpPr>
          <p:cNvPr id="15" name="Text 13"/>
          <p:cNvSpPr/>
          <p:nvPr/>
        </p:nvSpPr>
        <p:spPr>
          <a:xfrm>
            <a:off x="5596128" y="2734056"/>
            <a:ext cx="1655064" cy="74066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Operating System</a:t>
            </a:r>
            <a:endParaRPr lang="en-US" sz="1500" dirty="0"/>
          </a:p>
          <a:p>
            <a:pPr marL="0" indent="0" algn="ctr">
              <a:buNone/>
            </a:pPr>
            <a:r>
              <a:rPr lang="en-US" sz="1500" b="1" dirty="0">
                <a:solidFill>
                  <a:srgbClr val="102027"/>
                </a:solidFill>
              </a:rPr>
              <a:t>scheduler</a:t>
            </a:r>
            <a:endParaRPr lang="en-US" sz="1500" dirty="0"/>
          </a:p>
        </p:txBody>
      </p:sp>
      <p:sp>
        <p:nvSpPr>
          <p:cNvPr id="16" name="Shape 14"/>
          <p:cNvSpPr/>
          <p:nvPr/>
        </p:nvSpPr>
        <p:spPr>
          <a:xfrm>
            <a:off x="9281160" y="2606040"/>
            <a:ext cx="1645920" cy="960120"/>
          </a:xfrm>
          <a:prstGeom prst="roundRect">
            <a:avLst>
              <a:gd name="adj" fmla="val 7619"/>
            </a:avLst>
          </a:prstGeom>
          <a:solidFill>
            <a:srgbClr val="FFFFFF"/>
          </a:solidFill>
          <a:ln w="19050">
            <a:solidFill>
              <a:srgbClr val="6C63FF"/>
            </a:solidFill>
            <a:prstDash val="solid"/>
          </a:ln>
        </p:spPr>
        <p:txBody>
          <a:bodyPr/>
          <a:lstStyle/>
          <a:p>
            <a:endParaRPr/>
          </a:p>
        </p:txBody>
      </p:sp>
      <p:sp>
        <p:nvSpPr>
          <p:cNvPr id="17" name="Text 15"/>
          <p:cNvSpPr/>
          <p:nvPr/>
        </p:nvSpPr>
        <p:spPr>
          <a:xfrm>
            <a:off x="9390888" y="2734056"/>
            <a:ext cx="1426464" cy="74066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CPU cores</a:t>
            </a:r>
            <a:endParaRPr lang="en-US" sz="1500" dirty="0"/>
          </a:p>
          <a:p>
            <a:pPr marL="0" indent="0" algn="ctr">
              <a:buNone/>
            </a:pPr>
            <a:r>
              <a:rPr lang="en-US" sz="1500" b="1" dirty="0">
                <a:solidFill>
                  <a:srgbClr val="102027"/>
                </a:solidFill>
              </a:rPr>
              <a:t>+ RAM</a:t>
            </a:r>
            <a:endParaRPr lang="en-US" sz="1500" dirty="0"/>
          </a:p>
        </p:txBody>
      </p:sp>
      <p:sp>
        <p:nvSpPr>
          <p:cNvPr id="18" name="Text 16"/>
          <p:cNvSpPr/>
          <p:nvPr/>
        </p:nvSpPr>
        <p:spPr>
          <a:xfrm>
            <a:off x="914400" y="3977640"/>
            <a:ext cx="9875520" cy="365760"/>
          </a:xfrm>
          <a:prstGeom prst="rect">
            <a:avLst/>
          </a:prstGeom>
          <a:noFill/>
          <a:ln/>
        </p:spPr>
        <p:txBody>
          <a:bodyPr wrap="square" lIns="0" tIns="0" rIns="0" bIns="0" rtlCol="0" anchor="ctr">
            <a:normAutofit/>
          </a:bodyPr>
          <a:lstStyle/>
          <a:p>
            <a:pPr marL="0" indent="0">
              <a:buNone/>
            </a:pPr>
            <a:r>
              <a:rPr lang="en-US" sz="1000" dirty="0">
                <a:solidFill>
                  <a:srgbClr val="61727A"/>
                </a:solidFill>
              </a:rPr>
              <a:t>Think: code creates work, Python manages interpreter safety, OS schedules threads, CPU executes instructions.</a:t>
            </a:r>
            <a:endParaRPr lang="en-US" sz="1000" dirty="0"/>
          </a:p>
        </p:txBody>
      </p:sp>
      <p:sp>
        <p:nvSpPr>
          <p:cNvPr id="19" name="Shape 17"/>
          <p:cNvSpPr/>
          <p:nvPr/>
        </p:nvSpPr>
        <p:spPr>
          <a:xfrm>
            <a:off x="2286000" y="4800600"/>
            <a:ext cx="7589520" cy="310896"/>
          </a:xfrm>
          <a:prstGeom prst="roundRect">
            <a:avLst>
              <a:gd name="adj" fmla="val 23529"/>
            </a:avLst>
          </a:prstGeom>
          <a:solidFill>
            <a:srgbClr val="16213E"/>
          </a:solidFill>
          <a:ln w="12700">
            <a:solidFill>
              <a:srgbClr val="16213E">
                <a:alpha val="0"/>
              </a:srgbClr>
            </a:solidFill>
            <a:prstDash val="solid"/>
          </a:ln>
        </p:spPr>
        <p:txBody>
          <a:bodyPr/>
          <a:lstStyle/>
          <a:p>
            <a:endParaRPr/>
          </a:p>
        </p:txBody>
      </p:sp>
      <p:sp>
        <p:nvSpPr>
          <p:cNvPr id="20" name="Text 18"/>
          <p:cNvSpPr/>
          <p:nvPr/>
        </p:nvSpPr>
        <p:spPr>
          <a:xfrm>
            <a:off x="2359152" y="4878324"/>
            <a:ext cx="7443216" cy="137160"/>
          </a:xfrm>
          <a:prstGeom prst="rect">
            <a:avLst/>
          </a:prstGeom>
          <a:noFill/>
          <a:ln/>
        </p:spPr>
        <p:txBody>
          <a:bodyPr wrap="square" lIns="0" tIns="0" rIns="0" bIns="0" rtlCol="0" anchor="ctr"/>
          <a:lstStyle/>
          <a:p>
            <a:r>
              <a:rPr dirty="0">
                <a:solidFill>
                  <a:schemeClr val="bg1"/>
                </a:solidFill>
              </a:rPr>
              <a:t>Key idea: concurrency is controlled waiting, scheduling, and fast switching</a:t>
            </a:r>
          </a:p>
        </p:txBody>
      </p:sp>
      <p:sp>
        <p:nvSpPr>
          <p:cNvPr id="23" name="Text 21">
            <a:extLst>
              <a:ext uri="{FF2B5EF4-FFF2-40B4-BE49-F238E27FC236}">
                <a16:creationId xmlns:a16="http://schemas.microsoft.com/office/drawing/2014/main" id="{B3DF72F9-6DB6-C9CB-ED31-72E6FEE60E3A}"/>
              </a:ext>
            </a:extLst>
          </p:cNvPr>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8F7F2"/>
        </a:solidFill>
        <a:effectLst/>
      </p:bgPr>
    </p:bg>
    <p:spTree>
      <p:nvGrpSpPr>
        <p:cNvPr id="1" name=""/>
        <p:cNvGrpSpPr/>
        <p:nvPr/>
      </p:nvGrpSpPr>
      <p:grpSpPr>
        <a:xfrm>
          <a:off x="0" y="0"/>
          <a:ext cx="0" cy="0"/>
          <a:chOff x="0" y="0"/>
          <a:chExt cx="0" cy="0"/>
        </a:xfrm>
      </p:grpSpPr>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dirty="0"/>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Process, thread, core - not the same thing</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r>
              <a:rPr lang="en-US" sz="900" b="1" dirty="0">
                <a:solidFill>
                  <a:srgbClr val="61727A"/>
                </a:solidFill>
              </a:rPr>
              <a:t>THE 3 TERMS EVERYONE MIXES UP</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dirty="0"/>
          </a:p>
        </p:txBody>
      </p:sp>
      <p:sp>
        <p:nvSpPr>
          <p:cNvPr id="7" name="Shape 5"/>
          <p:cNvSpPr/>
          <p:nvPr/>
        </p:nvSpPr>
        <p:spPr>
          <a:xfrm>
            <a:off x="512064" y="1559306"/>
            <a:ext cx="3017520" cy="1188720"/>
          </a:xfrm>
          <a:prstGeom prst="roundRect">
            <a:avLst>
              <a:gd name="adj" fmla="val 6154"/>
            </a:avLst>
          </a:prstGeom>
          <a:solidFill>
            <a:srgbClr val="FFFFFF"/>
          </a:solidFill>
          <a:ln w="19050">
            <a:solidFill>
              <a:srgbClr val="0F4C81"/>
            </a:solidFill>
            <a:prstDash val="solid"/>
          </a:ln>
        </p:spPr>
        <p:txBody>
          <a:bodyPr/>
          <a:lstStyle/>
          <a:p>
            <a:endParaRPr/>
          </a:p>
        </p:txBody>
      </p:sp>
      <p:sp>
        <p:nvSpPr>
          <p:cNvPr id="8" name="Text 6"/>
          <p:cNvSpPr/>
          <p:nvPr/>
        </p:nvSpPr>
        <p:spPr>
          <a:xfrm>
            <a:off x="621792" y="2053082"/>
            <a:ext cx="2798064" cy="60350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A running Python program</a:t>
            </a:r>
            <a:endParaRPr lang="en-US" sz="1500" b="1" dirty="0"/>
          </a:p>
          <a:p>
            <a:pPr marL="0" indent="0" algn="ctr">
              <a:buNone/>
            </a:pPr>
            <a:r>
              <a:rPr lang="en-US" sz="1500" b="1" dirty="0">
                <a:solidFill>
                  <a:srgbClr val="102027"/>
                </a:solidFill>
              </a:rPr>
              <a:t>Own memory space in RAM</a:t>
            </a:r>
            <a:endParaRPr lang="en-US" sz="1500" b="1" dirty="0"/>
          </a:p>
        </p:txBody>
      </p:sp>
      <p:sp>
        <p:nvSpPr>
          <p:cNvPr id="9" name="Shape 7"/>
          <p:cNvSpPr/>
          <p:nvPr/>
        </p:nvSpPr>
        <p:spPr>
          <a:xfrm>
            <a:off x="4329797" y="1559306"/>
            <a:ext cx="3235841" cy="1188720"/>
          </a:xfrm>
          <a:prstGeom prst="roundRect">
            <a:avLst>
              <a:gd name="adj" fmla="val 6154"/>
            </a:avLst>
          </a:prstGeom>
          <a:solidFill>
            <a:srgbClr val="FFFFFF"/>
          </a:solidFill>
          <a:ln w="19050">
            <a:solidFill>
              <a:srgbClr val="EF476F"/>
            </a:solidFill>
            <a:prstDash val="solid"/>
          </a:ln>
        </p:spPr>
        <p:txBody>
          <a:bodyPr/>
          <a:lstStyle/>
          <a:p>
            <a:endParaRPr/>
          </a:p>
        </p:txBody>
      </p:sp>
      <p:sp>
        <p:nvSpPr>
          <p:cNvPr id="10" name="Text 8"/>
          <p:cNvSpPr/>
          <p:nvPr/>
        </p:nvSpPr>
        <p:spPr>
          <a:xfrm>
            <a:off x="4426972" y="1893319"/>
            <a:ext cx="3063431" cy="613155"/>
          </a:xfrm>
          <a:prstGeom prst="rect">
            <a:avLst/>
          </a:prstGeom>
          <a:noFill/>
          <a:ln/>
        </p:spPr>
        <p:txBody>
          <a:bodyPr wrap="square" lIns="0" tIns="0" rIns="0" bIns="0" rtlCol="0" anchor="ctr">
            <a:normAutofit fontScale="92500" lnSpcReduction="10000"/>
          </a:bodyPr>
          <a:lstStyle/>
          <a:p>
            <a:pPr marL="0" indent="0" algn="ctr">
              <a:buNone/>
            </a:pPr>
            <a:endParaRPr lang="en-US" sz="1500" dirty="0"/>
          </a:p>
          <a:p>
            <a:pPr marL="0" indent="0" algn="ctr">
              <a:buNone/>
            </a:pPr>
            <a:r>
              <a:rPr lang="en-US" sz="1500" b="1" dirty="0">
                <a:solidFill>
                  <a:srgbClr val="102027"/>
                </a:solidFill>
              </a:rPr>
              <a:t>A path of execution inside the process</a:t>
            </a:r>
            <a:endParaRPr lang="en-US" sz="1500" dirty="0"/>
          </a:p>
          <a:p>
            <a:pPr marL="0" indent="0" algn="ctr">
              <a:buNone/>
            </a:pPr>
            <a:r>
              <a:rPr lang="en-US" sz="1500" b="1" dirty="0">
                <a:solidFill>
                  <a:srgbClr val="102027"/>
                </a:solidFill>
              </a:rPr>
              <a:t>Shares the same process memory</a:t>
            </a:r>
            <a:endParaRPr lang="en-US" sz="1500" dirty="0"/>
          </a:p>
        </p:txBody>
      </p:sp>
      <p:sp>
        <p:nvSpPr>
          <p:cNvPr id="11" name="Shape 9"/>
          <p:cNvSpPr/>
          <p:nvPr/>
        </p:nvSpPr>
        <p:spPr>
          <a:xfrm>
            <a:off x="8193024" y="1559306"/>
            <a:ext cx="3487420" cy="1188720"/>
          </a:xfrm>
          <a:prstGeom prst="roundRect">
            <a:avLst>
              <a:gd name="adj" fmla="val 6154"/>
            </a:avLst>
          </a:prstGeom>
          <a:solidFill>
            <a:srgbClr val="FFFFFF"/>
          </a:solidFill>
          <a:ln w="19050">
            <a:solidFill>
              <a:srgbClr val="06D6A0"/>
            </a:solidFill>
            <a:prstDash val="solid"/>
          </a:ln>
        </p:spPr>
        <p:txBody>
          <a:bodyPr/>
          <a:lstStyle/>
          <a:p>
            <a:endParaRPr/>
          </a:p>
        </p:txBody>
      </p:sp>
      <p:sp>
        <p:nvSpPr>
          <p:cNvPr id="12" name="Text 10"/>
          <p:cNvSpPr/>
          <p:nvPr/>
        </p:nvSpPr>
        <p:spPr>
          <a:xfrm>
            <a:off x="8217154" y="1870202"/>
            <a:ext cx="3429000" cy="877824"/>
          </a:xfrm>
          <a:prstGeom prst="rect">
            <a:avLst/>
          </a:prstGeom>
          <a:noFill/>
          <a:ln/>
        </p:spPr>
        <p:txBody>
          <a:bodyPr wrap="square" lIns="0" tIns="0" rIns="0" bIns="0" rtlCol="0" anchor="ctr">
            <a:normAutofit lnSpcReduction="10000"/>
          </a:bodyPr>
          <a:lstStyle/>
          <a:p>
            <a:pPr marL="0" indent="0" algn="ctr">
              <a:buNone/>
            </a:pPr>
            <a:endParaRPr lang="en-US" sz="1500" dirty="0"/>
          </a:p>
          <a:p>
            <a:pPr marL="0" indent="0" algn="ctr">
              <a:buNone/>
            </a:pPr>
            <a:r>
              <a:rPr lang="en-US" sz="1500" b="1" dirty="0">
                <a:solidFill>
                  <a:srgbClr val="102027"/>
                </a:solidFill>
              </a:rPr>
              <a:t>Physical CPU engine</a:t>
            </a:r>
            <a:endParaRPr lang="en-US" sz="1500" dirty="0"/>
          </a:p>
          <a:p>
            <a:pPr marL="0" indent="0" algn="ctr">
              <a:buNone/>
            </a:pPr>
            <a:r>
              <a:rPr lang="en-US" sz="1500" b="1" dirty="0">
                <a:solidFill>
                  <a:srgbClr val="102027"/>
                </a:solidFill>
              </a:rPr>
              <a:t>Executes a thread instruction by instruction</a:t>
            </a:r>
            <a:endParaRPr lang="en-US" sz="1500" dirty="0"/>
          </a:p>
        </p:txBody>
      </p:sp>
      <p:sp>
        <p:nvSpPr>
          <p:cNvPr id="13" name="Shape 11"/>
          <p:cNvSpPr/>
          <p:nvPr/>
        </p:nvSpPr>
        <p:spPr>
          <a:xfrm>
            <a:off x="2020824" y="3113786"/>
            <a:ext cx="0" cy="868680"/>
          </a:xfrm>
          <a:prstGeom prst="line">
            <a:avLst/>
          </a:prstGeom>
          <a:noFill/>
          <a:ln w="25400">
            <a:solidFill>
              <a:srgbClr val="0F4C81"/>
            </a:solidFill>
            <a:prstDash val="solid"/>
            <a:headEnd type="none"/>
            <a:tailEnd type="triangle"/>
          </a:ln>
        </p:spPr>
        <p:txBody>
          <a:bodyPr/>
          <a:lstStyle/>
          <a:p>
            <a:endParaRPr/>
          </a:p>
        </p:txBody>
      </p:sp>
      <p:sp>
        <p:nvSpPr>
          <p:cNvPr id="14" name="Shape 12"/>
          <p:cNvSpPr/>
          <p:nvPr/>
        </p:nvSpPr>
        <p:spPr>
          <a:xfrm>
            <a:off x="5876391" y="3056636"/>
            <a:ext cx="0" cy="868680"/>
          </a:xfrm>
          <a:prstGeom prst="line">
            <a:avLst/>
          </a:prstGeom>
          <a:noFill/>
          <a:ln w="25400">
            <a:solidFill>
              <a:srgbClr val="EF476F"/>
            </a:solidFill>
            <a:prstDash val="solid"/>
            <a:headEnd type="none"/>
            <a:tailEnd type="triangle"/>
          </a:ln>
        </p:spPr>
        <p:txBody>
          <a:bodyPr/>
          <a:lstStyle/>
          <a:p>
            <a:endParaRPr/>
          </a:p>
        </p:txBody>
      </p:sp>
      <p:sp>
        <p:nvSpPr>
          <p:cNvPr id="15" name="Shape 13"/>
          <p:cNvSpPr/>
          <p:nvPr/>
        </p:nvSpPr>
        <p:spPr>
          <a:xfrm>
            <a:off x="9904984" y="2994660"/>
            <a:ext cx="0" cy="868680"/>
          </a:xfrm>
          <a:prstGeom prst="line">
            <a:avLst/>
          </a:prstGeom>
          <a:noFill/>
          <a:ln w="25400">
            <a:solidFill>
              <a:srgbClr val="06D6A0"/>
            </a:solidFill>
            <a:prstDash val="solid"/>
            <a:headEnd type="none"/>
            <a:tailEnd type="triangle"/>
          </a:ln>
        </p:spPr>
        <p:txBody>
          <a:bodyPr/>
          <a:lstStyle/>
          <a:p>
            <a:endParaRPr/>
          </a:p>
        </p:txBody>
      </p:sp>
      <p:sp>
        <p:nvSpPr>
          <p:cNvPr id="16" name="Shape 14"/>
          <p:cNvSpPr/>
          <p:nvPr/>
        </p:nvSpPr>
        <p:spPr>
          <a:xfrm>
            <a:off x="1197864" y="4028186"/>
            <a:ext cx="1600200" cy="548640"/>
          </a:xfrm>
          <a:prstGeom prst="roundRect">
            <a:avLst>
              <a:gd name="adj" fmla="val 13333"/>
            </a:avLst>
          </a:prstGeom>
          <a:solidFill>
            <a:srgbClr val="0F4C81"/>
          </a:solidFill>
          <a:ln w="19050">
            <a:solidFill>
              <a:srgbClr val="0F4C81"/>
            </a:solidFill>
            <a:prstDash val="solid"/>
          </a:ln>
        </p:spPr>
        <p:txBody>
          <a:bodyPr/>
          <a:lstStyle/>
          <a:p>
            <a:endParaRPr/>
          </a:p>
        </p:txBody>
      </p:sp>
      <p:sp>
        <p:nvSpPr>
          <p:cNvPr id="17" name="Text 15"/>
          <p:cNvSpPr/>
          <p:nvPr/>
        </p:nvSpPr>
        <p:spPr>
          <a:xfrm>
            <a:off x="1307592" y="4156202"/>
            <a:ext cx="1380744" cy="329184"/>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Factory</a:t>
            </a:r>
            <a:endParaRPr lang="en-US" sz="1500" dirty="0"/>
          </a:p>
        </p:txBody>
      </p:sp>
      <p:sp>
        <p:nvSpPr>
          <p:cNvPr id="18" name="Shape 16"/>
          <p:cNvSpPr/>
          <p:nvPr/>
        </p:nvSpPr>
        <p:spPr>
          <a:xfrm>
            <a:off x="5170477" y="4010152"/>
            <a:ext cx="1554480" cy="548640"/>
          </a:xfrm>
          <a:prstGeom prst="roundRect">
            <a:avLst>
              <a:gd name="adj" fmla="val 13333"/>
            </a:avLst>
          </a:prstGeom>
          <a:solidFill>
            <a:srgbClr val="EF476F"/>
          </a:solidFill>
          <a:ln w="19050">
            <a:solidFill>
              <a:srgbClr val="EF476F"/>
            </a:solidFill>
            <a:prstDash val="solid"/>
          </a:ln>
        </p:spPr>
        <p:txBody>
          <a:bodyPr/>
          <a:lstStyle/>
          <a:p>
            <a:endParaRPr/>
          </a:p>
        </p:txBody>
      </p:sp>
      <p:sp>
        <p:nvSpPr>
          <p:cNvPr id="19" name="Text 17"/>
          <p:cNvSpPr/>
          <p:nvPr/>
        </p:nvSpPr>
        <p:spPr>
          <a:xfrm>
            <a:off x="5208879" y="4119119"/>
            <a:ext cx="1335024" cy="329184"/>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Worker</a:t>
            </a:r>
            <a:endParaRPr lang="en-US" sz="1500" dirty="0"/>
          </a:p>
        </p:txBody>
      </p:sp>
      <p:sp>
        <p:nvSpPr>
          <p:cNvPr id="20" name="Shape 18"/>
          <p:cNvSpPr/>
          <p:nvPr/>
        </p:nvSpPr>
        <p:spPr>
          <a:xfrm>
            <a:off x="8964168" y="4025146"/>
            <a:ext cx="1920240" cy="548640"/>
          </a:xfrm>
          <a:prstGeom prst="roundRect">
            <a:avLst>
              <a:gd name="adj" fmla="val 13333"/>
            </a:avLst>
          </a:prstGeom>
          <a:solidFill>
            <a:srgbClr val="06D6A0"/>
          </a:solidFill>
          <a:ln w="19050">
            <a:solidFill>
              <a:srgbClr val="06D6A0"/>
            </a:solidFill>
            <a:prstDash val="solid"/>
          </a:ln>
        </p:spPr>
        <p:txBody>
          <a:bodyPr/>
          <a:lstStyle/>
          <a:p>
            <a:endParaRPr/>
          </a:p>
        </p:txBody>
      </p:sp>
      <p:sp>
        <p:nvSpPr>
          <p:cNvPr id="21" name="Text 19"/>
          <p:cNvSpPr/>
          <p:nvPr/>
        </p:nvSpPr>
        <p:spPr>
          <a:xfrm>
            <a:off x="9073896" y="4153162"/>
            <a:ext cx="1700784" cy="329184"/>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Desk/Engine</a:t>
            </a:r>
            <a:endParaRPr lang="en-US" sz="1500" dirty="0"/>
          </a:p>
        </p:txBody>
      </p:sp>
      <p:sp>
        <p:nvSpPr>
          <p:cNvPr id="22" name="Text 20"/>
          <p:cNvSpPr/>
          <p:nvPr/>
        </p:nvSpPr>
        <p:spPr>
          <a:xfrm>
            <a:off x="1005840" y="4892040"/>
            <a:ext cx="10149840" cy="347472"/>
          </a:xfrm>
          <a:prstGeom prst="rect">
            <a:avLst/>
          </a:prstGeom>
          <a:noFill/>
          <a:ln/>
        </p:spPr>
        <p:txBody>
          <a:bodyPr wrap="square" lIns="0" tIns="0" rIns="0" bIns="0" rtlCol="0" anchor="ctr">
            <a:normAutofit/>
          </a:bodyPr>
          <a:lstStyle/>
          <a:p>
            <a:pPr marL="0" indent="0">
              <a:buNone/>
            </a:pPr>
            <a:r>
              <a:rPr lang="en-US" sz="1000" dirty="0">
                <a:solidFill>
                  <a:srgbClr val="61727A"/>
                </a:solidFill>
              </a:rPr>
              <a:t>A thread cannot execute itself. A CPU core must run it. One process can contain many threads.</a:t>
            </a:r>
            <a:endParaRPr lang="en-US" sz="1000" dirty="0"/>
          </a:p>
        </p:txBody>
      </p:sp>
      <p:sp>
        <p:nvSpPr>
          <p:cNvPr id="24" name="Text 21"/>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3</a:t>
            </a:r>
            <a:endParaRPr lang="en-US" sz="800" dirty="0"/>
          </a:p>
        </p:txBody>
      </p:sp>
      <p:sp>
        <p:nvSpPr>
          <p:cNvPr id="23" name="TextBox 22">
            <a:extLst>
              <a:ext uri="{FF2B5EF4-FFF2-40B4-BE49-F238E27FC236}">
                <a16:creationId xmlns:a16="http://schemas.microsoft.com/office/drawing/2014/main" id="{ABD98C8E-388D-AF04-7EC5-05FDA4BDFC5D}"/>
              </a:ext>
            </a:extLst>
          </p:cNvPr>
          <p:cNvSpPr txBox="1"/>
          <p:nvPr/>
        </p:nvSpPr>
        <p:spPr>
          <a:xfrm>
            <a:off x="1063244" y="1687322"/>
            <a:ext cx="2000250" cy="369332"/>
          </a:xfrm>
          <a:prstGeom prst="rect">
            <a:avLst/>
          </a:prstGeom>
          <a:noFill/>
        </p:spPr>
        <p:txBody>
          <a:bodyPr wrap="square" rtlCol="0">
            <a:spAutoFit/>
          </a:bodyPr>
          <a:lstStyle/>
          <a:p>
            <a:pPr algn="ctr"/>
            <a:r>
              <a:rPr lang="en-US" b="1" u="sng" dirty="0">
                <a:solidFill>
                  <a:srgbClr val="102027"/>
                </a:solidFill>
              </a:rPr>
              <a:t>Process</a:t>
            </a:r>
            <a:endParaRPr lang="en-US" u="sng" dirty="0"/>
          </a:p>
        </p:txBody>
      </p:sp>
      <p:sp>
        <p:nvSpPr>
          <p:cNvPr id="26" name="TextBox 25">
            <a:extLst>
              <a:ext uri="{FF2B5EF4-FFF2-40B4-BE49-F238E27FC236}">
                <a16:creationId xmlns:a16="http://schemas.microsoft.com/office/drawing/2014/main" id="{33B02D2D-4AEC-AEAD-2A9D-7C3317B740AC}"/>
              </a:ext>
            </a:extLst>
          </p:cNvPr>
          <p:cNvSpPr txBox="1"/>
          <p:nvPr/>
        </p:nvSpPr>
        <p:spPr>
          <a:xfrm>
            <a:off x="4878956" y="1628379"/>
            <a:ext cx="2000250" cy="369332"/>
          </a:xfrm>
          <a:prstGeom prst="rect">
            <a:avLst/>
          </a:prstGeom>
          <a:noFill/>
        </p:spPr>
        <p:txBody>
          <a:bodyPr wrap="square" rtlCol="0">
            <a:spAutoFit/>
          </a:bodyPr>
          <a:lstStyle/>
          <a:p>
            <a:pPr algn="ctr"/>
            <a:r>
              <a:rPr lang="en-US" b="1" u="sng" dirty="0">
                <a:solidFill>
                  <a:srgbClr val="102027"/>
                </a:solidFill>
              </a:rPr>
              <a:t>Thread</a:t>
            </a:r>
            <a:endParaRPr lang="en-US" u="sng" dirty="0"/>
          </a:p>
        </p:txBody>
      </p:sp>
      <p:sp>
        <p:nvSpPr>
          <p:cNvPr id="28" name="TextBox 27">
            <a:extLst>
              <a:ext uri="{FF2B5EF4-FFF2-40B4-BE49-F238E27FC236}">
                <a16:creationId xmlns:a16="http://schemas.microsoft.com/office/drawing/2014/main" id="{1ABD6B2A-E401-213F-8659-7004A11276D7}"/>
              </a:ext>
            </a:extLst>
          </p:cNvPr>
          <p:cNvSpPr txBox="1"/>
          <p:nvPr/>
        </p:nvSpPr>
        <p:spPr>
          <a:xfrm>
            <a:off x="8851392" y="1639816"/>
            <a:ext cx="2000250" cy="369332"/>
          </a:xfrm>
          <a:prstGeom prst="rect">
            <a:avLst/>
          </a:prstGeom>
          <a:noFill/>
        </p:spPr>
        <p:txBody>
          <a:bodyPr wrap="square" rtlCol="0">
            <a:spAutoFit/>
          </a:bodyPr>
          <a:lstStyle/>
          <a:p>
            <a:pPr algn="ctr"/>
            <a:r>
              <a:rPr lang="en-US" b="1" u="sng" dirty="0"/>
              <a:t>Core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F2"/>
          </a:solidFill>
          <a:ln w="12700">
            <a:solidFill>
              <a:srgbClr val="F8F7F2">
                <a:alpha val="0"/>
              </a:srgbClr>
            </a:solidFill>
            <a:prstDash val="solid"/>
          </a:ln>
        </p:spPr>
        <p:txBody>
          <a:bodyPr/>
          <a:lstStyle/>
          <a:p>
            <a:endParaRPr dirty="0"/>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Worker Pool: the big idea</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pPr marL="0" indent="0">
              <a:buNone/>
            </a:pPr>
            <a:r>
              <a:rPr lang="en-US" sz="900" b="1" dirty="0">
                <a:solidFill>
                  <a:srgbClr val="61727A"/>
                </a:solidFill>
              </a:rPr>
              <a:t>IMPLEMENTED MODEL</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dirty="0"/>
          </a:p>
        </p:txBody>
      </p:sp>
      <p:sp>
        <p:nvSpPr>
          <p:cNvPr id="7" name="Shape 5"/>
          <p:cNvSpPr/>
          <p:nvPr/>
        </p:nvSpPr>
        <p:spPr>
          <a:xfrm>
            <a:off x="731520" y="1417320"/>
            <a:ext cx="1234440" cy="384048"/>
          </a:xfrm>
          <a:prstGeom prst="roundRect">
            <a:avLst>
              <a:gd name="adj" fmla="val 19048"/>
            </a:avLst>
          </a:prstGeom>
          <a:solidFill>
            <a:srgbClr val="FFFFFF"/>
          </a:solidFill>
          <a:ln w="19050">
            <a:solidFill>
              <a:srgbClr val="0F4C81"/>
            </a:solidFill>
            <a:prstDash val="solid"/>
          </a:ln>
        </p:spPr>
        <p:txBody>
          <a:bodyPr/>
          <a:lstStyle/>
          <a:p>
            <a:endParaRPr/>
          </a:p>
        </p:txBody>
      </p:sp>
      <p:sp>
        <p:nvSpPr>
          <p:cNvPr id="8" name="Text 6"/>
          <p:cNvSpPr/>
          <p:nvPr/>
        </p:nvSpPr>
        <p:spPr>
          <a:xfrm>
            <a:off x="841248" y="1545336"/>
            <a:ext cx="1014984" cy="164592"/>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102027"/>
                </a:solidFill>
              </a:rPr>
              <a:t>Task 1</a:t>
            </a:r>
            <a:endParaRPr lang="en-US" sz="1200" dirty="0"/>
          </a:p>
        </p:txBody>
      </p:sp>
      <p:sp>
        <p:nvSpPr>
          <p:cNvPr id="9" name="Shape 7"/>
          <p:cNvSpPr/>
          <p:nvPr/>
        </p:nvSpPr>
        <p:spPr>
          <a:xfrm>
            <a:off x="731520" y="1984248"/>
            <a:ext cx="1234440" cy="384048"/>
          </a:xfrm>
          <a:prstGeom prst="roundRect">
            <a:avLst>
              <a:gd name="adj" fmla="val 19048"/>
            </a:avLst>
          </a:prstGeom>
          <a:solidFill>
            <a:srgbClr val="FFFFFF"/>
          </a:solidFill>
          <a:ln w="19050">
            <a:solidFill>
              <a:srgbClr val="0F4C81"/>
            </a:solidFill>
            <a:prstDash val="solid"/>
          </a:ln>
        </p:spPr>
        <p:txBody>
          <a:bodyPr/>
          <a:lstStyle/>
          <a:p>
            <a:endParaRPr/>
          </a:p>
        </p:txBody>
      </p:sp>
      <p:sp>
        <p:nvSpPr>
          <p:cNvPr id="10" name="Text 8"/>
          <p:cNvSpPr/>
          <p:nvPr/>
        </p:nvSpPr>
        <p:spPr>
          <a:xfrm>
            <a:off x="841248" y="2112264"/>
            <a:ext cx="1014984" cy="164592"/>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102027"/>
                </a:solidFill>
              </a:rPr>
              <a:t>Task 2</a:t>
            </a:r>
            <a:endParaRPr lang="en-US" sz="1200" dirty="0"/>
          </a:p>
        </p:txBody>
      </p:sp>
      <p:sp>
        <p:nvSpPr>
          <p:cNvPr id="11" name="Shape 9"/>
          <p:cNvSpPr/>
          <p:nvPr/>
        </p:nvSpPr>
        <p:spPr>
          <a:xfrm>
            <a:off x="731520" y="2551176"/>
            <a:ext cx="1234440" cy="384048"/>
          </a:xfrm>
          <a:prstGeom prst="roundRect">
            <a:avLst>
              <a:gd name="adj" fmla="val 19048"/>
            </a:avLst>
          </a:prstGeom>
          <a:solidFill>
            <a:srgbClr val="FFFFFF"/>
          </a:solidFill>
          <a:ln w="19050">
            <a:solidFill>
              <a:srgbClr val="0F4C81"/>
            </a:solidFill>
            <a:prstDash val="solid"/>
          </a:ln>
        </p:spPr>
        <p:txBody>
          <a:bodyPr/>
          <a:lstStyle/>
          <a:p>
            <a:endParaRPr/>
          </a:p>
        </p:txBody>
      </p:sp>
      <p:sp>
        <p:nvSpPr>
          <p:cNvPr id="12" name="Text 10"/>
          <p:cNvSpPr/>
          <p:nvPr/>
        </p:nvSpPr>
        <p:spPr>
          <a:xfrm>
            <a:off x="841248" y="2679192"/>
            <a:ext cx="1014984" cy="164592"/>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102027"/>
                </a:solidFill>
              </a:rPr>
              <a:t>Task 3</a:t>
            </a:r>
            <a:endParaRPr lang="en-US" sz="1200" dirty="0"/>
          </a:p>
        </p:txBody>
      </p:sp>
      <p:sp>
        <p:nvSpPr>
          <p:cNvPr id="13" name="Shape 11"/>
          <p:cNvSpPr/>
          <p:nvPr/>
        </p:nvSpPr>
        <p:spPr>
          <a:xfrm>
            <a:off x="731520" y="3118104"/>
            <a:ext cx="1234440" cy="384048"/>
          </a:xfrm>
          <a:prstGeom prst="roundRect">
            <a:avLst>
              <a:gd name="adj" fmla="val 19048"/>
            </a:avLst>
          </a:prstGeom>
          <a:solidFill>
            <a:srgbClr val="FFFFFF"/>
          </a:solidFill>
          <a:ln w="19050">
            <a:solidFill>
              <a:srgbClr val="0F4C81"/>
            </a:solidFill>
            <a:prstDash val="solid"/>
          </a:ln>
        </p:spPr>
        <p:txBody>
          <a:bodyPr/>
          <a:lstStyle/>
          <a:p>
            <a:endParaRPr/>
          </a:p>
        </p:txBody>
      </p:sp>
      <p:sp>
        <p:nvSpPr>
          <p:cNvPr id="14" name="Text 12"/>
          <p:cNvSpPr/>
          <p:nvPr/>
        </p:nvSpPr>
        <p:spPr>
          <a:xfrm>
            <a:off x="841248" y="3246120"/>
            <a:ext cx="1014984" cy="164592"/>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102027"/>
                </a:solidFill>
              </a:rPr>
              <a:t>Task 4</a:t>
            </a:r>
            <a:endParaRPr lang="en-US" sz="1200" dirty="0"/>
          </a:p>
        </p:txBody>
      </p:sp>
      <p:sp>
        <p:nvSpPr>
          <p:cNvPr id="15" name="Shape 13"/>
          <p:cNvSpPr/>
          <p:nvPr/>
        </p:nvSpPr>
        <p:spPr>
          <a:xfrm>
            <a:off x="731520" y="3685032"/>
            <a:ext cx="1234440" cy="384048"/>
          </a:xfrm>
          <a:prstGeom prst="roundRect">
            <a:avLst>
              <a:gd name="adj" fmla="val 19048"/>
            </a:avLst>
          </a:prstGeom>
          <a:solidFill>
            <a:srgbClr val="FFFFFF"/>
          </a:solidFill>
          <a:ln w="19050">
            <a:solidFill>
              <a:srgbClr val="0F4C81"/>
            </a:solidFill>
            <a:prstDash val="solid"/>
          </a:ln>
        </p:spPr>
        <p:txBody>
          <a:bodyPr/>
          <a:lstStyle/>
          <a:p>
            <a:endParaRPr/>
          </a:p>
        </p:txBody>
      </p:sp>
      <p:sp>
        <p:nvSpPr>
          <p:cNvPr id="16" name="Text 14"/>
          <p:cNvSpPr/>
          <p:nvPr/>
        </p:nvSpPr>
        <p:spPr>
          <a:xfrm>
            <a:off x="841248" y="3813048"/>
            <a:ext cx="1014984" cy="164592"/>
          </a:xfrm>
          <a:prstGeom prst="rect">
            <a:avLst/>
          </a:prstGeom>
          <a:noFill/>
          <a:ln/>
        </p:spPr>
        <p:txBody>
          <a:bodyPr wrap="square" lIns="0" tIns="0" rIns="0" bIns="0" rtlCol="0" anchor="ctr">
            <a:normAutofit fontScale="92500" lnSpcReduction="10000"/>
          </a:bodyPr>
          <a:lstStyle/>
          <a:p>
            <a:pPr marL="0" indent="0" algn="ctr">
              <a:buNone/>
            </a:pPr>
            <a:r>
              <a:rPr lang="en-US" sz="1200" b="1" dirty="0">
                <a:solidFill>
                  <a:srgbClr val="102027"/>
                </a:solidFill>
              </a:rPr>
              <a:t>Task 5</a:t>
            </a:r>
            <a:endParaRPr lang="en-US" sz="1200" dirty="0"/>
          </a:p>
        </p:txBody>
      </p:sp>
      <p:sp>
        <p:nvSpPr>
          <p:cNvPr id="17" name="Shape 15"/>
          <p:cNvSpPr/>
          <p:nvPr/>
        </p:nvSpPr>
        <p:spPr>
          <a:xfrm>
            <a:off x="2148840" y="2606040"/>
            <a:ext cx="1188720" cy="0"/>
          </a:xfrm>
          <a:prstGeom prst="line">
            <a:avLst/>
          </a:prstGeom>
          <a:noFill/>
          <a:ln w="31750">
            <a:solidFill>
              <a:srgbClr val="0F4C81"/>
            </a:solidFill>
            <a:prstDash val="solid"/>
            <a:headEnd type="none"/>
            <a:tailEnd type="triangle"/>
          </a:ln>
        </p:spPr>
        <p:txBody>
          <a:bodyPr/>
          <a:lstStyle/>
          <a:p>
            <a:endParaRPr/>
          </a:p>
        </p:txBody>
      </p:sp>
      <p:sp>
        <p:nvSpPr>
          <p:cNvPr id="18" name="Shape 16"/>
          <p:cNvSpPr/>
          <p:nvPr/>
        </p:nvSpPr>
        <p:spPr>
          <a:xfrm>
            <a:off x="3429000" y="1920240"/>
            <a:ext cx="2377440" cy="1325880"/>
          </a:xfrm>
          <a:prstGeom prst="roundRect">
            <a:avLst>
              <a:gd name="adj" fmla="val 5517"/>
            </a:avLst>
          </a:prstGeom>
          <a:solidFill>
            <a:srgbClr val="EAF6F6"/>
          </a:solidFill>
          <a:ln w="19050">
            <a:solidFill>
              <a:srgbClr val="40E0D0"/>
            </a:solidFill>
            <a:prstDash val="solid"/>
          </a:ln>
        </p:spPr>
        <p:txBody>
          <a:bodyPr/>
          <a:lstStyle/>
          <a:p>
            <a:endParaRPr/>
          </a:p>
        </p:txBody>
      </p:sp>
      <p:sp>
        <p:nvSpPr>
          <p:cNvPr id="19" name="Text 17"/>
          <p:cNvSpPr/>
          <p:nvPr/>
        </p:nvSpPr>
        <p:spPr>
          <a:xfrm>
            <a:off x="3538728" y="2048256"/>
            <a:ext cx="2157984" cy="1106424"/>
          </a:xfrm>
          <a:prstGeom prst="rect">
            <a:avLst/>
          </a:prstGeom>
          <a:noFill/>
          <a:ln/>
        </p:spPr>
        <p:txBody>
          <a:bodyPr wrap="square" lIns="0" tIns="0" rIns="0" bIns="0" rtlCol="0" anchor="ctr">
            <a:normAutofit/>
          </a:bodyPr>
          <a:lstStyle/>
          <a:p>
            <a:pPr marL="0" indent="0" algn="ctr">
              <a:buNone/>
            </a:pPr>
            <a:r>
              <a:rPr lang="en-US" sz="1600" b="1" dirty="0">
                <a:solidFill>
                  <a:srgbClr val="102027"/>
                </a:solidFill>
              </a:rPr>
              <a:t>ThreadPoolExecutor</a:t>
            </a:r>
            <a:endParaRPr lang="en-US" sz="1600" dirty="0"/>
          </a:p>
          <a:p>
            <a:pPr marL="0" indent="0" algn="ctr">
              <a:buNone/>
            </a:pPr>
            <a:r>
              <a:rPr lang="en-US" sz="1600" b="1" dirty="0">
                <a:solidFill>
                  <a:srgbClr val="102027"/>
                </a:solidFill>
              </a:rPr>
              <a:t>internal task queue</a:t>
            </a:r>
            <a:endParaRPr lang="en-US" sz="1600" dirty="0"/>
          </a:p>
        </p:txBody>
      </p:sp>
      <p:sp>
        <p:nvSpPr>
          <p:cNvPr id="20" name="Shape 18"/>
          <p:cNvSpPr/>
          <p:nvPr/>
        </p:nvSpPr>
        <p:spPr>
          <a:xfrm>
            <a:off x="5989320" y="2606040"/>
            <a:ext cx="914400" cy="0"/>
          </a:xfrm>
          <a:prstGeom prst="line">
            <a:avLst/>
          </a:prstGeom>
          <a:noFill/>
          <a:ln w="31750">
            <a:solidFill>
              <a:srgbClr val="0F4C81"/>
            </a:solidFill>
            <a:prstDash val="solid"/>
            <a:headEnd type="none"/>
            <a:tailEnd type="triangle"/>
          </a:ln>
        </p:spPr>
        <p:txBody>
          <a:bodyPr/>
          <a:lstStyle/>
          <a:p>
            <a:endParaRPr/>
          </a:p>
        </p:txBody>
      </p:sp>
      <p:sp>
        <p:nvSpPr>
          <p:cNvPr id="21" name="Shape 19"/>
          <p:cNvSpPr/>
          <p:nvPr/>
        </p:nvSpPr>
        <p:spPr>
          <a:xfrm>
            <a:off x="6995160" y="1417320"/>
            <a:ext cx="1417320" cy="502920"/>
          </a:xfrm>
          <a:prstGeom prst="roundRect">
            <a:avLst>
              <a:gd name="adj" fmla="val 14545"/>
            </a:avLst>
          </a:prstGeom>
          <a:solidFill>
            <a:srgbClr val="FFFFFF"/>
          </a:solidFill>
          <a:ln w="19050">
            <a:solidFill>
              <a:srgbClr val="EF476F"/>
            </a:solidFill>
            <a:prstDash val="solid"/>
          </a:ln>
        </p:spPr>
        <p:txBody>
          <a:bodyPr/>
          <a:lstStyle/>
          <a:p>
            <a:endParaRPr/>
          </a:p>
        </p:txBody>
      </p:sp>
      <p:sp>
        <p:nvSpPr>
          <p:cNvPr id="22" name="Text 20"/>
          <p:cNvSpPr/>
          <p:nvPr/>
        </p:nvSpPr>
        <p:spPr>
          <a:xfrm>
            <a:off x="7104888" y="1545336"/>
            <a:ext cx="1197864" cy="283464"/>
          </a:xfrm>
          <a:prstGeom prst="rect">
            <a:avLst/>
          </a:prstGeom>
          <a:noFill/>
          <a:ln/>
        </p:spPr>
        <p:txBody>
          <a:bodyPr wrap="square" lIns="0" tIns="0" rIns="0" bIns="0" rtlCol="0" anchor="ctr">
            <a:normAutofit/>
          </a:bodyPr>
          <a:lstStyle/>
          <a:p>
            <a:pPr marL="0" indent="0" algn="ctr">
              <a:buNone/>
            </a:pPr>
            <a:r>
              <a:rPr lang="en-US" sz="1300" b="1" dirty="0">
                <a:solidFill>
                  <a:srgbClr val="102027"/>
                </a:solidFill>
              </a:rPr>
              <a:t>Worker 1</a:t>
            </a:r>
            <a:endParaRPr lang="en-US" sz="1300" dirty="0"/>
          </a:p>
        </p:txBody>
      </p:sp>
      <p:sp>
        <p:nvSpPr>
          <p:cNvPr id="23" name="Shape 21"/>
          <p:cNvSpPr/>
          <p:nvPr/>
        </p:nvSpPr>
        <p:spPr>
          <a:xfrm>
            <a:off x="6995160" y="2194560"/>
            <a:ext cx="1417320" cy="502920"/>
          </a:xfrm>
          <a:prstGeom prst="roundRect">
            <a:avLst>
              <a:gd name="adj" fmla="val 14545"/>
            </a:avLst>
          </a:prstGeom>
          <a:solidFill>
            <a:srgbClr val="FFFFFF"/>
          </a:solidFill>
          <a:ln w="19050">
            <a:solidFill>
              <a:srgbClr val="EF476F"/>
            </a:solidFill>
            <a:prstDash val="solid"/>
          </a:ln>
        </p:spPr>
        <p:txBody>
          <a:bodyPr/>
          <a:lstStyle/>
          <a:p>
            <a:endParaRPr/>
          </a:p>
        </p:txBody>
      </p:sp>
      <p:sp>
        <p:nvSpPr>
          <p:cNvPr id="24" name="Text 22"/>
          <p:cNvSpPr/>
          <p:nvPr/>
        </p:nvSpPr>
        <p:spPr>
          <a:xfrm>
            <a:off x="7104888" y="2322576"/>
            <a:ext cx="1197864" cy="283464"/>
          </a:xfrm>
          <a:prstGeom prst="rect">
            <a:avLst/>
          </a:prstGeom>
          <a:noFill/>
          <a:ln/>
        </p:spPr>
        <p:txBody>
          <a:bodyPr wrap="square" lIns="0" tIns="0" rIns="0" bIns="0" rtlCol="0" anchor="ctr">
            <a:normAutofit/>
          </a:bodyPr>
          <a:lstStyle/>
          <a:p>
            <a:pPr marL="0" indent="0" algn="ctr">
              <a:buNone/>
            </a:pPr>
            <a:r>
              <a:rPr lang="en-US" sz="1300" b="1" dirty="0">
                <a:solidFill>
                  <a:srgbClr val="102027"/>
                </a:solidFill>
              </a:rPr>
              <a:t>Worker 2</a:t>
            </a:r>
            <a:endParaRPr lang="en-US" sz="1300" dirty="0"/>
          </a:p>
        </p:txBody>
      </p:sp>
      <p:sp>
        <p:nvSpPr>
          <p:cNvPr id="25" name="Shape 23"/>
          <p:cNvSpPr/>
          <p:nvPr/>
        </p:nvSpPr>
        <p:spPr>
          <a:xfrm>
            <a:off x="6995160" y="2971800"/>
            <a:ext cx="1417320" cy="502920"/>
          </a:xfrm>
          <a:prstGeom prst="roundRect">
            <a:avLst>
              <a:gd name="adj" fmla="val 14545"/>
            </a:avLst>
          </a:prstGeom>
          <a:solidFill>
            <a:srgbClr val="FFFFFF"/>
          </a:solidFill>
          <a:ln w="19050">
            <a:solidFill>
              <a:srgbClr val="EF476F"/>
            </a:solidFill>
            <a:prstDash val="solid"/>
          </a:ln>
        </p:spPr>
        <p:txBody>
          <a:bodyPr/>
          <a:lstStyle/>
          <a:p>
            <a:endParaRPr/>
          </a:p>
        </p:txBody>
      </p:sp>
      <p:sp>
        <p:nvSpPr>
          <p:cNvPr id="26" name="Text 24"/>
          <p:cNvSpPr/>
          <p:nvPr/>
        </p:nvSpPr>
        <p:spPr>
          <a:xfrm>
            <a:off x="7104888" y="3099816"/>
            <a:ext cx="1197864" cy="283464"/>
          </a:xfrm>
          <a:prstGeom prst="rect">
            <a:avLst/>
          </a:prstGeom>
          <a:noFill/>
          <a:ln/>
        </p:spPr>
        <p:txBody>
          <a:bodyPr wrap="square" lIns="0" tIns="0" rIns="0" bIns="0" rtlCol="0" anchor="ctr">
            <a:normAutofit/>
          </a:bodyPr>
          <a:lstStyle/>
          <a:p>
            <a:pPr marL="0" indent="0" algn="ctr">
              <a:buNone/>
            </a:pPr>
            <a:r>
              <a:rPr lang="en-US" sz="1300" b="1" dirty="0">
                <a:solidFill>
                  <a:srgbClr val="102027"/>
                </a:solidFill>
              </a:rPr>
              <a:t>Worker 3</a:t>
            </a:r>
            <a:endParaRPr lang="en-US" sz="1300" dirty="0"/>
          </a:p>
        </p:txBody>
      </p:sp>
      <p:sp>
        <p:nvSpPr>
          <p:cNvPr id="27" name="Shape 25"/>
          <p:cNvSpPr/>
          <p:nvPr/>
        </p:nvSpPr>
        <p:spPr>
          <a:xfrm>
            <a:off x="8549640" y="1673352"/>
            <a:ext cx="914400" cy="0"/>
          </a:xfrm>
          <a:prstGeom prst="line">
            <a:avLst/>
          </a:prstGeom>
          <a:noFill/>
          <a:ln w="25400">
            <a:solidFill>
              <a:srgbClr val="06D6A0"/>
            </a:solidFill>
            <a:prstDash val="solid"/>
            <a:headEnd type="none"/>
            <a:tailEnd type="triangle"/>
          </a:ln>
        </p:spPr>
        <p:txBody>
          <a:bodyPr/>
          <a:lstStyle/>
          <a:p>
            <a:endParaRPr/>
          </a:p>
        </p:txBody>
      </p:sp>
      <p:sp>
        <p:nvSpPr>
          <p:cNvPr id="28" name="Shape 26"/>
          <p:cNvSpPr/>
          <p:nvPr/>
        </p:nvSpPr>
        <p:spPr>
          <a:xfrm>
            <a:off x="8549640" y="2450592"/>
            <a:ext cx="914400" cy="0"/>
          </a:xfrm>
          <a:prstGeom prst="line">
            <a:avLst/>
          </a:prstGeom>
          <a:noFill/>
          <a:ln w="25400">
            <a:solidFill>
              <a:srgbClr val="06D6A0"/>
            </a:solidFill>
            <a:prstDash val="solid"/>
            <a:headEnd type="none"/>
            <a:tailEnd type="triangle"/>
          </a:ln>
        </p:spPr>
        <p:txBody>
          <a:bodyPr/>
          <a:lstStyle/>
          <a:p>
            <a:endParaRPr/>
          </a:p>
        </p:txBody>
      </p:sp>
      <p:sp>
        <p:nvSpPr>
          <p:cNvPr id="29" name="Shape 27"/>
          <p:cNvSpPr/>
          <p:nvPr/>
        </p:nvSpPr>
        <p:spPr>
          <a:xfrm>
            <a:off x="8549640" y="3227832"/>
            <a:ext cx="914400" cy="0"/>
          </a:xfrm>
          <a:prstGeom prst="line">
            <a:avLst/>
          </a:prstGeom>
          <a:noFill/>
          <a:ln w="25400">
            <a:solidFill>
              <a:srgbClr val="06D6A0"/>
            </a:solidFill>
            <a:prstDash val="solid"/>
            <a:headEnd type="none"/>
            <a:tailEnd type="triangle"/>
          </a:ln>
        </p:spPr>
        <p:txBody>
          <a:bodyPr/>
          <a:lstStyle/>
          <a:p>
            <a:endParaRPr/>
          </a:p>
        </p:txBody>
      </p:sp>
      <p:sp>
        <p:nvSpPr>
          <p:cNvPr id="30" name="Shape 28"/>
          <p:cNvSpPr/>
          <p:nvPr/>
        </p:nvSpPr>
        <p:spPr>
          <a:xfrm>
            <a:off x="9601200" y="2057400"/>
            <a:ext cx="1554480" cy="914400"/>
          </a:xfrm>
          <a:prstGeom prst="roundRect">
            <a:avLst>
              <a:gd name="adj" fmla="val 8000"/>
            </a:avLst>
          </a:prstGeom>
          <a:solidFill>
            <a:srgbClr val="FFFFFF"/>
          </a:solidFill>
          <a:ln w="19050">
            <a:solidFill>
              <a:srgbClr val="06D6A0"/>
            </a:solidFill>
            <a:prstDash val="solid"/>
          </a:ln>
        </p:spPr>
        <p:txBody>
          <a:bodyPr/>
          <a:lstStyle/>
          <a:p>
            <a:endParaRPr/>
          </a:p>
        </p:txBody>
      </p:sp>
      <p:sp>
        <p:nvSpPr>
          <p:cNvPr id="31" name="Text 29"/>
          <p:cNvSpPr/>
          <p:nvPr/>
        </p:nvSpPr>
        <p:spPr>
          <a:xfrm>
            <a:off x="9710928" y="2185416"/>
            <a:ext cx="1335024" cy="694944"/>
          </a:xfrm>
          <a:prstGeom prst="rect">
            <a:avLst/>
          </a:prstGeom>
          <a:noFill/>
          <a:ln/>
        </p:spPr>
        <p:txBody>
          <a:bodyPr wrap="square" lIns="0" tIns="0" rIns="0" bIns="0" rtlCol="0" anchor="ctr">
            <a:normAutofit/>
          </a:bodyPr>
          <a:lstStyle/>
          <a:p>
            <a:pPr marL="0" indent="0" algn="ctr">
              <a:buNone/>
            </a:pPr>
            <a:r>
              <a:rPr lang="en-US" sz="1600" b="1" dirty="0">
                <a:solidFill>
                  <a:srgbClr val="102027"/>
                </a:solidFill>
              </a:rPr>
              <a:t>Results</a:t>
            </a:r>
            <a:endParaRPr lang="en-US" sz="1600" dirty="0"/>
          </a:p>
        </p:txBody>
      </p:sp>
      <p:sp>
        <p:nvSpPr>
          <p:cNvPr id="32" name="Shape 30"/>
          <p:cNvSpPr/>
          <p:nvPr/>
        </p:nvSpPr>
        <p:spPr>
          <a:xfrm>
            <a:off x="731520" y="4983480"/>
            <a:ext cx="3108960" cy="310896"/>
          </a:xfrm>
          <a:prstGeom prst="roundRect">
            <a:avLst>
              <a:gd name="adj" fmla="val 23529"/>
            </a:avLst>
          </a:prstGeom>
          <a:solidFill>
            <a:srgbClr val="16213E"/>
          </a:solidFill>
          <a:ln w="12700">
            <a:solidFill>
              <a:srgbClr val="16213E">
                <a:alpha val="0"/>
              </a:srgbClr>
            </a:solidFill>
            <a:prstDash val="solid"/>
          </a:ln>
        </p:spPr>
        <p:txBody>
          <a:bodyPr/>
          <a:lstStyle/>
          <a:p>
            <a:endParaRPr/>
          </a:p>
        </p:txBody>
      </p:sp>
      <p:sp>
        <p:nvSpPr>
          <p:cNvPr id="33" name="Text 31"/>
          <p:cNvSpPr/>
          <p:nvPr/>
        </p:nvSpPr>
        <p:spPr>
          <a:xfrm>
            <a:off x="804672" y="5061204"/>
            <a:ext cx="2962656" cy="137160"/>
          </a:xfrm>
          <a:prstGeom prst="rect">
            <a:avLst/>
          </a:prstGeom>
          <a:noFill/>
          <a:ln/>
        </p:spPr>
        <p:txBody>
          <a:bodyPr wrap="square" lIns="0" tIns="0" rIns="0" bIns="0" rtlCol="0" anchor="ctr"/>
          <a:lstStyle/>
          <a:p>
            <a:pPr marL="0" indent="0" algn="ctr">
              <a:buNone/>
            </a:pPr>
            <a:r>
              <a:rPr lang="en-US" sz="850" b="1" dirty="0">
                <a:solidFill>
                  <a:srgbClr val="FFFFFF"/>
                </a:solidFill>
              </a:rPr>
              <a:t>Fixed workers = bounded parallelism</a:t>
            </a:r>
            <a:endParaRPr lang="en-US" sz="850" dirty="0"/>
          </a:p>
        </p:txBody>
      </p:sp>
      <p:sp>
        <p:nvSpPr>
          <p:cNvPr id="34" name="Text 32"/>
          <p:cNvSpPr/>
          <p:nvPr/>
        </p:nvSpPr>
        <p:spPr>
          <a:xfrm>
            <a:off x="4069080" y="5056632"/>
            <a:ext cx="6035040" cy="256032"/>
          </a:xfrm>
          <a:prstGeom prst="rect">
            <a:avLst/>
          </a:prstGeom>
          <a:noFill/>
          <a:ln/>
        </p:spPr>
        <p:txBody>
          <a:bodyPr wrap="square" lIns="0" tIns="0" rIns="0" bIns="0" rtlCol="0" anchor="ctr">
            <a:normAutofit/>
          </a:bodyPr>
          <a:lstStyle/>
          <a:p>
            <a:pPr marL="0" indent="0">
              <a:buNone/>
            </a:pPr>
            <a:r>
              <a:rPr lang="en-US" sz="1000" dirty="0">
                <a:solidFill>
                  <a:srgbClr val="61727A"/>
                </a:solidFill>
              </a:rPr>
              <a:t>Even if there are 10 tasks, only 3 can be active at a time.</a:t>
            </a:r>
            <a:endParaRPr lang="en-US" sz="1000" dirty="0"/>
          </a:p>
        </p:txBody>
      </p:sp>
      <p:sp>
        <p:nvSpPr>
          <p:cNvPr id="36" name="Text 33"/>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F2"/>
          </a:solidFill>
          <a:ln w="12700">
            <a:solidFill>
              <a:srgbClr val="F8F7F2">
                <a:alpha val="0"/>
              </a:srgbClr>
            </a:solidFill>
            <a:prstDash val="solid"/>
          </a:ln>
        </p:spPr>
        <p:txBody>
          <a:bodyPr/>
          <a:lstStyle/>
          <a:p>
            <a:endParaRPr dirty="0"/>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r>
              <a:t>Worker Pool implementation code</a:t>
            </a:r>
          </a:p>
        </p:txBody>
      </p:sp>
      <p:sp>
        <p:nvSpPr>
          <p:cNvPr id="5" name="Text 3"/>
          <p:cNvSpPr/>
          <p:nvPr/>
        </p:nvSpPr>
        <p:spPr>
          <a:xfrm>
            <a:off x="512064" y="749808"/>
            <a:ext cx="8686800" cy="228600"/>
          </a:xfrm>
          <a:prstGeom prst="rect">
            <a:avLst/>
          </a:prstGeom>
          <a:noFill/>
          <a:ln/>
        </p:spPr>
        <p:txBody>
          <a:bodyPr wrap="square" lIns="0" tIns="0" rIns="0" bIns="0" rtlCol="0" anchor="ctr"/>
          <a:lstStyle/>
          <a:p>
            <a:pPr marL="0" indent="0">
              <a:buNone/>
            </a:pPr>
            <a:r>
              <a:rPr lang="en-US" sz="900" b="1" dirty="0">
                <a:solidFill>
                  <a:srgbClr val="61727A"/>
                </a:solidFill>
              </a:rPr>
              <a:t>PYTHON THREADPOOLEXECUTOR</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Shape 5"/>
          <p:cNvSpPr/>
          <p:nvPr/>
        </p:nvSpPr>
        <p:spPr>
          <a:xfrm>
            <a:off x="685800" y="1234440"/>
            <a:ext cx="5577840" cy="5074920"/>
          </a:xfrm>
          <a:prstGeom prst="roundRect">
            <a:avLst>
              <a:gd name="adj" fmla="val 721"/>
            </a:avLst>
          </a:prstGeom>
          <a:solidFill>
            <a:srgbClr val="0B1020"/>
          </a:solidFill>
          <a:ln w="12700">
            <a:solidFill>
              <a:srgbClr val="303B5C"/>
            </a:solidFill>
            <a:prstDash val="solid"/>
          </a:ln>
        </p:spPr>
        <p:txBody>
          <a:bodyPr/>
          <a:lstStyle/>
          <a:p>
            <a:endParaRPr/>
          </a:p>
        </p:txBody>
      </p:sp>
      <p:sp>
        <p:nvSpPr>
          <p:cNvPr id="8" name="Text 6"/>
          <p:cNvSpPr/>
          <p:nvPr/>
        </p:nvSpPr>
        <p:spPr>
          <a:xfrm>
            <a:off x="822960" y="1344168"/>
            <a:ext cx="5303520" cy="4855464"/>
          </a:xfrm>
          <a:prstGeom prst="rect">
            <a:avLst/>
          </a:prstGeom>
          <a:noFill/>
          <a:ln/>
        </p:spPr>
        <p:txBody>
          <a:bodyPr wrap="square" lIns="0" tIns="0" rIns="0" bIns="0" rtlCol="0" anchor="ctr">
            <a:normAutofit/>
          </a:bodyPr>
          <a:lstStyle/>
          <a:p>
            <a:pPr marL="0" indent="0">
              <a:buNone/>
            </a:pPr>
            <a:r>
              <a:rPr lang="en-US" sz="1020" dirty="0">
                <a:solidFill>
                  <a:srgbClr val="E6EDF3"/>
                </a:solidFill>
                <a:latin typeface="Consolas" pitchFamily="34" charset="0"/>
                <a:ea typeface="Consolas" pitchFamily="34" charset="-122"/>
                <a:cs typeface="Consolas" pitchFamily="34" charset="-120"/>
              </a:rPr>
              <a:t>import concurrent.futures</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import time</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POOL_SIZE = 3</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NUM_TASKS = 10</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def execute_task(task_id):</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print(f"Task {task_id} started")</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time.sleep(2)</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print(f"Task {task_id} finished")</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return f"Result {task_id}"</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def main():</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task_ids = range(1, NUM_TASKS + 1)</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with concurrent.futures.ThreadPoolExecutor(</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max_workers=POOL_SIZE) as executor:</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results = executor.map(execute_task, task_ids)</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print("All tasks completed")</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if __name__ == "__main__":</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main()</a:t>
            </a:r>
            <a:endParaRPr lang="en-US" sz="1020" dirty="0"/>
          </a:p>
        </p:txBody>
      </p:sp>
      <p:sp>
        <p:nvSpPr>
          <p:cNvPr id="9" name="Shape 7"/>
          <p:cNvSpPr/>
          <p:nvPr/>
        </p:nvSpPr>
        <p:spPr>
          <a:xfrm>
            <a:off x="6629400" y="1325880"/>
            <a:ext cx="4709160" cy="4069080"/>
          </a:xfrm>
          <a:prstGeom prst="roundRect">
            <a:avLst>
              <a:gd name="adj" fmla="val 1798"/>
            </a:avLst>
          </a:prstGeom>
          <a:solidFill>
            <a:srgbClr val="FFFFFF"/>
          </a:solidFill>
          <a:ln w="19050">
            <a:solidFill>
              <a:srgbClr val="40E0D0"/>
            </a:solidFill>
            <a:prstDash val="solid"/>
          </a:ln>
        </p:spPr>
        <p:txBody>
          <a:bodyPr/>
          <a:lstStyle/>
          <a:p>
            <a:endParaRPr/>
          </a:p>
        </p:txBody>
      </p:sp>
      <p:sp>
        <p:nvSpPr>
          <p:cNvPr id="10" name="Text 8"/>
          <p:cNvSpPr/>
          <p:nvPr/>
        </p:nvSpPr>
        <p:spPr>
          <a:xfrm>
            <a:off x="6739128" y="1453896"/>
            <a:ext cx="4489704" cy="3849624"/>
          </a:xfrm>
          <a:prstGeom prst="rect">
            <a:avLst/>
          </a:prstGeom>
          <a:noFill/>
          <a:ln/>
        </p:spPr>
        <p:txBody>
          <a:bodyPr wrap="square" lIns="0" tIns="0" rIns="0" bIns="0" rtlCol="0" anchor="ctr">
            <a:normAutofit/>
          </a:bodyPr>
          <a:lstStyle/>
          <a:p>
            <a:pPr marL="0" indent="0" algn="ctr">
              <a:buNone/>
            </a:pPr>
            <a:r>
              <a:rPr lang="en-US" sz="1700" dirty="0">
                <a:solidFill>
                  <a:srgbClr val="102027"/>
                </a:solidFill>
              </a:rPr>
              <a:t>Line-by-line meaning</a:t>
            </a:r>
            <a:endParaRPr lang="en-US" sz="1700" dirty="0"/>
          </a:p>
          <a:p>
            <a:pPr marL="0" indent="0" algn="ctr">
              <a:buNone/>
            </a:pPr>
            <a:endParaRPr lang="en-US" sz="1700" dirty="0"/>
          </a:p>
          <a:p>
            <a:pPr marL="0" indent="0" algn="ctr">
              <a:buNone/>
            </a:pPr>
            <a:r>
              <a:rPr lang="en-US" sz="1700" dirty="0">
                <a:solidFill>
                  <a:srgbClr val="102027"/>
                </a:solidFill>
              </a:rPr>
              <a:t>max_workers=3: create only 3 worker threads</a:t>
            </a:r>
            <a:endParaRPr lang="en-US" sz="1700" dirty="0"/>
          </a:p>
          <a:p>
            <a:pPr marL="0" indent="0" algn="ctr">
              <a:buNone/>
            </a:pPr>
            <a:endParaRPr lang="en-US" sz="1700" dirty="0"/>
          </a:p>
          <a:p>
            <a:pPr marL="0" indent="0" algn="ctr">
              <a:buNone/>
            </a:pPr>
            <a:r>
              <a:rPr lang="en-US" sz="1700" dirty="0">
                <a:solidFill>
                  <a:srgbClr val="102027"/>
                </a:solidFill>
              </a:rPr>
              <a:t>executor.map(...): put 10 tasks into executor queue</a:t>
            </a:r>
            <a:endParaRPr lang="en-US" sz="1700" dirty="0"/>
          </a:p>
          <a:p>
            <a:pPr marL="0" indent="0" algn="ctr">
              <a:buNone/>
            </a:pPr>
            <a:endParaRPr lang="en-US" sz="1700" dirty="0"/>
          </a:p>
          <a:p>
            <a:pPr marL="0" indent="0" algn="ctr">
              <a:buNone/>
            </a:pPr>
            <a:r>
              <a:rPr lang="en-US" sz="1700" dirty="0">
                <a:solidFill>
                  <a:srgbClr val="102027"/>
                </a:solidFill>
              </a:rPr>
              <a:t>time.sleep(2): simulates waiting work and releases the GIL</a:t>
            </a:r>
            <a:endParaRPr lang="en-US" sz="1700" dirty="0"/>
          </a:p>
          <a:p>
            <a:pPr marL="0" indent="0" algn="ctr">
              <a:buNone/>
            </a:pPr>
            <a:endParaRPr lang="en-US" sz="1700" dirty="0"/>
          </a:p>
          <a:p>
            <a:pPr marL="0" indent="0" algn="ctr">
              <a:buNone/>
            </a:pPr>
            <a:r>
              <a:rPr lang="en-US" sz="1700" dirty="0">
                <a:solidFill>
                  <a:srgbClr val="102027"/>
                </a:solidFill>
              </a:rPr>
              <a:t>with block: waits for all tasks, then shuts down cleanly</a:t>
            </a:r>
            <a:endParaRPr lang="en-US" sz="1700" dirty="0"/>
          </a:p>
        </p:txBody>
      </p:sp>
      <p:sp>
        <p:nvSpPr>
          <p:cNvPr id="14" name="Text 11"/>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F2"/>
          </a:solidFill>
          <a:ln w="12700">
            <a:solidFill>
              <a:srgbClr val="F8F7F2">
                <a:alpha val="0"/>
              </a:srgbClr>
            </a:solidFill>
            <a:prstDash val="solid"/>
          </a:ln>
        </p:spPr>
        <p:txBody>
          <a:bodyPr/>
          <a:lstStyle/>
          <a:p>
            <a:endParaRPr/>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Worker Pool execution timeline</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r>
              <a:rPr lang="en-US" sz="900" b="1" dirty="0">
                <a:solidFill>
                  <a:srgbClr val="61727A"/>
                </a:solidFill>
              </a:rPr>
              <a:t>WHY OUTPUT LOOKS MIXED</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Text 5"/>
          <p:cNvSpPr/>
          <p:nvPr/>
        </p:nvSpPr>
        <p:spPr>
          <a:xfrm>
            <a:off x="685800" y="1417320"/>
            <a:ext cx="822960" cy="201168"/>
          </a:xfrm>
          <a:prstGeom prst="rect">
            <a:avLst/>
          </a:prstGeom>
          <a:noFill/>
          <a:ln/>
        </p:spPr>
        <p:txBody>
          <a:bodyPr wrap="square" lIns="0" tIns="0" rIns="0" bIns="0" rtlCol="0" anchor="ctr">
            <a:normAutofit/>
          </a:bodyPr>
          <a:lstStyle/>
          <a:p>
            <a:pPr marL="0" indent="0">
              <a:buNone/>
            </a:pPr>
            <a:r>
              <a:rPr lang="en-US" sz="1000" dirty="0">
                <a:solidFill>
                  <a:srgbClr val="61727A"/>
                </a:solidFill>
              </a:rPr>
              <a:t>Worker 1</a:t>
            </a:r>
            <a:endParaRPr lang="en-US" sz="1000" dirty="0"/>
          </a:p>
        </p:txBody>
      </p:sp>
      <p:sp>
        <p:nvSpPr>
          <p:cNvPr id="8" name="Shape 6"/>
          <p:cNvSpPr/>
          <p:nvPr/>
        </p:nvSpPr>
        <p:spPr>
          <a:xfrm>
            <a:off x="1508760" y="1508760"/>
            <a:ext cx="9418320" cy="0"/>
          </a:xfrm>
          <a:prstGeom prst="line">
            <a:avLst/>
          </a:prstGeom>
          <a:noFill/>
          <a:ln w="12700">
            <a:solidFill>
              <a:srgbClr val="D3DDDD"/>
            </a:solidFill>
            <a:prstDash val="solid"/>
          </a:ln>
        </p:spPr>
        <p:txBody>
          <a:bodyPr/>
          <a:lstStyle/>
          <a:p>
            <a:endParaRPr/>
          </a:p>
        </p:txBody>
      </p:sp>
      <p:sp>
        <p:nvSpPr>
          <p:cNvPr id="9" name="Text 7"/>
          <p:cNvSpPr/>
          <p:nvPr/>
        </p:nvSpPr>
        <p:spPr>
          <a:xfrm>
            <a:off x="685800" y="2423160"/>
            <a:ext cx="822960" cy="201168"/>
          </a:xfrm>
          <a:prstGeom prst="rect">
            <a:avLst/>
          </a:prstGeom>
          <a:noFill/>
          <a:ln/>
        </p:spPr>
        <p:txBody>
          <a:bodyPr wrap="square" lIns="0" tIns="0" rIns="0" bIns="0" rtlCol="0" anchor="ctr">
            <a:normAutofit/>
          </a:bodyPr>
          <a:lstStyle/>
          <a:p>
            <a:pPr marL="0" indent="0">
              <a:buNone/>
            </a:pPr>
            <a:r>
              <a:rPr lang="en-US" sz="1000" dirty="0">
                <a:solidFill>
                  <a:srgbClr val="61727A"/>
                </a:solidFill>
              </a:rPr>
              <a:t>Worker 2</a:t>
            </a:r>
            <a:endParaRPr lang="en-US" sz="1000" dirty="0"/>
          </a:p>
        </p:txBody>
      </p:sp>
      <p:sp>
        <p:nvSpPr>
          <p:cNvPr id="10" name="Shape 8"/>
          <p:cNvSpPr/>
          <p:nvPr/>
        </p:nvSpPr>
        <p:spPr>
          <a:xfrm>
            <a:off x="1508760" y="2514600"/>
            <a:ext cx="9418320" cy="0"/>
          </a:xfrm>
          <a:prstGeom prst="line">
            <a:avLst/>
          </a:prstGeom>
          <a:noFill/>
          <a:ln w="12700">
            <a:solidFill>
              <a:srgbClr val="D3DDDD"/>
            </a:solidFill>
            <a:prstDash val="solid"/>
          </a:ln>
        </p:spPr>
        <p:txBody>
          <a:bodyPr/>
          <a:lstStyle/>
          <a:p>
            <a:endParaRPr/>
          </a:p>
        </p:txBody>
      </p:sp>
      <p:sp>
        <p:nvSpPr>
          <p:cNvPr id="11" name="Text 9"/>
          <p:cNvSpPr/>
          <p:nvPr/>
        </p:nvSpPr>
        <p:spPr>
          <a:xfrm>
            <a:off x="685800" y="3429000"/>
            <a:ext cx="822960" cy="201168"/>
          </a:xfrm>
          <a:prstGeom prst="rect">
            <a:avLst/>
          </a:prstGeom>
          <a:noFill/>
          <a:ln/>
        </p:spPr>
        <p:txBody>
          <a:bodyPr wrap="square" lIns="0" tIns="0" rIns="0" bIns="0" rtlCol="0" anchor="ctr">
            <a:normAutofit/>
          </a:bodyPr>
          <a:lstStyle/>
          <a:p>
            <a:pPr marL="0" indent="0">
              <a:buNone/>
            </a:pPr>
            <a:r>
              <a:rPr lang="en-US" sz="1000" dirty="0">
                <a:solidFill>
                  <a:srgbClr val="61727A"/>
                </a:solidFill>
              </a:rPr>
              <a:t>Worker 3</a:t>
            </a:r>
            <a:endParaRPr lang="en-US" sz="1000" dirty="0"/>
          </a:p>
        </p:txBody>
      </p:sp>
      <p:sp>
        <p:nvSpPr>
          <p:cNvPr id="12" name="Shape 10"/>
          <p:cNvSpPr/>
          <p:nvPr/>
        </p:nvSpPr>
        <p:spPr>
          <a:xfrm>
            <a:off x="1508760" y="3520440"/>
            <a:ext cx="9418320" cy="0"/>
          </a:xfrm>
          <a:prstGeom prst="line">
            <a:avLst/>
          </a:prstGeom>
          <a:noFill/>
          <a:ln w="12700">
            <a:solidFill>
              <a:srgbClr val="D3DDDD"/>
            </a:solidFill>
            <a:prstDash val="solid"/>
          </a:ln>
        </p:spPr>
        <p:txBody>
          <a:bodyPr/>
          <a:lstStyle/>
          <a:p>
            <a:endParaRPr/>
          </a:p>
        </p:txBody>
      </p:sp>
      <p:sp>
        <p:nvSpPr>
          <p:cNvPr id="13" name="Shape 11"/>
          <p:cNvSpPr/>
          <p:nvPr/>
        </p:nvSpPr>
        <p:spPr>
          <a:xfrm>
            <a:off x="1600200" y="1280160"/>
            <a:ext cx="1828800" cy="384048"/>
          </a:xfrm>
          <a:prstGeom prst="roundRect">
            <a:avLst>
              <a:gd name="adj" fmla="val 11905"/>
            </a:avLst>
          </a:prstGeom>
          <a:solidFill>
            <a:srgbClr val="0F4C81"/>
          </a:solidFill>
          <a:ln w="12700">
            <a:solidFill>
              <a:srgbClr val="0F4C81">
                <a:alpha val="0"/>
              </a:srgbClr>
            </a:solidFill>
            <a:prstDash val="solid"/>
          </a:ln>
        </p:spPr>
        <p:txBody>
          <a:bodyPr/>
          <a:lstStyle/>
          <a:p>
            <a:endParaRPr/>
          </a:p>
        </p:txBody>
      </p:sp>
      <p:sp>
        <p:nvSpPr>
          <p:cNvPr id="14" name="Text 12"/>
          <p:cNvSpPr/>
          <p:nvPr/>
        </p:nvSpPr>
        <p:spPr>
          <a:xfrm>
            <a:off x="1645920" y="138074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1 sleep</a:t>
            </a:r>
            <a:endParaRPr lang="en-US" sz="850" dirty="0"/>
          </a:p>
        </p:txBody>
      </p:sp>
      <p:sp>
        <p:nvSpPr>
          <p:cNvPr id="15" name="Shape 13"/>
          <p:cNvSpPr/>
          <p:nvPr/>
        </p:nvSpPr>
        <p:spPr>
          <a:xfrm>
            <a:off x="3611880" y="1280160"/>
            <a:ext cx="1828800" cy="384048"/>
          </a:xfrm>
          <a:prstGeom prst="roundRect">
            <a:avLst>
              <a:gd name="adj" fmla="val 11905"/>
            </a:avLst>
          </a:prstGeom>
          <a:solidFill>
            <a:srgbClr val="0F4C81"/>
          </a:solidFill>
          <a:ln w="12700">
            <a:solidFill>
              <a:srgbClr val="0F4C81">
                <a:alpha val="0"/>
              </a:srgbClr>
            </a:solidFill>
            <a:prstDash val="solid"/>
          </a:ln>
        </p:spPr>
        <p:txBody>
          <a:bodyPr/>
          <a:lstStyle/>
          <a:p>
            <a:endParaRPr/>
          </a:p>
        </p:txBody>
      </p:sp>
      <p:sp>
        <p:nvSpPr>
          <p:cNvPr id="16" name="Text 14"/>
          <p:cNvSpPr/>
          <p:nvPr/>
        </p:nvSpPr>
        <p:spPr>
          <a:xfrm>
            <a:off x="3657600" y="138074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4 sleep</a:t>
            </a:r>
            <a:endParaRPr lang="en-US" sz="850" dirty="0"/>
          </a:p>
        </p:txBody>
      </p:sp>
      <p:sp>
        <p:nvSpPr>
          <p:cNvPr id="17" name="Shape 15"/>
          <p:cNvSpPr/>
          <p:nvPr/>
        </p:nvSpPr>
        <p:spPr>
          <a:xfrm>
            <a:off x="5623560" y="1280160"/>
            <a:ext cx="1828800" cy="384048"/>
          </a:xfrm>
          <a:prstGeom prst="roundRect">
            <a:avLst>
              <a:gd name="adj" fmla="val 11905"/>
            </a:avLst>
          </a:prstGeom>
          <a:solidFill>
            <a:srgbClr val="0F4C81"/>
          </a:solidFill>
          <a:ln w="12700">
            <a:solidFill>
              <a:srgbClr val="0F4C81">
                <a:alpha val="0"/>
              </a:srgbClr>
            </a:solidFill>
            <a:prstDash val="solid"/>
          </a:ln>
        </p:spPr>
        <p:txBody>
          <a:bodyPr/>
          <a:lstStyle/>
          <a:p>
            <a:endParaRPr/>
          </a:p>
        </p:txBody>
      </p:sp>
      <p:sp>
        <p:nvSpPr>
          <p:cNvPr id="18" name="Text 16"/>
          <p:cNvSpPr/>
          <p:nvPr/>
        </p:nvSpPr>
        <p:spPr>
          <a:xfrm>
            <a:off x="5669280" y="138074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7 sleep</a:t>
            </a:r>
            <a:endParaRPr lang="en-US" sz="850" dirty="0"/>
          </a:p>
        </p:txBody>
      </p:sp>
      <p:sp>
        <p:nvSpPr>
          <p:cNvPr id="19" name="Shape 17"/>
          <p:cNvSpPr/>
          <p:nvPr/>
        </p:nvSpPr>
        <p:spPr>
          <a:xfrm>
            <a:off x="7635240" y="1280160"/>
            <a:ext cx="1554480" cy="384048"/>
          </a:xfrm>
          <a:prstGeom prst="roundRect">
            <a:avLst>
              <a:gd name="adj" fmla="val 11905"/>
            </a:avLst>
          </a:prstGeom>
          <a:solidFill>
            <a:srgbClr val="0F4C81"/>
          </a:solidFill>
          <a:ln w="12700">
            <a:solidFill>
              <a:srgbClr val="0F4C81">
                <a:alpha val="0"/>
              </a:srgbClr>
            </a:solidFill>
            <a:prstDash val="solid"/>
          </a:ln>
        </p:spPr>
        <p:txBody>
          <a:bodyPr/>
          <a:lstStyle/>
          <a:p>
            <a:endParaRPr/>
          </a:p>
        </p:txBody>
      </p:sp>
      <p:sp>
        <p:nvSpPr>
          <p:cNvPr id="20" name="Text 18"/>
          <p:cNvSpPr/>
          <p:nvPr/>
        </p:nvSpPr>
        <p:spPr>
          <a:xfrm>
            <a:off x="7680960" y="1380744"/>
            <a:ext cx="146304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10</a:t>
            </a:r>
            <a:endParaRPr lang="en-US" sz="850" dirty="0"/>
          </a:p>
        </p:txBody>
      </p:sp>
      <p:sp>
        <p:nvSpPr>
          <p:cNvPr id="21" name="Shape 19"/>
          <p:cNvSpPr/>
          <p:nvPr/>
        </p:nvSpPr>
        <p:spPr>
          <a:xfrm>
            <a:off x="1600200" y="2286000"/>
            <a:ext cx="1828800" cy="384048"/>
          </a:xfrm>
          <a:prstGeom prst="roundRect">
            <a:avLst>
              <a:gd name="adj" fmla="val 11905"/>
            </a:avLst>
          </a:prstGeom>
          <a:solidFill>
            <a:srgbClr val="EF476F"/>
          </a:solidFill>
          <a:ln w="12700">
            <a:solidFill>
              <a:srgbClr val="EF476F">
                <a:alpha val="0"/>
              </a:srgbClr>
            </a:solidFill>
            <a:prstDash val="solid"/>
          </a:ln>
        </p:spPr>
        <p:txBody>
          <a:bodyPr/>
          <a:lstStyle/>
          <a:p>
            <a:endParaRPr/>
          </a:p>
        </p:txBody>
      </p:sp>
      <p:sp>
        <p:nvSpPr>
          <p:cNvPr id="22" name="Text 20"/>
          <p:cNvSpPr/>
          <p:nvPr/>
        </p:nvSpPr>
        <p:spPr>
          <a:xfrm>
            <a:off x="1645920" y="238658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2 sleep</a:t>
            </a:r>
            <a:endParaRPr lang="en-US" sz="850" dirty="0"/>
          </a:p>
        </p:txBody>
      </p:sp>
      <p:sp>
        <p:nvSpPr>
          <p:cNvPr id="23" name="Shape 21"/>
          <p:cNvSpPr/>
          <p:nvPr/>
        </p:nvSpPr>
        <p:spPr>
          <a:xfrm>
            <a:off x="3611880" y="2286000"/>
            <a:ext cx="1828800" cy="384048"/>
          </a:xfrm>
          <a:prstGeom prst="roundRect">
            <a:avLst>
              <a:gd name="adj" fmla="val 11905"/>
            </a:avLst>
          </a:prstGeom>
          <a:solidFill>
            <a:srgbClr val="EF476F"/>
          </a:solidFill>
          <a:ln w="12700">
            <a:solidFill>
              <a:srgbClr val="EF476F">
                <a:alpha val="0"/>
              </a:srgbClr>
            </a:solidFill>
            <a:prstDash val="solid"/>
          </a:ln>
        </p:spPr>
        <p:txBody>
          <a:bodyPr/>
          <a:lstStyle/>
          <a:p>
            <a:endParaRPr/>
          </a:p>
        </p:txBody>
      </p:sp>
      <p:sp>
        <p:nvSpPr>
          <p:cNvPr id="24" name="Text 22"/>
          <p:cNvSpPr/>
          <p:nvPr/>
        </p:nvSpPr>
        <p:spPr>
          <a:xfrm>
            <a:off x="3657600" y="238658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5 sleep</a:t>
            </a:r>
            <a:endParaRPr lang="en-US" sz="850" dirty="0"/>
          </a:p>
        </p:txBody>
      </p:sp>
      <p:sp>
        <p:nvSpPr>
          <p:cNvPr id="25" name="Shape 23"/>
          <p:cNvSpPr/>
          <p:nvPr/>
        </p:nvSpPr>
        <p:spPr>
          <a:xfrm>
            <a:off x="5623560" y="2286000"/>
            <a:ext cx="1828800" cy="384048"/>
          </a:xfrm>
          <a:prstGeom prst="roundRect">
            <a:avLst>
              <a:gd name="adj" fmla="val 11905"/>
            </a:avLst>
          </a:prstGeom>
          <a:solidFill>
            <a:srgbClr val="EF476F"/>
          </a:solidFill>
          <a:ln w="12700">
            <a:solidFill>
              <a:srgbClr val="EF476F">
                <a:alpha val="0"/>
              </a:srgbClr>
            </a:solidFill>
            <a:prstDash val="solid"/>
          </a:ln>
        </p:spPr>
        <p:txBody>
          <a:bodyPr/>
          <a:lstStyle/>
          <a:p>
            <a:endParaRPr/>
          </a:p>
        </p:txBody>
      </p:sp>
      <p:sp>
        <p:nvSpPr>
          <p:cNvPr id="26" name="Text 24"/>
          <p:cNvSpPr/>
          <p:nvPr/>
        </p:nvSpPr>
        <p:spPr>
          <a:xfrm>
            <a:off x="5669280" y="238658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8 sleep</a:t>
            </a:r>
            <a:endParaRPr lang="en-US" sz="850" dirty="0"/>
          </a:p>
        </p:txBody>
      </p:sp>
      <p:sp>
        <p:nvSpPr>
          <p:cNvPr id="27" name="Shape 25"/>
          <p:cNvSpPr/>
          <p:nvPr/>
        </p:nvSpPr>
        <p:spPr>
          <a:xfrm>
            <a:off x="1600200" y="3291840"/>
            <a:ext cx="1828800" cy="384048"/>
          </a:xfrm>
          <a:prstGeom prst="roundRect">
            <a:avLst>
              <a:gd name="adj" fmla="val 11905"/>
            </a:avLst>
          </a:prstGeom>
          <a:solidFill>
            <a:srgbClr val="06D6A0"/>
          </a:solidFill>
          <a:ln w="12700">
            <a:solidFill>
              <a:srgbClr val="06D6A0">
                <a:alpha val="0"/>
              </a:srgbClr>
            </a:solidFill>
            <a:prstDash val="solid"/>
          </a:ln>
        </p:spPr>
        <p:txBody>
          <a:bodyPr/>
          <a:lstStyle/>
          <a:p>
            <a:endParaRPr/>
          </a:p>
        </p:txBody>
      </p:sp>
      <p:sp>
        <p:nvSpPr>
          <p:cNvPr id="28" name="Text 26"/>
          <p:cNvSpPr/>
          <p:nvPr/>
        </p:nvSpPr>
        <p:spPr>
          <a:xfrm>
            <a:off x="1645920" y="339242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3 sleep</a:t>
            </a:r>
            <a:endParaRPr lang="en-US" sz="850" dirty="0"/>
          </a:p>
        </p:txBody>
      </p:sp>
      <p:sp>
        <p:nvSpPr>
          <p:cNvPr id="29" name="Shape 27"/>
          <p:cNvSpPr/>
          <p:nvPr/>
        </p:nvSpPr>
        <p:spPr>
          <a:xfrm>
            <a:off x="3611880" y="3291840"/>
            <a:ext cx="1828800" cy="384048"/>
          </a:xfrm>
          <a:prstGeom prst="roundRect">
            <a:avLst>
              <a:gd name="adj" fmla="val 11905"/>
            </a:avLst>
          </a:prstGeom>
          <a:solidFill>
            <a:srgbClr val="06D6A0"/>
          </a:solidFill>
          <a:ln w="12700">
            <a:solidFill>
              <a:srgbClr val="06D6A0">
                <a:alpha val="0"/>
              </a:srgbClr>
            </a:solidFill>
            <a:prstDash val="solid"/>
          </a:ln>
        </p:spPr>
        <p:txBody>
          <a:bodyPr/>
          <a:lstStyle/>
          <a:p>
            <a:endParaRPr/>
          </a:p>
        </p:txBody>
      </p:sp>
      <p:sp>
        <p:nvSpPr>
          <p:cNvPr id="30" name="Text 28"/>
          <p:cNvSpPr/>
          <p:nvPr/>
        </p:nvSpPr>
        <p:spPr>
          <a:xfrm>
            <a:off x="3657600" y="339242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6 sleep</a:t>
            </a:r>
            <a:endParaRPr lang="en-US" sz="850" dirty="0"/>
          </a:p>
        </p:txBody>
      </p:sp>
      <p:sp>
        <p:nvSpPr>
          <p:cNvPr id="31" name="Shape 29"/>
          <p:cNvSpPr/>
          <p:nvPr/>
        </p:nvSpPr>
        <p:spPr>
          <a:xfrm>
            <a:off x="5623560" y="3291840"/>
            <a:ext cx="1828800" cy="384048"/>
          </a:xfrm>
          <a:prstGeom prst="roundRect">
            <a:avLst>
              <a:gd name="adj" fmla="val 11905"/>
            </a:avLst>
          </a:prstGeom>
          <a:solidFill>
            <a:srgbClr val="06D6A0"/>
          </a:solidFill>
          <a:ln w="12700">
            <a:solidFill>
              <a:srgbClr val="06D6A0">
                <a:alpha val="0"/>
              </a:srgbClr>
            </a:solidFill>
            <a:prstDash val="solid"/>
          </a:ln>
        </p:spPr>
        <p:txBody>
          <a:bodyPr/>
          <a:lstStyle/>
          <a:p>
            <a:endParaRPr/>
          </a:p>
        </p:txBody>
      </p:sp>
      <p:sp>
        <p:nvSpPr>
          <p:cNvPr id="32" name="Text 30"/>
          <p:cNvSpPr/>
          <p:nvPr/>
        </p:nvSpPr>
        <p:spPr>
          <a:xfrm>
            <a:off x="5669280" y="3392424"/>
            <a:ext cx="1737360" cy="13716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rPr>
              <a:t>Task 9 sleep</a:t>
            </a:r>
            <a:endParaRPr lang="en-US" sz="850" dirty="0"/>
          </a:p>
        </p:txBody>
      </p:sp>
      <p:sp>
        <p:nvSpPr>
          <p:cNvPr id="33" name="Text 31"/>
          <p:cNvSpPr/>
          <p:nvPr/>
        </p:nvSpPr>
        <p:spPr>
          <a:xfrm>
            <a:off x="1097280" y="4572000"/>
            <a:ext cx="9966960" cy="320040"/>
          </a:xfrm>
          <a:prstGeom prst="rect">
            <a:avLst/>
          </a:prstGeom>
          <a:noFill/>
          <a:ln/>
        </p:spPr>
        <p:txBody>
          <a:bodyPr wrap="square" lIns="0" tIns="0" rIns="0" bIns="0" rtlCol="0" anchor="ctr">
            <a:normAutofit/>
          </a:bodyPr>
          <a:lstStyle/>
          <a:p>
            <a:pPr marL="0" indent="0">
              <a:buNone/>
            </a:pPr>
            <a:r>
              <a:rPr lang="en-US" sz="1000" dirty="0">
                <a:solidFill>
                  <a:srgbClr val="61727A"/>
                </a:solidFill>
              </a:rPr>
              <a:t>Only 3 active tasks at once. When a task finishes sleeping, its worker grabs the next task from the queue.</a:t>
            </a:r>
            <a:endParaRPr lang="en-US" sz="1000" dirty="0"/>
          </a:p>
        </p:txBody>
      </p:sp>
      <p:sp>
        <p:nvSpPr>
          <p:cNvPr id="34" name="Shape 32"/>
          <p:cNvSpPr/>
          <p:nvPr/>
        </p:nvSpPr>
        <p:spPr>
          <a:xfrm>
            <a:off x="2926080" y="5257800"/>
            <a:ext cx="6355080" cy="685800"/>
          </a:xfrm>
          <a:prstGeom prst="roundRect">
            <a:avLst>
              <a:gd name="adj" fmla="val 10667"/>
            </a:avLst>
          </a:prstGeom>
          <a:solidFill>
            <a:srgbClr val="FFFFFF"/>
          </a:solidFill>
          <a:ln w="19050">
            <a:solidFill>
              <a:srgbClr val="FFD166"/>
            </a:solidFill>
            <a:prstDash val="solid"/>
          </a:ln>
        </p:spPr>
        <p:txBody>
          <a:bodyPr/>
          <a:lstStyle/>
          <a:p>
            <a:endParaRPr/>
          </a:p>
        </p:txBody>
      </p:sp>
      <p:sp>
        <p:nvSpPr>
          <p:cNvPr id="35" name="Text 33"/>
          <p:cNvSpPr/>
          <p:nvPr/>
        </p:nvSpPr>
        <p:spPr>
          <a:xfrm>
            <a:off x="3035808" y="5385816"/>
            <a:ext cx="6135624" cy="466344"/>
          </a:xfrm>
          <a:prstGeom prst="rect">
            <a:avLst/>
          </a:prstGeom>
          <a:noFill/>
          <a:ln/>
        </p:spPr>
        <p:txBody>
          <a:bodyPr wrap="square" lIns="0" tIns="0" rIns="0" bIns="0" rtlCol="0" anchor="ctr">
            <a:normAutofit fontScale="62500" lnSpcReduction="20000"/>
          </a:bodyPr>
          <a:lstStyle/>
          <a:p>
            <a:r>
              <a:t>Simple analogy:</a:t>
            </a:r>
          </a:p>
          <a:p>
            <a:r>
              <a:t>"The pool is like 3 chefs cooking 10 orders. Orders wait, but the number of chefs stays fixed."</a:t>
            </a:r>
          </a:p>
        </p:txBody>
      </p:sp>
      <p:sp>
        <p:nvSpPr>
          <p:cNvPr id="37" name="Text 34"/>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228600" y="228601"/>
            <a:ext cx="11704320" cy="502920"/>
          </a:xfrm>
          <a:prstGeom prst="rect">
            <a:avLst/>
          </a:prstGeom>
          <a:noFill/>
        </p:spPr>
        <p:txBody>
          <a:bodyPr wrap="none">
            <a:spAutoFit/>
          </a:bodyPr>
          <a:lstStyle/>
          <a:p>
            <a:r>
              <a:rPr sz="2800" b="1" dirty="0">
                <a:solidFill>
                  <a:srgbClr val="12222A"/>
                </a:solidFill>
              </a:rPr>
              <a:t>Worker Pool: from Python code to CPU execution</a:t>
            </a:r>
          </a:p>
        </p:txBody>
      </p:sp>
      <p:sp>
        <p:nvSpPr>
          <p:cNvPr id="3" name="TextBox 2"/>
          <p:cNvSpPr txBox="1"/>
          <p:nvPr/>
        </p:nvSpPr>
        <p:spPr>
          <a:xfrm>
            <a:off x="228600" y="749808"/>
            <a:ext cx="3657600" cy="228600"/>
          </a:xfrm>
          <a:prstGeom prst="rect">
            <a:avLst/>
          </a:prstGeom>
          <a:noFill/>
        </p:spPr>
        <p:txBody>
          <a:bodyPr wrap="none">
            <a:spAutoFit/>
          </a:bodyPr>
          <a:lstStyle/>
          <a:p>
            <a:r>
              <a:rPr sz="900" b="1">
                <a:solidFill>
                  <a:srgbClr val="596F79"/>
                </a:solidFill>
              </a:rPr>
              <a:t>INSIDE-THE-HOOD FLOW</a:t>
            </a:r>
          </a:p>
        </p:txBody>
      </p:sp>
      <p:cxnSp>
        <p:nvCxnSpPr>
          <p:cNvPr id="4" name="Connector 3"/>
          <p:cNvCxnSpPr/>
          <p:nvPr/>
        </p:nvCxnSpPr>
        <p:spPr>
          <a:xfrm>
            <a:off x="228600" y="960120"/>
            <a:ext cx="11704320" cy="0"/>
          </a:xfrm>
          <a:prstGeom prst="line">
            <a:avLst/>
          </a:prstGeom>
          <a:ln w="12700">
            <a:solidFill>
              <a:srgbClr val="DCE6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11480" y="1298448"/>
            <a:ext cx="2514600" cy="1234440"/>
          </a:xfrm>
          <a:prstGeom prst="roundRect">
            <a:avLst/>
          </a:prstGeom>
          <a:solidFill>
            <a:srgbClr val="FFFFFF"/>
          </a:solidFill>
          <a:ln w="20320">
            <a:solidFill>
              <a:srgbClr val="084E7E"/>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300" b="1">
                <a:solidFill>
                  <a:srgbClr val="12222A"/>
                </a:solidFill>
              </a:rPr>
              <a:t>1. Main code</a:t>
            </a:r>
          </a:p>
          <a:p>
            <a:pPr algn="ctr">
              <a:spcBef>
                <a:spcPts val="400"/>
              </a:spcBef>
            </a:pPr>
            <a:r>
              <a:rPr sz="819">
                <a:solidFill>
                  <a:srgbClr val="12222A"/>
                </a:solidFill>
              </a:rPr>
              <a:t>ThreadPoolExecutor(max_workers=3) creates a pool and receives 10 tasks.</a:t>
            </a:r>
          </a:p>
        </p:txBody>
      </p:sp>
      <p:sp>
        <p:nvSpPr>
          <p:cNvPr id="6" name="Rounded Rectangle 5"/>
          <p:cNvSpPr/>
          <p:nvPr/>
        </p:nvSpPr>
        <p:spPr>
          <a:xfrm>
            <a:off x="3337560" y="1298448"/>
            <a:ext cx="2514600" cy="1234440"/>
          </a:xfrm>
          <a:prstGeom prst="roundRect">
            <a:avLst/>
          </a:prstGeom>
          <a:solidFill>
            <a:srgbClr val="FFFFFF"/>
          </a:solidFill>
          <a:ln w="20320">
            <a:solidFill>
              <a:srgbClr val="FF407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300" b="1">
                <a:solidFill>
                  <a:srgbClr val="12222A"/>
                </a:solidFill>
              </a:rPr>
              <a:t>2. Executor queue</a:t>
            </a:r>
          </a:p>
          <a:p>
            <a:pPr algn="ctr">
              <a:spcBef>
                <a:spcPts val="400"/>
              </a:spcBef>
            </a:pPr>
            <a:r>
              <a:rPr sz="819">
                <a:solidFill>
                  <a:srgbClr val="12222A"/>
                </a:solidFill>
              </a:rPr>
              <a:t>Extra tasks wait inside the executor queue until a worker is free.</a:t>
            </a:r>
          </a:p>
        </p:txBody>
      </p:sp>
      <p:sp>
        <p:nvSpPr>
          <p:cNvPr id="7" name="Rounded Rectangle 6"/>
          <p:cNvSpPr/>
          <p:nvPr/>
        </p:nvSpPr>
        <p:spPr>
          <a:xfrm>
            <a:off x="6263640" y="1298448"/>
            <a:ext cx="2514600" cy="1234440"/>
          </a:xfrm>
          <a:prstGeom prst="roundRect">
            <a:avLst/>
          </a:prstGeom>
          <a:solidFill>
            <a:srgbClr val="FFFFFF"/>
          </a:solidFill>
          <a:ln w="20320">
            <a:solidFill>
              <a:srgbClr val="00BE91"/>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300" b="1">
                <a:solidFill>
                  <a:srgbClr val="12222A"/>
                </a:solidFill>
              </a:rPr>
              <a:t>3. Worker thread</a:t>
            </a:r>
          </a:p>
          <a:p>
            <a:pPr algn="ctr">
              <a:spcBef>
                <a:spcPts val="400"/>
              </a:spcBef>
            </a:pPr>
            <a:r>
              <a:rPr sz="819">
                <a:solidFill>
                  <a:srgbClr val="12222A"/>
                </a:solidFill>
              </a:rPr>
              <a:t>A worker takes one task and starts execute_task(task_id).</a:t>
            </a:r>
          </a:p>
        </p:txBody>
      </p:sp>
      <p:sp>
        <p:nvSpPr>
          <p:cNvPr id="8" name="Rounded Rectangle 7"/>
          <p:cNvSpPr/>
          <p:nvPr/>
        </p:nvSpPr>
        <p:spPr>
          <a:xfrm>
            <a:off x="9189720" y="1298448"/>
            <a:ext cx="2514600" cy="1234440"/>
          </a:xfrm>
          <a:prstGeom prst="roundRect">
            <a:avLst/>
          </a:prstGeom>
          <a:solidFill>
            <a:srgbClr val="FFFFFF"/>
          </a:solidFill>
          <a:ln w="20320">
            <a:solidFill>
              <a:srgbClr val="7469FF"/>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300" b="1">
                <a:solidFill>
                  <a:srgbClr val="12222A"/>
                </a:solidFill>
              </a:rPr>
              <a:t>4. GIL permission</a:t>
            </a:r>
          </a:p>
          <a:p>
            <a:pPr algn="ctr">
              <a:spcBef>
                <a:spcPts val="400"/>
              </a:spcBef>
            </a:pPr>
            <a:r>
              <a:rPr sz="819">
                <a:solidFill>
                  <a:srgbClr val="12222A"/>
                </a:solidFill>
              </a:rPr>
              <a:t>CPython lets one thread at a time execute Python bytecode.</a:t>
            </a:r>
          </a:p>
        </p:txBody>
      </p:sp>
      <p:sp>
        <p:nvSpPr>
          <p:cNvPr id="9" name="Rounded Rectangle 8"/>
          <p:cNvSpPr/>
          <p:nvPr/>
        </p:nvSpPr>
        <p:spPr>
          <a:xfrm>
            <a:off x="9189720" y="3703320"/>
            <a:ext cx="2514600" cy="1234440"/>
          </a:xfrm>
          <a:prstGeom prst="roundRect">
            <a:avLst/>
          </a:prstGeom>
          <a:solidFill>
            <a:srgbClr val="FFFFFF"/>
          </a:solidFill>
          <a:ln w="20320">
            <a:solidFill>
              <a:srgbClr val="084E7E"/>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300" b="1">
                <a:solidFill>
                  <a:srgbClr val="12222A"/>
                </a:solidFill>
              </a:rPr>
              <a:t>5. CPU core runs it</a:t>
            </a:r>
          </a:p>
          <a:p>
            <a:pPr algn="ctr">
              <a:spcBef>
                <a:spcPts val="400"/>
              </a:spcBef>
            </a:pPr>
            <a:r>
              <a:rPr sz="819">
                <a:solidFill>
                  <a:srgbClr val="12222A"/>
                </a:solidFill>
              </a:rPr>
              <a:t>The OS schedules that thread on a CPU core; registers hold temporary values.</a:t>
            </a:r>
          </a:p>
        </p:txBody>
      </p:sp>
      <p:sp>
        <p:nvSpPr>
          <p:cNvPr id="10" name="Rounded Rectangle 9"/>
          <p:cNvSpPr/>
          <p:nvPr/>
        </p:nvSpPr>
        <p:spPr>
          <a:xfrm>
            <a:off x="6263640" y="3703320"/>
            <a:ext cx="2514600" cy="1234440"/>
          </a:xfrm>
          <a:prstGeom prst="roundRect">
            <a:avLst/>
          </a:prstGeom>
          <a:solidFill>
            <a:srgbClr val="FFFFFF"/>
          </a:solidFill>
          <a:ln w="20320">
            <a:solidFill>
              <a:srgbClr val="FFC14A"/>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300" b="1">
                <a:solidFill>
                  <a:srgbClr val="12222A"/>
                </a:solidFill>
              </a:rPr>
              <a:t>6. Worker waits</a:t>
            </a:r>
          </a:p>
          <a:p>
            <a:pPr algn="ctr">
              <a:spcBef>
                <a:spcPts val="400"/>
              </a:spcBef>
            </a:pPr>
            <a:r>
              <a:rPr sz="819">
                <a:solidFill>
                  <a:srgbClr val="12222A"/>
                </a:solidFill>
              </a:rPr>
              <a:t>At time.sleep(2), the worker stops needing the CPU and releases the GIL.</a:t>
            </a:r>
          </a:p>
        </p:txBody>
      </p:sp>
      <p:sp>
        <p:nvSpPr>
          <p:cNvPr id="11" name="Rounded Rectangle 10"/>
          <p:cNvSpPr/>
          <p:nvPr/>
        </p:nvSpPr>
        <p:spPr>
          <a:xfrm>
            <a:off x="3337560" y="3703320"/>
            <a:ext cx="2514600" cy="1234440"/>
          </a:xfrm>
          <a:prstGeom prst="roundRect">
            <a:avLst/>
          </a:prstGeom>
          <a:solidFill>
            <a:srgbClr val="FFFFFF"/>
          </a:solidFill>
          <a:ln w="20320">
            <a:solidFill>
              <a:srgbClr val="FF407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300" b="1">
                <a:solidFill>
                  <a:srgbClr val="12222A"/>
                </a:solidFill>
              </a:rPr>
              <a:t>7. Context switch</a:t>
            </a:r>
          </a:p>
          <a:p>
            <a:pPr algn="ctr">
              <a:spcBef>
                <a:spcPts val="400"/>
              </a:spcBef>
            </a:pPr>
            <a:r>
              <a:rPr sz="819">
                <a:solidFill>
                  <a:srgbClr val="12222A"/>
                </a:solidFill>
              </a:rPr>
              <a:t>The OS saves the program counter and registers into memory, then marks the thread sleeping.</a:t>
            </a:r>
          </a:p>
        </p:txBody>
      </p:sp>
      <p:sp>
        <p:nvSpPr>
          <p:cNvPr id="12" name="Rounded Rectangle 11"/>
          <p:cNvSpPr/>
          <p:nvPr/>
        </p:nvSpPr>
        <p:spPr>
          <a:xfrm>
            <a:off x="411480" y="3703320"/>
            <a:ext cx="2514600" cy="1234440"/>
          </a:xfrm>
          <a:prstGeom prst="roundRect">
            <a:avLst/>
          </a:prstGeom>
          <a:solidFill>
            <a:srgbClr val="FFFFFF"/>
          </a:solidFill>
          <a:ln w="20320">
            <a:solidFill>
              <a:srgbClr val="00BE91"/>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300" b="1">
                <a:solidFill>
                  <a:srgbClr val="12222A"/>
                </a:solidFill>
              </a:rPr>
              <a:t>8. Resume later</a:t>
            </a:r>
          </a:p>
          <a:p>
            <a:pPr algn="ctr">
              <a:spcBef>
                <a:spcPts val="400"/>
              </a:spcBef>
            </a:pPr>
            <a:r>
              <a:rPr sz="819">
                <a:solidFill>
                  <a:srgbClr val="12222A"/>
                </a:solidFill>
              </a:rPr>
              <a:t>Another ready thread runs. When the timer wakes this one, the saved state is reloaded.</a:t>
            </a:r>
          </a:p>
        </p:txBody>
      </p:sp>
      <p:cxnSp>
        <p:nvCxnSpPr>
          <p:cNvPr id="13" name="Connector 12"/>
          <p:cNvCxnSpPr/>
          <p:nvPr/>
        </p:nvCxnSpPr>
        <p:spPr>
          <a:xfrm>
            <a:off x="3017520" y="1915668"/>
            <a:ext cx="228600" cy="0"/>
          </a:xfrm>
          <a:prstGeom prst="line">
            <a:avLst/>
          </a:prstGeom>
          <a:ln w="19050">
            <a:solidFill>
              <a:srgbClr val="084E7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915668"/>
            <a:ext cx="228600" cy="0"/>
          </a:xfrm>
          <a:prstGeom prst="line">
            <a:avLst/>
          </a:prstGeom>
          <a:ln w="19050">
            <a:solidFill>
              <a:srgbClr val="084E7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69680" y="1915668"/>
            <a:ext cx="228600" cy="0"/>
          </a:xfrm>
          <a:prstGeom prst="line">
            <a:avLst/>
          </a:prstGeom>
          <a:ln w="19050">
            <a:solidFill>
              <a:srgbClr val="084E7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447020" y="2642616"/>
            <a:ext cx="0" cy="950976"/>
          </a:xfrm>
          <a:prstGeom prst="line">
            <a:avLst/>
          </a:prstGeom>
          <a:ln w="19050">
            <a:solidFill>
              <a:srgbClr val="084E7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8869680" y="4320540"/>
            <a:ext cx="228600" cy="0"/>
          </a:xfrm>
          <a:prstGeom prst="line">
            <a:avLst/>
          </a:prstGeom>
          <a:ln w="19050">
            <a:solidFill>
              <a:srgbClr val="084E7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943600" y="4320540"/>
            <a:ext cx="228600" cy="0"/>
          </a:xfrm>
          <a:prstGeom prst="line">
            <a:avLst/>
          </a:prstGeom>
          <a:ln w="19050">
            <a:solidFill>
              <a:srgbClr val="084E7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017520" y="4320540"/>
            <a:ext cx="228600" cy="0"/>
          </a:xfrm>
          <a:prstGeom prst="line">
            <a:avLst/>
          </a:prstGeom>
          <a:ln w="19050">
            <a:solidFill>
              <a:srgbClr val="084E7E"/>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22960" y="5715000"/>
            <a:ext cx="10424160" cy="731520"/>
          </a:xfrm>
          <a:prstGeom prst="roundRect">
            <a:avLst/>
          </a:prstGeom>
          <a:solidFill>
            <a:srgbClr val="E8F8F8"/>
          </a:solidFill>
          <a:ln w="15240">
            <a:solidFill>
              <a:srgbClr val="2AC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a:solidFill>
                  <a:srgbClr val="12222A"/>
                </a:solidFill>
              </a:rPr>
              <a:t>Takeaway: tasks overlap because waiting threads release control; context switching saves the thread state and restores it later.</a:t>
            </a:r>
          </a:p>
        </p:txBody>
      </p:sp>
      <p:sp>
        <p:nvSpPr>
          <p:cNvPr id="22" name="Text 21">
            <a:extLst>
              <a:ext uri="{FF2B5EF4-FFF2-40B4-BE49-F238E27FC236}">
                <a16:creationId xmlns:a16="http://schemas.microsoft.com/office/drawing/2014/main" id="{055A7586-D0DF-451F-A97F-850271CF1BFB}"/>
              </a:ext>
            </a:extLst>
          </p:cNvPr>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8F7F2"/>
        </a:solidFill>
        <a:effectLst/>
      </p:bgPr>
    </p:bg>
    <p:spTree>
      <p:nvGrpSpPr>
        <p:cNvPr id="1" name=""/>
        <p:cNvGrpSpPr/>
        <p:nvPr/>
      </p:nvGrpSpPr>
      <p:grpSpPr>
        <a:xfrm>
          <a:off x="0" y="0"/>
          <a:ext cx="0" cy="0"/>
          <a:chOff x="0" y="0"/>
          <a:chExt cx="0" cy="0"/>
        </a:xfrm>
      </p:grpSpPr>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Producer-Consumer: the big idea</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r>
              <a:rPr lang="en-US" sz="900" b="1" dirty="0">
                <a:solidFill>
                  <a:srgbClr val="61727A"/>
                </a:solidFill>
              </a:rPr>
              <a:t>IMPLEMENTED MODEL</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Shape 5"/>
          <p:cNvSpPr/>
          <p:nvPr/>
        </p:nvSpPr>
        <p:spPr>
          <a:xfrm>
            <a:off x="1828800" y="1719579"/>
            <a:ext cx="1828800" cy="685800"/>
          </a:xfrm>
          <a:prstGeom prst="roundRect">
            <a:avLst>
              <a:gd name="adj" fmla="val 10667"/>
            </a:avLst>
          </a:prstGeom>
          <a:solidFill>
            <a:srgbClr val="FFFFFF"/>
          </a:solidFill>
          <a:ln w="19050">
            <a:solidFill>
              <a:srgbClr val="0F4C81"/>
            </a:solidFill>
            <a:prstDash val="solid"/>
          </a:ln>
        </p:spPr>
        <p:txBody>
          <a:bodyPr/>
          <a:lstStyle/>
          <a:p>
            <a:endParaRPr/>
          </a:p>
        </p:txBody>
      </p:sp>
      <p:sp>
        <p:nvSpPr>
          <p:cNvPr id="8" name="Text 6"/>
          <p:cNvSpPr/>
          <p:nvPr/>
        </p:nvSpPr>
        <p:spPr>
          <a:xfrm>
            <a:off x="1938528" y="1847595"/>
            <a:ext cx="1609344" cy="466344"/>
          </a:xfrm>
          <a:prstGeom prst="rect">
            <a:avLst/>
          </a:prstGeom>
          <a:noFill/>
          <a:ln/>
        </p:spPr>
        <p:txBody>
          <a:bodyPr wrap="square" lIns="0" tIns="0" rIns="0" bIns="0" rtlCol="0" anchor="ctr">
            <a:normAutofit/>
          </a:bodyPr>
          <a:lstStyle/>
          <a:p>
            <a:pPr marL="0" indent="0" algn="ctr">
              <a:buNone/>
            </a:pPr>
            <a:r>
              <a:rPr lang="en-US" sz="1400" b="1" dirty="0">
                <a:solidFill>
                  <a:srgbClr val="102027"/>
                </a:solidFill>
              </a:rPr>
              <a:t>Producer 1</a:t>
            </a:r>
            <a:endParaRPr lang="en-US" sz="1400" dirty="0"/>
          </a:p>
          <a:p>
            <a:pPr marL="0" indent="0" algn="ctr">
              <a:buNone/>
            </a:pPr>
            <a:r>
              <a:rPr lang="en-US" sz="1400" b="1" dirty="0">
                <a:solidFill>
                  <a:srgbClr val="102027"/>
                </a:solidFill>
              </a:rPr>
              <a:t>generates tasks</a:t>
            </a:r>
            <a:endParaRPr lang="en-US" sz="1400" dirty="0"/>
          </a:p>
        </p:txBody>
      </p:sp>
      <p:sp>
        <p:nvSpPr>
          <p:cNvPr id="9" name="Shape 7"/>
          <p:cNvSpPr/>
          <p:nvPr/>
        </p:nvSpPr>
        <p:spPr>
          <a:xfrm>
            <a:off x="1828800" y="3717796"/>
            <a:ext cx="1828800" cy="685800"/>
          </a:xfrm>
          <a:prstGeom prst="roundRect">
            <a:avLst>
              <a:gd name="adj" fmla="val 10667"/>
            </a:avLst>
          </a:prstGeom>
          <a:solidFill>
            <a:srgbClr val="FFFFFF"/>
          </a:solidFill>
          <a:ln w="19050">
            <a:solidFill>
              <a:srgbClr val="0F4C81"/>
            </a:solidFill>
            <a:prstDash val="solid"/>
          </a:ln>
        </p:spPr>
        <p:txBody>
          <a:bodyPr/>
          <a:lstStyle/>
          <a:p>
            <a:endParaRPr/>
          </a:p>
        </p:txBody>
      </p:sp>
      <p:sp>
        <p:nvSpPr>
          <p:cNvPr id="10" name="Text 8"/>
          <p:cNvSpPr/>
          <p:nvPr/>
        </p:nvSpPr>
        <p:spPr>
          <a:xfrm>
            <a:off x="1938528" y="3804411"/>
            <a:ext cx="1609344" cy="466344"/>
          </a:xfrm>
          <a:prstGeom prst="rect">
            <a:avLst/>
          </a:prstGeom>
          <a:noFill/>
          <a:ln/>
        </p:spPr>
        <p:txBody>
          <a:bodyPr wrap="square" lIns="0" tIns="0" rIns="0" bIns="0" rtlCol="0" anchor="ctr">
            <a:normAutofit/>
          </a:bodyPr>
          <a:lstStyle/>
          <a:p>
            <a:pPr marL="0" indent="0" algn="ctr">
              <a:buNone/>
            </a:pPr>
            <a:r>
              <a:rPr lang="en-US" sz="1400" b="1" dirty="0">
                <a:solidFill>
                  <a:srgbClr val="102027"/>
                </a:solidFill>
              </a:rPr>
              <a:t>Producer 2</a:t>
            </a:r>
            <a:endParaRPr lang="en-US" sz="1400" dirty="0"/>
          </a:p>
          <a:p>
            <a:pPr marL="0" indent="0" algn="ctr">
              <a:buNone/>
            </a:pPr>
            <a:r>
              <a:rPr lang="en-US" sz="1400" b="1" dirty="0">
                <a:solidFill>
                  <a:srgbClr val="102027"/>
                </a:solidFill>
              </a:rPr>
              <a:t>generates tasks</a:t>
            </a:r>
            <a:endParaRPr lang="en-US" sz="1400" dirty="0"/>
          </a:p>
        </p:txBody>
      </p:sp>
      <p:sp>
        <p:nvSpPr>
          <p:cNvPr id="11" name="Shape 9"/>
          <p:cNvSpPr/>
          <p:nvPr/>
        </p:nvSpPr>
        <p:spPr>
          <a:xfrm>
            <a:off x="3840480" y="2057907"/>
            <a:ext cx="1051560" cy="713232"/>
          </a:xfrm>
          <a:prstGeom prst="line">
            <a:avLst/>
          </a:prstGeom>
          <a:noFill/>
          <a:ln w="25400">
            <a:solidFill>
              <a:srgbClr val="0F4C81"/>
            </a:solidFill>
            <a:prstDash val="solid"/>
            <a:headEnd type="none"/>
            <a:tailEnd type="triangle"/>
          </a:ln>
        </p:spPr>
        <p:txBody>
          <a:bodyPr/>
          <a:lstStyle/>
          <a:p>
            <a:endParaRPr/>
          </a:p>
        </p:txBody>
      </p:sp>
      <p:sp>
        <p:nvSpPr>
          <p:cNvPr id="12" name="Shape 10"/>
          <p:cNvSpPr/>
          <p:nvPr/>
        </p:nvSpPr>
        <p:spPr>
          <a:xfrm flipV="1">
            <a:off x="3950208" y="3338067"/>
            <a:ext cx="941832" cy="589788"/>
          </a:xfrm>
          <a:prstGeom prst="line">
            <a:avLst/>
          </a:prstGeom>
          <a:noFill/>
          <a:ln w="25400">
            <a:solidFill>
              <a:srgbClr val="0F4C81"/>
            </a:solidFill>
            <a:prstDash val="solid"/>
            <a:headEnd type="none"/>
            <a:tailEnd type="triangle"/>
          </a:ln>
        </p:spPr>
        <p:txBody>
          <a:bodyPr/>
          <a:lstStyle/>
          <a:p>
            <a:endParaRPr/>
          </a:p>
        </p:txBody>
      </p:sp>
      <p:sp>
        <p:nvSpPr>
          <p:cNvPr id="13" name="Shape 11"/>
          <p:cNvSpPr/>
          <p:nvPr/>
        </p:nvSpPr>
        <p:spPr>
          <a:xfrm>
            <a:off x="5074920" y="2414522"/>
            <a:ext cx="2194560" cy="1097280"/>
          </a:xfrm>
          <a:prstGeom prst="roundRect">
            <a:avLst>
              <a:gd name="adj" fmla="val 6667"/>
            </a:avLst>
          </a:prstGeom>
          <a:solidFill>
            <a:srgbClr val="EAF6F6"/>
          </a:solidFill>
          <a:ln w="19050">
            <a:solidFill>
              <a:srgbClr val="40E0D0"/>
            </a:solidFill>
            <a:prstDash val="solid"/>
          </a:ln>
        </p:spPr>
        <p:txBody>
          <a:bodyPr/>
          <a:lstStyle/>
          <a:p>
            <a:endParaRPr/>
          </a:p>
        </p:txBody>
      </p:sp>
      <p:sp>
        <p:nvSpPr>
          <p:cNvPr id="14" name="Text 12"/>
          <p:cNvSpPr/>
          <p:nvPr/>
        </p:nvSpPr>
        <p:spPr>
          <a:xfrm>
            <a:off x="5184648" y="2496818"/>
            <a:ext cx="1975104" cy="877824"/>
          </a:xfrm>
          <a:prstGeom prst="rect">
            <a:avLst/>
          </a:prstGeom>
          <a:noFill/>
          <a:ln/>
        </p:spPr>
        <p:txBody>
          <a:bodyPr wrap="square" lIns="0" tIns="0" rIns="0" bIns="0" rtlCol="0" anchor="ctr">
            <a:normAutofit/>
          </a:bodyPr>
          <a:lstStyle/>
          <a:p>
            <a:pPr marL="0" indent="0" algn="ctr">
              <a:buNone/>
            </a:pPr>
            <a:r>
              <a:rPr lang="en-US" sz="1600" b="1" dirty="0">
                <a:solidFill>
                  <a:srgbClr val="102027"/>
                </a:solidFill>
              </a:rPr>
              <a:t>Shared Queue</a:t>
            </a:r>
            <a:endParaRPr lang="en-US" sz="1600" dirty="0"/>
          </a:p>
          <a:p>
            <a:pPr marL="0" indent="0" algn="ctr">
              <a:buNone/>
            </a:pPr>
            <a:r>
              <a:rPr lang="en-US" sz="1600" b="1" dirty="0">
                <a:solidFill>
                  <a:srgbClr val="102027"/>
                </a:solidFill>
              </a:rPr>
              <a:t>maxsize = 3</a:t>
            </a:r>
            <a:endParaRPr lang="en-US" sz="1600" dirty="0"/>
          </a:p>
          <a:p>
            <a:pPr marL="0" indent="0" algn="ctr">
              <a:buNone/>
            </a:pPr>
            <a:r>
              <a:rPr lang="en-US" sz="1600" b="1" dirty="0">
                <a:solidFill>
                  <a:srgbClr val="102027"/>
                </a:solidFill>
              </a:rPr>
              <a:t>thread-safe buffer</a:t>
            </a:r>
            <a:endParaRPr lang="en-US" sz="1600" dirty="0"/>
          </a:p>
        </p:txBody>
      </p:sp>
      <p:sp>
        <p:nvSpPr>
          <p:cNvPr id="15" name="Shape 13"/>
          <p:cNvSpPr/>
          <p:nvPr/>
        </p:nvSpPr>
        <p:spPr>
          <a:xfrm flipV="1">
            <a:off x="7360920" y="2119123"/>
            <a:ext cx="1207008" cy="652016"/>
          </a:xfrm>
          <a:prstGeom prst="line">
            <a:avLst/>
          </a:prstGeom>
          <a:noFill/>
          <a:ln w="25400">
            <a:solidFill>
              <a:srgbClr val="06D6A0"/>
            </a:solidFill>
            <a:prstDash val="solid"/>
            <a:headEnd type="none"/>
            <a:tailEnd type="triangle"/>
          </a:ln>
        </p:spPr>
        <p:txBody>
          <a:bodyPr/>
          <a:lstStyle/>
          <a:p>
            <a:endParaRPr/>
          </a:p>
        </p:txBody>
      </p:sp>
      <p:sp>
        <p:nvSpPr>
          <p:cNvPr id="16" name="Shape 14"/>
          <p:cNvSpPr/>
          <p:nvPr/>
        </p:nvSpPr>
        <p:spPr>
          <a:xfrm>
            <a:off x="7360920" y="3210052"/>
            <a:ext cx="1298448" cy="507744"/>
          </a:xfrm>
          <a:prstGeom prst="line">
            <a:avLst/>
          </a:prstGeom>
          <a:noFill/>
          <a:ln w="25400">
            <a:solidFill>
              <a:srgbClr val="06D6A0"/>
            </a:solidFill>
            <a:prstDash val="solid"/>
            <a:headEnd type="none"/>
            <a:tailEnd type="triangle"/>
          </a:ln>
        </p:spPr>
        <p:txBody>
          <a:bodyPr/>
          <a:lstStyle/>
          <a:p>
            <a:endParaRPr/>
          </a:p>
        </p:txBody>
      </p:sp>
      <p:sp>
        <p:nvSpPr>
          <p:cNvPr id="17" name="Shape 15"/>
          <p:cNvSpPr/>
          <p:nvPr/>
        </p:nvSpPr>
        <p:spPr>
          <a:xfrm>
            <a:off x="8659368" y="1719579"/>
            <a:ext cx="1828800" cy="685800"/>
          </a:xfrm>
          <a:prstGeom prst="roundRect">
            <a:avLst>
              <a:gd name="adj" fmla="val 10667"/>
            </a:avLst>
          </a:prstGeom>
          <a:solidFill>
            <a:srgbClr val="FFFFFF"/>
          </a:solidFill>
          <a:ln w="19050">
            <a:solidFill>
              <a:srgbClr val="EF476F"/>
            </a:solidFill>
            <a:prstDash val="solid"/>
          </a:ln>
        </p:spPr>
        <p:txBody>
          <a:bodyPr/>
          <a:lstStyle/>
          <a:p>
            <a:endParaRPr/>
          </a:p>
        </p:txBody>
      </p:sp>
      <p:sp>
        <p:nvSpPr>
          <p:cNvPr id="18" name="Text 16"/>
          <p:cNvSpPr/>
          <p:nvPr/>
        </p:nvSpPr>
        <p:spPr>
          <a:xfrm>
            <a:off x="8769096" y="1847595"/>
            <a:ext cx="1609344" cy="466344"/>
          </a:xfrm>
          <a:prstGeom prst="rect">
            <a:avLst/>
          </a:prstGeom>
          <a:noFill/>
          <a:ln/>
        </p:spPr>
        <p:txBody>
          <a:bodyPr wrap="square" lIns="0" tIns="0" rIns="0" bIns="0" rtlCol="0" anchor="ctr">
            <a:normAutofit/>
          </a:bodyPr>
          <a:lstStyle/>
          <a:p>
            <a:pPr marL="0" indent="0" algn="ctr">
              <a:buNone/>
            </a:pPr>
            <a:r>
              <a:rPr lang="en-US" sz="1400" b="1" dirty="0">
                <a:solidFill>
                  <a:srgbClr val="102027"/>
                </a:solidFill>
              </a:rPr>
              <a:t>Consumer 1</a:t>
            </a:r>
            <a:endParaRPr lang="en-US" sz="1400" dirty="0"/>
          </a:p>
          <a:p>
            <a:pPr marL="0" indent="0" algn="ctr">
              <a:buNone/>
            </a:pPr>
            <a:r>
              <a:rPr lang="en-US" sz="1400" b="1" dirty="0">
                <a:solidFill>
                  <a:srgbClr val="102027"/>
                </a:solidFill>
              </a:rPr>
              <a:t>processes tasks</a:t>
            </a:r>
            <a:endParaRPr lang="en-US" sz="1400" dirty="0"/>
          </a:p>
        </p:txBody>
      </p:sp>
      <p:sp>
        <p:nvSpPr>
          <p:cNvPr id="19" name="Shape 17"/>
          <p:cNvSpPr/>
          <p:nvPr/>
        </p:nvSpPr>
        <p:spPr>
          <a:xfrm>
            <a:off x="8677656" y="3664966"/>
            <a:ext cx="1828800" cy="685800"/>
          </a:xfrm>
          <a:prstGeom prst="roundRect">
            <a:avLst>
              <a:gd name="adj" fmla="val 10667"/>
            </a:avLst>
          </a:prstGeom>
          <a:solidFill>
            <a:srgbClr val="FFFFFF"/>
          </a:solidFill>
          <a:ln w="19050">
            <a:solidFill>
              <a:srgbClr val="EF476F"/>
            </a:solidFill>
            <a:prstDash val="solid"/>
          </a:ln>
        </p:spPr>
        <p:txBody>
          <a:bodyPr/>
          <a:lstStyle/>
          <a:p>
            <a:endParaRPr/>
          </a:p>
        </p:txBody>
      </p:sp>
      <p:sp>
        <p:nvSpPr>
          <p:cNvPr id="20" name="Text 18"/>
          <p:cNvSpPr/>
          <p:nvPr/>
        </p:nvSpPr>
        <p:spPr>
          <a:xfrm>
            <a:off x="8787384" y="3797554"/>
            <a:ext cx="1609344" cy="466344"/>
          </a:xfrm>
          <a:prstGeom prst="rect">
            <a:avLst/>
          </a:prstGeom>
          <a:noFill/>
          <a:ln/>
        </p:spPr>
        <p:txBody>
          <a:bodyPr wrap="square" lIns="0" tIns="0" rIns="0" bIns="0" rtlCol="0" anchor="ctr">
            <a:normAutofit/>
          </a:bodyPr>
          <a:lstStyle/>
          <a:p>
            <a:pPr marL="0" indent="0" algn="ctr">
              <a:buNone/>
            </a:pPr>
            <a:r>
              <a:rPr lang="en-US" sz="1400" b="1" dirty="0">
                <a:solidFill>
                  <a:srgbClr val="102027"/>
                </a:solidFill>
              </a:rPr>
              <a:t>Consumer 2</a:t>
            </a:r>
            <a:endParaRPr lang="en-US" sz="1400" dirty="0"/>
          </a:p>
          <a:p>
            <a:pPr marL="0" indent="0" algn="ctr">
              <a:buNone/>
            </a:pPr>
            <a:r>
              <a:rPr lang="en-US" sz="1400" b="1" dirty="0">
                <a:solidFill>
                  <a:srgbClr val="102027"/>
                </a:solidFill>
              </a:rPr>
              <a:t>processes tasks</a:t>
            </a:r>
            <a:endParaRPr lang="en-US" sz="1400" dirty="0"/>
          </a:p>
        </p:txBody>
      </p:sp>
      <p:sp>
        <p:nvSpPr>
          <p:cNvPr id="21" name="Shape 19"/>
          <p:cNvSpPr/>
          <p:nvPr/>
        </p:nvSpPr>
        <p:spPr>
          <a:xfrm>
            <a:off x="3712464" y="5114289"/>
            <a:ext cx="5486400" cy="822960"/>
          </a:xfrm>
          <a:prstGeom prst="roundRect">
            <a:avLst>
              <a:gd name="adj" fmla="val 8889"/>
            </a:avLst>
          </a:prstGeom>
          <a:solidFill>
            <a:srgbClr val="FFFFFF"/>
          </a:solidFill>
          <a:ln w="19050">
            <a:solidFill>
              <a:srgbClr val="FFD166"/>
            </a:solidFill>
            <a:prstDash val="solid"/>
          </a:ln>
        </p:spPr>
        <p:txBody>
          <a:bodyPr/>
          <a:lstStyle/>
          <a:p>
            <a:endParaRPr/>
          </a:p>
        </p:txBody>
      </p:sp>
      <p:sp>
        <p:nvSpPr>
          <p:cNvPr id="22" name="Text 20"/>
          <p:cNvSpPr/>
          <p:nvPr/>
        </p:nvSpPr>
        <p:spPr>
          <a:xfrm>
            <a:off x="3759962" y="5224017"/>
            <a:ext cx="5266944" cy="603504"/>
          </a:xfrm>
          <a:prstGeom prst="rect">
            <a:avLst/>
          </a:prstGeom>
          <a:noFill/>
          <a:ln/>
        </p:spPr>
        <p:txBody>
          <a:bodyPr wrap="square" lIns="0" tIns="0" rIns="0" bIns="0" rtlCol="0" anchor="ctr">
            <a:normAutofit fontScale="92500"/>
          </a:bodyPr>
          <a:lstStyle/>
          <a:p>
            <a:pPr marL="0" indent="0" algn="ctr">
              <a:buNone/>
            </a:pPr>
            <a:r>
              <a:rPr lang="en-US" sz="1700" b="1" dirty="0">
                <a:solidFill>
                  <a:srgbClr val="102027"/>
                </a:solidFill>
              </a:rPr>
              <a:t>The queue is the meeting point.</a:t>
            </a:r>
            <a:endParaRPr lang="en-US" sz="1700" dirty="0"/>
          </a:p>
          <a:p>
            <a:pPr marL="0" indent="0" algn="ctr">
              <a:buNone/>
            </a:pPr>
            <a:r>
              <a:rPr lang="en-US" sz="1700" b="1" dirty="0">
                <a:solidFill>
                  <a:srgbClr val="102027"/>
                </a:solidFill>
              </a:rPr>
              <a:t>Producers and consumers do not directly call each other.</a:t>
            </a:r>
            <a:endParaRPr lang="en-US" sz="1700" dirty="0"/>
          </a:p>
        </p:txBody>
      </p:sp>
      <p:sp>
        <p:nvSpPr>
          <p:cNvPr id="24" name="Text 21"/>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F2"/>
          </a:solidFill>
          <a:ln w="12700">
            <a:solidFill>
              <a:srgbClr val="F8F7F2">
                <a:alpha val="0"/>
              </a:srgbClr>
            </a:solidFill>
            <a:prstDash val="solid"/>
          </a:ln>
        </p:spPr>
        <p:txBody>
          <a:bodyPr/>
          <a:lstStyle/>
          <a:p>
            <a:endParaRPr dirty="0"/>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Producer-Consumer code flow</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pPr marL="0" indent="0">
              <a:buNone/>
            </a:pPr>
            <a:r>
              <a:rPr lang="en-US" sz="900" b="1" dirty="0">
                <a:solidFill>
                  <a:srgbClr val="61727A"/>
                </a:solidFill>
              </a:rPr>
              <a:t>CODE IMPLEMENTATION</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Shape 5"/>
          <p:cNvSpPr/>
          <p:nvPr/>
        </p:nvSpPr>
        <p:spPr>
          <a:xfrm>
            <a:off x="685800" y="1234440"/>
            <a:ext cx="4389120" cy="4343400"/>
          </a:xfrm>
          <a:prstGeom prst="roundRect">
            <a:avLst>
              <a:gd name="adj" fmla="val 842"/>
            </a:avLst>
          </a:prstGeom>
          <a:solidFill>
            <a:srgbClr val="0B1020"/>
          </a:solidFill>
          <a:ln w="12700">
            <a:solidFill>
              <a:srgbClr val="303B5C"/>
            </a:solidFill>
            <a:prstDash val="solid"/>
          </a:ln>
        </p:spPr>
        <p:txBody>
          <a:bodyPr/>
          <a:lstStyle/>
          <a:p>
            <a:endParaRPr/>
          </a:p>
        </p:txBody>
      </p:sp>
      <p:sp>
        <p:nvSpPr>
          <p:cNvPr id="8" name="Text 6"/>
          <p:cNvSpPr/>
          <p:nvPr/>
        </p:nvSpPr>
        <p:spPr>
          <a:xfrm>
            <a:off x="822960" y="1344168"/>
            <a:ext cx="4114800" cy="4123944"/>
          </a:xfrm>
          <a:prstGeom prst="rect">
            <a:avLst/>
          </a:prstGeom>
          <a:noFill/>
          <a:ln/>
        </p:spPr>
        <p:txBody>
          <a:bodyPr wrap="square" lIns="0" tIns="0" rIns="0" bIns="0" rtlCol="0" anchor="ctr">
            <a:normAutofit/>
          </a:bodyPr>
          <a:lstStyle/>
          <a:p>
            <a:pPr marL="0" indent="0">
              <a:buNone/>
            </a:pPr>
            <a:r>
              <a:rPr lang="en-US" sz="1020" dirty="0">
                <a:solidFill>
                  <a:srgbClr val="E6EDF3"/>
                </a:solidFill>
                <a:latin typeface="Consolas" pitchFamily="34" charset="0"/>
                <a:ea typeface="Consolas" pitchFamily="34" charset="-122"/>
                <a:cs typeface="Consolas" pitchFamily="34" charset="-120"/>
              </a:rPr>
              <a:t>task_queue = queue.Queue(maxsize=3)</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Producer side</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task_queue.put(task)</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Consumer side</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task = task_queue.get()</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process task ...</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task_queue.task_done()</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Main thread waits</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task_queue.join()</a:t>
            </a:r>
            <a:endParaRPr lang="en-US" sz="1020" dirty="0"/>
          </a:p>
          <a:p>
            <a:pPr marL="0" indent="0">
              <a:buNone/>
            </a:pP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 Shutdown signal</a:t>
            </a:r>
            <a:endParaRPr lang="en-US" sz="1020" dirty="0"/>
          </a:p>
          <a:p>
            <a:pPr marL="0" indent="0">
              <a:buNone/>
            </a:pPr>
            <a:r>
              <a:rPr lang="en-US" sz="1020" dirty="0">
                <a:solidFill>
                  <a:srgbClr val="E6EDF3"/>
                </a:solidFill>
                <a:latin typeface="Consolas" pitchFamily="34" charset="0"/>
                <a:ea typeface="Consolas" pitchFamily="34" charset="-122"/>
                <a:cs typeface="Consolas" pitchFamily="34" charset="-120"/>
              </a:rPr>
              <a:t>task_queue.put(None)</a:t>
            </a:r>
            <a:endParaRPr lang="en-US" sz="1020" dirty="0"/>
          </a:p>
        </p:txBody>
      </p:sp>
      <p:sp>
        <p:nvSpPr>
          <p:cNvPr id="9" name="Shape 7"/>
          <p:cNvSpPr/>
          <p:nvPr/>
        </p:nvSpPr>
        <p:spPr>
          <a:xfrm>
            <a:off x="5486400" y="1325880"/>
            <a:ext cx="5394960" cy="3977640"/>
          </a:xfrm>
          <a:prstGeom prst="roundRect">
            <a:avLst>
              <a:gd name="adj" fmla="val 1839"/>
            </a:avLst>
          </a:prstGeom>
          <a:solidFill>
            <a:srgbClr val="FFFFFF"/>
          </a:solidFill>
          <a:ln w="19050">
            <a:solidFill>
              <a:srgbClr val="40E0D0"/>
            </a:solidFill>
            <a:prstDash val="solid"/>
          </a:ln>
        </p:spPr>
        <p:txBody>
          <a:bodyPr/>
          <a:lstStyle/>
          <a:p>
            <a:endParaRPr/>
          </a:p>
        </p:txBody>
      </p:sp>
      <p:sp>
        <p:nvSpPr>
          <p:cNvPr id="10" name="Text 8"/>
          <p:cNvSpPr/>
          <p:nvPr/>
        </p:nvSpPr>
        <p:spPr>
          <a:xfrm>
            <a:off x="5596128" y="1453896"/>
            <a:ext cx="5175504" cy="3758184"/>
          </a:xfrm>
          <a:prstGeom prst="rect">
            <a:avLst/>
          </a:prstGeom>
          <a:noFill/>
          <a:ln/>
        </p:spPr>
        <p:txBody>
          <a:bodyPr wrap="square" lIns="0" tIns="0" rIns="0" bIns="0" rtlCol="0" anchor="ctr">
            <a:normAutofit/>
          </a:bodyPr>
          <a:lstStyle/>
          <a:p>
            <a:pPr marL="0" indent="0" algn="ctr">
              <a:buNone/>
            </a:pPr>
            <a:r>
              <a:rPr lang="en-US" sz="1700" dirty="0">
                <a:solidFill>
                  <a:srgbClr val="102027"/>
                </a:solidFill>
              </a:rPr>
              <a:t>What each line means</a:t>
            </a:r>
            <a:endParaRPr lang="en-US" sz="1700" dirty="0"/>
          </a:p>
          <a:p>
            <a:pPr marL="0" indent="0" algn="ctr">
              <a:buNone/>
            </a:pPr>
            <a:endParaRPr lang="en-US" sz="1700" dirty="0"/>
          </a:p>
          <a:p>
            <a:pPr marL="0" indent="0" algn="ctr">
              <a:buNone/>
            </a:pPr>
            <a:r>
              <a:rPr lang="en-US" sz="1700" dirty="0">
                <a:solidFill>
                  <a:srgbClr val="102027"/>
                </a:solidFill>
              </a:rPr>
              <a:t>put(task): producer adds work; blocks if queue is full</a:t>
            </a:r>
            <a:endParaRPr lang="en-US" sz="1700" dirty="0"/>
          </a:p>
          <a:p>
            <a:pPr marL="0" indent="0" algn="ctr">
              <a:buNone/>
            </a:pPr>
            <a:endParaRPr lang="en-US" sz="1700" dirty="0"/>
          </a:p>
          <a:p>
            <a:pPr marL="0" indent="0" algn="ctr">
              <a:buNone/>
            </a:pPr>
            <a:r>
              <a:rPr lang="en-US" sz="1700" dirty="0">
                <a:solidFill>
                  <a:srgbClr val="102027"/>
                </a:solidFill>
              </a:rPr>
              <a:t>get(): consumer takes work; blocks if queue is empty</a:t>
            </a:r>
            <a:endParaRPr lang="en-US" sz="1700" dirty="0"/>
          </a:p>
          <a:p>
            <a:pPr marL="0" indent="0" algn="ctr">
              <a:buNone/>
            </a:pPr>
            <a:endParaRPr lang="en-US" sz="1700" dirty="0"/>
          </a:p>
          <a:p>
            <a:pPr marL="0" indent="0" algn="ctr">
              <a:buNone/>
            </a:pPr>
            <a:r>
              <a:rPr lang="en-US" sz="1700" dirty="0">
                <a:solidFill>
                  <a:srgbClr val="102027"/>
                </a:solidFill>
              </a:rPr>
              <a:t>task_done(): one item is finished</a:t>
            </a:r>
            <a:endParaRPr lang="en-US" sz="1700" dirty="0"/>
          </a:p>
          <a:p>
            <a:pPr marL="0" indent="0" algn="ctr">
              <a:buNone/>
            </a:pPr>
            <a:endParaRPr lang="en-US" sz="1700" dirty="0"/>
          </a:p>
          <a:p>
            <a:pPr marL="0" indent="0" algn="ctr">
              <a:buNone/>
            </a:pPr>
            <a:r>
              <a:rPr lang="en-US" sz="1700" dirty="0">
                <a:solidFill>
                  <a:srgbClr val="102027"/>
                </a:solidFill>
              </a:rPr>
              <a:t>join(): main waits until all queued work is done</a:t>
            </a:r>
            <a:endParaRPr lang="en-US" sz="1700" dirty="0"/>
          </a:p>
          <a:p>
            <a:pPr marL="0" indent="0" algn="ctr">
              <a:buNone/>
            </a:pPr>
            <a:endParaRPr lang="en-US" sz="1700" dirty="0"/>
          </a:p>
          <a:p>
            <a:pPr marL="0" indent="0" algn="ctr">
              <a:buNone/>
            </a:pPr>
            <a:r>
              <a:rPr lang="en-US" sz="1700" dirty="0">
                <a:solidFill>
                  <a:srgbClr val="102027"/>
                </a:solidFill>
              </a:rPr>
              <a:t>None: poison pill telling workers to stop</a:t>
            </a:r>
            <a:endParaRPr lang="en-US" sz="1700" dirty="0"/>
          </a:p>
        </p:txBody>
      </p:sp>
      <p:sp>
        <p:nvSpPr>
          <p:cNvPr id="14" name="Text 11"/>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F2"/>
          </a:solidFill>
          <a:ln w="12700">
            <a:solidFill>
              <a:srgbClr val="F8F7F2">
                <a:alpha val="0"/>
              </a:srgbClr>
            </a:solidFill>
            <a:prstDash val="solid"/>
          </a:ln>
        </p:spPr>
        <p:txBody>
          <a:bodyPr/>
          <a:lstStyle/>
          <a:p>
            <a:endParaRPr dirty="0"/>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The queue controls flow automatically</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pPr marL="0" indent="0">
              <a:buNone/>
            </a:pPr>
            <a:r>
              <a:rPr lang="en-US" sz="900" b="1" dirty="0">
                <a:solidFill>
                  <a:srgbClr val="61727A"/>
                </a:solidFill>
              </a:rPr>
              <a:t>BLOCKING BEHAVIOR</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Shape 5"/>
          <p:cNvSpPr/>
          <p:nvPr/>
        </p:nvSpPr>
        <p:spPr>
          <a:xfrm>
            <a:off x="822960" y="1234440"/>
            <a:ext cx="2057400" cy="685800"/>
          </a:xfrm>
          <a:prstGeom prst="roundRect">
            <a:avLst>
              <a:gd name="adj" fmla="val 10667"/>
            </a:avLst>
          </a:prstGeom>
          <a:solidFill>
            <a:srgbClr val="FFFFFF"/>
          </a:solidFill>
          <a:ln w="19050">
            <a:solidFill>
              <a:srgbClr val="06D6A0"/>
            </a:solidFill>
            <a:prstDash val="solid"/>
          </a:ln>
        </p:spPr>
        <p:txBody>
          <a:bodyPr/>
          <a:lstStyle/>
          <a:p>
            <a:endParaRPr/>
          </a:p>
        </p:txBody>
      </p:sp>
      <p:sp>
        <p:nvSpPr>
          <p:cNvPr id="8" name="Text 6"/>
          <p:cNvSpPr/>
          <p:nvPr/>
        </p:nvSpPr>
        <p:spPr>
          <a:xfrm>
            <a:off x="932688" y="1362456"/>
            <a:ext cx="1837944" cy="46634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Queue not full</a:t>
            </a:r>
            <a:endParaRPr lang="en-US" sz="1500" dirty="0"/>
          </a:p>
        </p:txBody>
      </p:sp>
      <p:sp>
        <p:nvSpPr>
          <p:cNvPr id="9" name="Shape 7"/>
          <p:cNvSpPr/>
          <p:nvPr/>
        </p:nvSpPr>
        <p:spPr>
          <a:xfrm>
            <a:off x="3063240" y="1572768"/>
            <a:ext cx="731520" cy="0"/>
          </a:xfrm>
          <a:prstGeom prst="line">
            <a:avLst/>
          </a:prstGeom>
          <a:noFill/>
          <a:ln w="25400">
            <a:solidFill>
              <a:srgbClr val="06D6A0"/>
            </a:solidFill>
            <a:prstDash val="solid"/>
            <a:headEnd type="none"/>
            <a:tailEnd type="triangle"/>
          </a:ln>
        </p:spPr>
        <p:txBody>
          <a:bodyPr/>
          <a:lstStyle/>
          <a:p>
            <a:endParaRPr/>
          </a:p>
        </p:txBody>
      </p:sp>
      <p:sp>
        <p:nvSpPr>
          <p:cNvPr id="10" name="Shape 8"/>
          <p:cNvSpPr/>
          <p:nvPr/>
        </p:nvSpPr>
        <p:spPr>
          <a:xfrm>
            <a:off x="3886200" y="1234440"/>
            <a:ext cx="2194560" cy="685800"/>
          </a:xfrm>
          <a:prstGeom prst="roundRect">
            <a:avLst>
              <a:gd name="adj" fmla="val 10667"/>
            </a:avLst>
          </a:prstGeom>
          <a:solidFill>
            <a:srgbClr val="FFFFFF"/>
          </a:solidFill>
          <a:ln w="19050">
            <a:solidFill>
              <a:srgbClr val="06D6A0"/>
            </a:solidFill>
            <a:prstDash val="solid"/>
          </a:ln>
        </p:spPr>
        <p:txBody>
          <a:bodyPr/>
          <a:lstStyle/>
          <a:p>
            <a:endParaRPr/>
          </a:p>
        </p:txBody>
      </p:sp>
      <p:sp>
        <p:nvSpPr>
          <p:cNvPr id="11" name="Text 9"/>
          <p:cNvSpPr/>
          <p:nvPr/>
        </p:nvSpPr>
        <p:spPr>
          <a:xfrm>
            <a:off x="3995928" y="1362456"/>
            <a:ext cx="1975104" cy="46634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Producer can put()</a:t>
            </a:r>
            <a:endParaRPr lang="en-US" sz="1500" dirty="0"/>
          </a:p>
        </p:txBody>
      </p:sp>
      <p:sp>
        <p:nvSpPr>
          <p:cNvPr id="12" name="Shape 10"/>
          <p:cNvSpPr/>
          <p:nvPr/>
        </p:nvSpPr>
        <p:spPr>
          <a:xfrm>
            <a:off x="822960" y="2423160"/>
            <a:ext cx="2057400" cy="685800"/>
          </a:xfrm>
          <a:prstGeom prst="roundRect">
            <a:avLst>
              <a:gd name="adj" fmla="val 10667"/>
            </a:avLst>
          </a:prstGeom>
          <a:solidFill>
            <a:srgbClr val="FFFFFF"/>
          </a:solidFill>
          <a:ln w="19050">
            <a:solidFill>
              <a:srgbClr val="EF476F"/>
            </a:solidFill>
            <a:prstDash val="solid"/>
          </a:ln>
        </p:spPr>
        <p:txBody>
          <a:bodyPr/>
          <a:lstStyle/>
          <a:p>
            <a:endParaRPr/>
          </a:p>
        </p:txBody>
      </p:sp>
      <p:sp>
        <p:nvSpPr>
          <p:cNvPr id="13" name="Text 11"/>
          <p:cNvSpPr/>
          <p:nvPr/>
        </p:nvSpPr>
        <p:spPr>
          <a:xfrm>
            <a:off x="932688" y="2551176"/>
            <a:ext cx="1837944" cy="46634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Queue full</a:t>
            </a:r>
            <a:endParaRPr lang="en-US" sz="1500" dirty="0"/>
          </a:p>
        </p:txBody>
      </p:sp>
      <p:sp>
        <p:nvSpPr>
          <p:cNvPr id="14" name="Shape 12"/>
          <p:cNvSpPr/>
          <p:nvPr/>
        </p:nvSpPr>
        <p:spPr>
          <a:xfrm>
            <a:off x="3063240" y="2761488"/>
            <a:ext cx="731520" cy="0"/>
          </a:xfrm>
          <a:prstGeom prst="line">
            <a:avLst/>
          </a:prstGeom>
          <a:noFill/>
          <a:ln w="25400">
            <a:solidFill>
              <a:srgbClr val="EF476F"/>
            </a:solidFill>
            <a:prstDash val="solid"/>
            <a:headEnd type="none"/>
            <a:tailEnd type="triangle"/>
          </a:ln>
        </p:spPr>
        <p:txBody>
          <a:bodyPr/>
          <a:lstStyle/>
          <a:p>
            <a:endParaRPr/>
          </a:p>
        </p:txBody>
      </p:sp>
      <p:sp>
        <p:nvSpPr>
          <p:cNvPr id="15" name="Shape 13"/>
          <p:cNvSpPr/>
          <p:nvPr/>
        </p:nvSpPr>
        <p:spPr>
          <a:xfrm>
            <a:off x="3886200" y="2423160"/>
            <a:ext cx="2194560" cy="685800"/>
          </a:xfrm>
          <a:prstGeom prst="roundRect">
            <a:avLst>
              <a:gd name="adj" fmla="val 10667"/>
            </a:avLst>
          </a:prstGeom>
          <a:solidFill>
            <a:srgbClr val="FFFFFF"/>
          </a:solidFill>
          <a:ln w="19050">
            <a:solidFill>
              <a:srgbClr val="EF476F"/>
            </a:solidFill>
            <a:prstDash val="solid"/>
          </a:ln>
        </p:spPr>
        <p:txBody>
          <a:bodyPr/>
          <a:lstStyle/>
          <a:p>
            <a:endParaRPr/>
          </a:p>
        </p:txBody>
      </p:sp>
      <p:sp>
        <p:nvSpPr>
          <p:cNvPr id="16" name="Text 14"/>
          <p:cNvSpPr/>
          <p:nvPr/>
        </p:nvSpPr>
        <p:spPr>
          <a:xfrm>
            <a:off x="3995928" y="2551176"/>
            <a:ext cx="1975104" cy="46634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Producer blocks</a:t>
            </a:r>
            <a:endParaRPr lang="en-US" sz="1500" dirty="0"/>
          </a:p>
          <a:p>
            <a:pPr marL="0" indent="0" algn="ctr">
              <a:buNone/>
            </a:pPr>
            <a:r>
              <a:rPr lang="en-US" sz="1500" b="1" dirty="0">
                <a:solidFill>
                  <a:srgbClr val="102027"/>
                </a:solidFill>
              </a:rPr>
              <a:t>(no CPU wasted)</a:t>
            </a:r>
            <a:endParaRPr lang="en-US" sz="1500" dirty="0"/>
          </a:p>
        </p:txBody>
      </p:sp>
      <p:sp>
        <p:nvSpPr>
          <p:cNvPr id="17" name="Shape 15"/>
          <p:cNvSpPr/>
          <p:nvPr/>
        </p:nvSpPr>
        <p:spPr>
          <a:xfrm>
            <a:off x="822960" y="3611880"/>
            <a:ext cx="2057400" cy="685800"/>
          </a:xfrm>
          <a:prstGeom prst="roundRect">
            <a:avLst>
              <a:gd name="adj" fmla="val 10667"/>
            </a:avLst>
          </a:prstGeom>
          <a:solidFill>
            <a:srgbClr val="FFFFFF"/>
          </a:solidFill>
          <a:ln w="19050">
            <a:solidFill>
              <a:srgbClr val="06D6A0"/>
            </a:solidFill>
            <a:prstDash val="solid"/>
          </a:ln>
        </p:spPr>
        <p:txBody>
          <a:bodyPr/>
          <a:lstStyle/>
          <a:p>
            <a:endParaRPr/>
          </a:p>
        </p:txBody>
      </p:sp>
      <p:sp>
        <p:nvSpPr>
          <p:cNvPr id="18" name="Text 16"/>
          <p:cNvSpPr/>
          <p:nvPr/>
        </p:nvSpPr>
        <p:spPr>
          <a:xfrm>
            <a:off x="932688" y="3739896"/>
            <a:ext cx="1837944" cy="46634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Queue not empty</a:t>
            </a:r>
            <a:endParaRPr lang="en-US" sz="1500" dirty="0"/>
          </a:p>
        </p:txBody>
      </p:sp>
      <p:sp>
        <p:nvSpPr>
          <p:cNvPr id="19" name="Shape 17"/>
          <p:cNvSpPr/>
          <p:nvPr/>
        </p:nvSpPr>
        <p:spPr>
          <a:xfrm>
            <a:off x="3063240" y="3950208"/>
            <a:ext cx="731520" cy="0"/>
          </a:xfrm>
          <a:prstGeom prst="line">
            <a:avLst/>
          </a:prstGeom>
          <a:noFill/>
          <a:ln w="25400">
            <a:solidFill>
              <a:srgbClr val="06D6A0"/>
            </a:solidFill>
            <a:prstDash val="solid"/>
            <a:headEnd type="none"/>
            <a:tailEnd type="triangle"/>
          </a:ln>
        </p:spPr>
        <p:txBody>
          <a:bodyPr/>
          <a:lstStyle/>
          <a:p>
            <a:endParaRPr/>
          </a:p>
        </p:txBody>
      </p:sp>
      <p:sp>
        <p:nvSpPr>
          <p:cNvPr id="20" name="Shape 18"/>
          <p:cNvSpPr/>
          <p:nvPr/>
        </p:nvSpPr>
        <p:spPr>
          <a:xfrm>
            <a:off x="3886200" y="3611880"/>
            <a:ext cx="2194560" cy="685800"/>
          </a:xfrm>
          <a:prstGeom prst="roundRect">
            <a:avLst>
              <a:gd name="adj" fmla="val 10667"/>
            </a:avLst>
          </a:prstGeom>
          <a:solidFill>
            <a:srgbClr val="FFFFFF"/>
          </a:solidFill>
          <a:ln w="19050">
            <a:solidFill>
              <a:srgbClr val="06D6A0"/>
            </a:solidFill>
            <a:prstDash val="solid"/>
          </a:ln>
        </p:spPr>
        <p:txBody>
          <a:bodyPr/>
          <a:lstStyle/>
          <a:p>
            <a:endParaRPr/>
          </a:p>
        </p:txBody>
      </p:sp>
      <p:sp>
        <p:nvSpPr>
          <p:cNvPr id="21" name="Text 19"/>
          <p:cNvSpPr/>
          <p:nvPr/>
        </p:nvSpPr>
        <p:spPr>
          <a:xfrm>
            <a:off x="3995928" y="3739896"/>
            <a:ext cx="1975104" cy="46634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Consumer can get()</a:t>
            </a:r>
            <a:endParaRPr lang="en-US" sz="1500" dirty="0"/>
          </a:p>
        </p:txBody>
      </p:sp>
      <p:sp>
        <p:nvSpPr>
          <p:cNvPr id="22" name="Shape 20"/>
          <p:cNvSpPr/>
          <p:nvPr/>
        </p:nvSpPr>
        <p:spPr>
          <a:xfrm>
            <a:off x="822960" y="4800600"/>
            <a:ext cx="2057400" cy="685800"/>
          </a:xfrm>
          <a:prstGeom prst="roundRect">
            <a:avLst>
              <a:gd name="adj" fmla="val 10667"/>
            </a:avLst>
          </a:prstGeom>
          <a:solidFill>
            <a:srgbClr val="FFFFFF"/>
          </a:solidFill>
          <a:ln w="19050">
            <a:solidFill>
              <a:srgbClr val="EF476F"/>
            </a:solidFill>
            <a:prstDash val="solid"/>
          </a:ln>
        </p:spPr>
        <p:txBody>
          <a:bodyPr/>
          <a:lstStyle/>
          <a:p>
            <a:endParaRPr/>
          </a:p>
        </p:txBody>
      </p:sp>
      <p:sp>
        <p:nvSpPr>
          <p:cNvPr id="23" name="Text 21"/>
          <p:cNvSpPr/>
          <p:nvPr/>
        </p:nvSpPr>
        <p:spPr>
          <a:xfrm>
            <a:off x="932688" y="4928616"/>
            <a:ext cx="1837944" cy="46634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Queue empty</a:t>
            </a:r>
            <a:endParaRPr lang="en-US" sz="1500" dirty="0"/>
          </a:p>
        </p:txBody>
      </p:sp>
      <p:sp>
        <p:nvSpPr>
          <p:cNvPr id="24" name="Shape 22"/>
          <p:cNvSpPr/>
          <p:nvPr/>
        </p:nvSpPr>
        <p:spPr>
          <a:xfrm>
            <a:off x="3063240" y="5138928"/>
            <a:ext cx="731520" cy="0"/>
          </a:xfrm>
          <a:prstGeom prst="line">
            <a:avLst/>
          </a:prstGeom>
          <a:noFill/>
          <a:ln w="25400">
            <a:solidFill>
              <a:srgbClr val="EF476F"/>
            </a:solidFill>
            <a:prstDash val="solid"/>
            <a:headEnd type="none"/>
            <a:tailEnd type="triangle"/>
          </a:ln>
        </p:spPr>
        <p:txBody>
          <a:bodyPr/>
          <a:lstStyle/>
          <a:p>
            <a:endParaRPr/>
          </a:p>
        </p:txBody>
      </p:sp>
      <p:sp>
        <p:nvSpPr>
          <p:cNvPr id="25" name="Shape 23"/>
          <p:cNvSpPr/>
          <p:nvPr/>
        </p:nvSpPr>
        <p:spPr>
          <a:xfrm>
            <a:off x="3886200" y="4800600"/>
            <a:ext cx="2194560" cy="685800"/>
          </a:xfrm>
          <a:prstGeom prst="roundRect">
            <a:avLst>
              <a:gd name="adj" fmla="val 10667"/>
            </a:avLst>
          </a:prstGeom>
          <a:solidFill>
            <a:srgbClr val="FFFFFF"/>
          </a:solidFill>
          <a:ln w="19050">
            <a:solidFill>
              <a:srgbClr val="EF476F"/>
            </a:solidFill>
            <a:prstDash val="solid"/>
          </a:ln>
        </p:spPr>
        <p:txBody>
          <a:bodyPr/>
          <a:lstStyle/>
          <a:p>
            <a:endParaRPr/>
          </a:p>
        </p:txBody>
      </p:sp>
      <p:sp>
        <p:nvSpPr>
          <p:cNvPr id="26" name="Text 24"/>
          <p:cNvSpPr/>
          <p:nvPr/>
        </p:nvSpPr>
        <p:spPr>
          <a:xfrm>
            <a:off x="3995928" y="4928616"/>
            <a:ext cx="1975104" cy="466344"/>
          </a:xfrm>
          <a:prstGeom prst="rect">
            <a:avLst/>
          </a:prstGeom>
          <a:noFill/>
          <a:ln/>
        </p:spPr>
        <p:txBody>
          <a:bodyPr wrap="square" lIns="0" tIns="0" rIns="0" bIns="0" rtlCol="0" anchor="ctr">
            <a:normAutofit/>
          </a:bodyPr>
          <a:lstStyle/>
          <a:p>
            <a:pPr marL="0" indent="0" algn="ctr">
              <a:buNone/>
            </a:pPr>
            <a:r>
              <a:rPr lang="en-US" sz="1500" b="1" dirty="0">
                <a:solidFill>
                  <a:srgbClr val="102027"/>
                </a:solidFill>
              </a:rPr>
              <a:t>Consumer blocks</a:t>
            </a:r>
            <a:endParaRPr lang="en-US" sz="1500" dirty="0"/>
          </a:p>
          <a:p>
            <a:pPr marL="0" indent="0" algn="ctr">
              <a:buNone/>
            </a:pPr>
            <a:r>
              <a:rPr lang="en-US" sz="1500" b="1" dirty="0">
                <a:solidFill>
                  <a:srgbClr val="102027"/>
                </a:solidFill>
              </a:rPr>
              <a:t>(no busy waiting)</a:t>
            </a:r>
            <a:endParaRPr lang="en-US" sz="1500" dirty="0"/>
          </a:p>
        </p:txBody>
      </p:sp>
      <p:sp>
        <p:nvSpPr>
          <p:cNvPr id="27" name="Shape 25"/>
          <p:cNvSpPr/>
          <p:nvPr/>
        </p:nvSpPr>
        <p:spPr>
          <a:xfrm>
            <a:off x="7315200" y="1874520"/>
            <a:ext cx="3291840" cy="2651760"/>
          </a:xfrm>
          <a:prstGeom prst="roundRect">
            <a:avLst>
              <a:gd name="adj" fmla="val 2759"/>
            </a:avLst>
          </a:prstGeom>
          <a:solidFill>
            <a:srgbClr val="EAF6F6"/>
          </a:solidFill>
          <a:ln w="19050">
            <a:solidFill>
              <a:srgbClr val="40E0D0"/>
            </a:solidFill>
            <a:prstDash val="solid"/>
          </a:ln>
        </p:spPr>
        <p:txBody>
          <a:bodyPr/>
          <a:lstStyle/>
          <a:p>
            <a:endParaRPr/>
          </a:p>
        </p:txBody>
      </p:sp>
      <p:sp>
        <p:nvSpPr>
          <p:cNvPr id="28" name="Text 26"/>
          <p:cNvSpPr/>
          <p:nvPr/>
        </p:nvSpPr>
        <p:spPr>
          <a:xfrm>
            <a:off x="7424928" y="2002536"/>
            <a:ext cx="3072384" cy="2432304"/>
          </a:xfrm>
          <a:prstGeom prst="rect">
            <a:avLst/>
          </a:prstGeom>
          <a:noFill/>
          <a:ln/>
        </p:spPr>
        <p:txBody>
          <a:bodyPr wrap="square" lIns="0" tIns="0" rIns="0" bIns="0" rtlCol="0" anchor="ctr">
            <a:normAutofit/>
          </a:bodyPr>
          <a:lstStyle/>
          <a:p>
            <a:pPr marL="0" indent="0" algn="ctr">
              <a:buNone/>
            </a:pPr>
            <a:r>
              <a:rPr lang="en-US" sz="1800" b="1" u="sng" dirty="0">
                <a:solidFill>
                  <a:srgbClr val="102027"/>
                </a:solidFill>
              </a:rPr>
              <a:t>Backpressure</a:t>
            </a:r>
            <a:endParaRPr lang="en-US" sz="1800" b="1" u="sng" dirty="0"/>
          </a:p>
          <a:p>
            <a:pPr marL="0" indent="0" algn="ctr">
              <a:buNone/>
            </a:pPr>
            <a:endParaRPr lang="en-US" sz="1800" dirty="0"/>
          </a:p>
          <a:p>
            <a:pPr marL="0" indent="0" algn="ctr">
              <a:buNone/>
            </a:pPr>
            <a:r>
              <a:rPr lang="en-US" sz="1800" dirty="0">
                <a:solidFill>
                  <a:srgbClr val="102027"/>
                </a:solidFill>
              </a:rPr>
              <a:t>If consumers are slow, the queue fills. Then producers are forced to wait. This prevents unlimited memory growth.</a:t>
            </a:r>
            <a:endParaRPr lang="en-US" sz="1800" dirty="0"/>
          </a:p>
        </p:txBody>
      </p:sp>
      <p:sp>
        <p:nvSpPr>
          <p:cNvPr id="30" name="Text 27"/>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032" y="251460"/>
            <a:ext cx="11155680" cy="457200"/>
          </a:xfrm>
          <a:prstGeom prst="rect">
            <a:avLst/>
          </a:prstGeom>
          <a:noFill/>
        </p:spPr>
        <p:txBody>
          <a:bodyPr wrap="square" lIns="18288" tIns="18288" rIns="18288" bIns="18288">
            <a:spAutoFit/>
          </a:bodyPr>
          <a:lstStyle/>
          <a:p>
            <a:pPr algn="l"/>
            <a:r>
              <a:rPr sz="2400" b="1" dirty="0">
                <a:solidFill>
                  <a:srgbClr val="142530"/>
                </a:solidFill>
              </a:rPr>
              <a:t>What happens internally in Producer–Consumer</a:t>
            </a:r>
          </a:p>
        </p:txBody>
      </p:sp>
      <p:sp>
        <p:nvSpPr>
          <p:cNvPr id="3" name="TextBox 2"/>
          <p:cNvSpPr txBox="1"/>
          <p:nvPr/>
        </p:nvSpPr>
        <p:spPr>
          <a:xfrm>
            <a:off x="256032" y="749808"/>
            <a:ext cx="4572000" cy="228600"/>
          </a:xfrm>
          <a:prstGeom prst="rect">
            <a:avLst/>
          </a:prstGeom>
          <a:noFill/>
        </p:spPr>
        <p:txBody>
          <a:bodyPr wrap="square" lIns="18288" tIns="18288" rIns="18288" bIns="18288">
            <a:spAutoFit/>
          </a:bodyPr>
          <a:lstStyle/>
          <a:p>
            <a:pPr algn="l"/>
            <a:r>
              <a:rPr sz="1050" b="1">
                <a:solidFill>
                  <a:srgbClr val="637480"/>
                </a:solidFill>
              </a:rPr>
              <a:t>FULL FLOW FROM PRODUCER TO CONSUMER</a:t>
            </a:r>
          </a:p>
        </p:txBody>
      </p:sp>
      <p:cxnSp>
        <p:nvCxnSpPr>
          <p:cNvPr id="4" name="Connector 3"/>
          <p:cNvCxnSpPr/>
          <p:nvPr/>
        </p:nvCxnSpPr>
        <p:spPr>
          <a:xfrm>
            <a:off x="256032" y="987552"/>
            <a:ext cx="10762488" cy="0"/>
          </a:xfrm>
          <a:prstGeom prst="line">
            <a:avLst/>
          </a:prstGeom>
          <a:ln w="12700">
            <a:solidFill>
              <a:srgbClr val="D0D9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 y="1124712"/>
            <a:ext cx="1371600" cy="228600"/>
          </a:xfrm>
          <a:prstGeom prst="rect">
            <a:avLst/>
          </a:prstGeom>
          <a:noFill/>
        </p:spPr>
        <p:txBody>
          <a:bodyPr wrap="square" lIns="18288" tIns="18288" rIns="18288" bIns="18288">
            <a:spAutoFit/>
          </a:bodyPr>
          <a:lstStyle/>
          <a:p>
            <a:pPr algn="l"/>
            <a:r>
              <a:rPr sz="1150" b="1">
                <a:solidFill>
                  <a:srgbClr val="0C5899"/>
                </a:solidFill>
              </a:rPr>
              <a:t>Producer side</a:t>
            </a:r>
          </a:p>
        </p:txBody>
      </p:sp>
      <p:sp>
        <p:nvSpPr>
          <p:cNvPr id="6" name="TextBox 5"/>
          <p:cNvSpPr txBox="1"/>
          <p:nvPr/>
        </p:nvSpPr>
        <p:spPr>
          <a:xfrm>
            <a:off x="320040" y="3346704"/>
            <a:ext cx="1371600" cy="228600"/>
          </a:xfrm>
          <a:prstGeom prst="rect">
            <a:avLst/>
          </a:prstGeom>
          <a:noFill/>
        </p:spPr>
        <p:txBody>
          <a:bodyPr wrap="square" lIns="18288" tIns="18288" rIns="18288" bIns="18288">
            <a:spAutoFit/>
          </a:bodyPr>
          <a:lstStyle/>
          <a:p>
            <a:pPr algn="l"/>
            <a:r>
              <a:rPr sz="1150" b="1">
                <a:solidFill>
                  <a:srgbClr val="EB4D78"/>
                </a:solidFill>
              </a:rPr>
              <a:t>Consumer side</a:t>
            </a:r>
          </a:p>
        </p:txBody>
      </p:sp>
      <p:sp>
        <p:nvSpPr>
          <p:cNvPr id="7" name="Rounded Rectangle 6"/>
          <p:cNvSpPr/>
          <p:nvPr/>
        </p:nvSpPr>
        <p:spPr>
          <a:xfrm>
            <a:off x="548640" y="1389888"/>
            <a:ext cx="2148840" cy="731520"/>
          </a:xfrm>
          <a:prstGeom prst="roundRect">
            <a:avLst/>
          </a:prstGeom>
          <a:solidFill>
            <a:srgbClr val="F9F9F9"/>
          </a:solidFill>
          <a:ln w="22860">
            <a:solidFill>
              <a:srgbClr val="0C5899"/>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380" b="1">
                <a:solidFill>
                  <a:srgbClr val="142530"/>
                </a:solidFill>
              </a:rPr>
              <a:t>1. Producer-1
creates Task 1</a:t>
            </a:r>
          </a:p>
        </p:txBody>
      </p:sp>
      <p:sp>
        <p:nvSpPr>
          <p:cNvPr id="9" name="Rounded Rectangle 8"/>
          <p:cNvSpPr/>
          <p:nvPr/>
        </p:nvSpPr>
        <p:spPr>
          <a:xfrm>
            <a:off x="3246120" y="1389888"/>
            <a:ext cx="2148840" cy="731520"/>
          </a:xfrm>
          <a:prstGeom prst="roundRect">
            <a:avLst/>
          </a:prstGeom>
          <a:solidFill>
            <a:srgbClr val="F9F9F9"/>
          </a:solidFill>
          <a:ln w="22860">
            <a:solidFill>
              <a:srgbClr val="F4BC37"/>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380" b="1">
                <a:solidFill>
                  <a:srgbClr val="142530"/>
                </a:solidFill>
              </a:rPr>
              <a:t>2. put(Task 1)
asks the queue
for safe access</a:t>
            </a:r>
          </a:p>
        </p:txBody>
      </p:sp>
      <p:sp>
        <p:nvSpPr>
          <p:cNvPr id="11" name="Rounded Rectangle 10"/>
          <p:cNvSpPr/>
          <p:nvPr/>
        </p:nvSpPr>
        <p:spPr>
          <a:xfrm>
            <a:off x="5943600" y="1389888"/>
            <a:ext cx="2148840" cy="731520"/>
          </a:xfrm>
          <a:prstGeom prst="roundRect">
            <a:avLst/>
          </a:prstGeom>
          <a:solidFill>
            <a:srgbClr val="F9F9F9"/>
          </a:solidFill>
          <a:ln w="22860">
            <a:solidFill>
              <a:srgbClr val="F4BC37"/>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380" b="1">
                <a:solidFill>
                  <a:srgbClr val="142530"/>
                </a:solidFill>
              </a:rPr>
              <a:t>3. Queue lock
protects the shared
RAM structure</a:t>
            </a:r>
          </a:p>
        </p:txBody>
      </p:sp>
      <p:sp>
        <p:nvSpPr>
          <p:cNvPr id="13" name="Rounded Rectangle 12"/>
          <p:cNvSpPr/>
          <p:nvPr/>
        </p:nvSpPr>
        <p:spPr>
          <a:xfrm>
            <a:off x="8641080" y="1389888"/>
            <a:ext cx="2148840" cy="731520"/>
          </a:xfrm>
          <a:prstGeom prst="roundRect">
            <a:avLst/>
          </a:prstGeom>
          <a:solidFill>
            <a:srgbClr val="F9F9F9"/>
          </a:solidFill>
          <a:ln w="22860">
            <a:solidFill>
              <a:srgbClr val="1DC9BA"/>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380" b="1">
                <a:solidFill>
                  <a:srgbClr val="142530"/>
                </a:solidFill>
              </a:rPr>
              <a:t>4. Task 1 is stored
and a consumer
can be notified</a:t>
            </a:r>
          </a:p>
        </p:txBody>
      </p:sp>
      <p:sp>
        <p:nvSpPr>
          <p:cNvPr id="14" name="Rounded Rectangle 13"/>
          <p:cNvSpPr/>
          <p:nvPr/>
        </p:nvSpPr>
        <p:spPr>
          <a:xfrm>
            <a:off x="1143000" y="2331720"/>
            <a:ext cx="9875520" cy="566928"/>
          </a:xfrm>
          <a:prstGeom prst="roundRect">
            <a:avLst/>
          </a:prstGeom>
          <a:solidFill>
            <a:srgbClr val="EBF5F7"/>
          </a:solidFill>
          <a:ln w="22860">
            <a:solidFill>
              <a:srgbClr val="1DC9BA"/>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550" b="1">
                <a:solidFill>
                  <a:srgbClr val="142530"/>
                </a:solidFill>
              </a:rPr>
              <a:t>If the queue is full: producer blocks → OS saves its state → producer wakes only when space becomes available.</a:t>
            </a:r>
          </a:p>
        </p:txBody>
      </p:sp>
      <p:sp>
        <p:nvSpPr>
          <p:cNvPr id="15" name="Rounded Rectangle 14"/>
          <p:cNvSpPr/>
          <p:nvPr/>
        </p:nvSpPr>
        <p:spPr>
          <a:xfrm>
            <a:off x="548640" y="3657600"/>
            <a:ext cx="2148840" cy="731520"/>
          </a:xfrm>
          <a:prstGeom prst="roundRect">
            <a:avLst/>
          </a:prstGeom>
          <a:solidFill>
            <a:srgbClr val="F9F9F9"/>
          </a:solidFill>
          <a:ln w="22860">
            <a:solidFill>
              <a:srgbClr val="EB4D78"/>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380" b="1">
                <a:solidFill>
                  <a:srgbClr val="142530"/>
                </a:solidFill>
              </a:rPr>
              <a:t>5. Worker-1
calls get()</a:t>
            </a:r>
          </a:p>
        </p:txBody>
      </p:sp>
      <p:sp>
        <p:nvSpPr>
          <p:cNvPr id="17" name="Rounded Rectangle 16"/>
          <p:cNvSpPr/>
          <p:nvPr/>
        </p:nvSpPr>
        <p:spPr>
          <a:xfrm>
            <a:off x="3246120" y="3657600"/>
            <a:ext cx="2148840" cy="731520"/>
          </a:xfrm>
          <a:prstGeom prst="roundRect">
            <a:avLst/>
          </a:prstGeom>
          <a:solidFill>
            <a:srgbClr val="F9F9F9"/>
          </a:solidFill>
          <a:ln w="22860">
            <a:solidFill>
              <a:srgbClr val="F4BC37"/>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380" b="1">
                <a:solidFill>
                  <a:srgbClr val="142530"/>
                </a:solidFill>
              </a:rPr>
              <a:t>6. Queue lock
removes Task 1
safely</a:t>
            </a:r>
          </a:p>
        </p:txBody>
      </p:sp>
      <p:sp>
        <p:nvSpPr>
          <p:cNvPr id="19" name="Rounded Rectangle 18"/>
          <p:cNvSpPr/>
          <p:nvPr/>
        </p:nvSpPr>
        <p:spPr>
          <a:xfrm>
            <a:off x="5943600" y="3657600"/>
            <a:ext cx="2148840" cy="731520"/>
          </a:xfrm>
          <a:prstGeom prst="roundRect">
            <a:avLst/>
          </a:prstGeom>
          <a:solidFill>
            <a:srgbClr val="F9F9F9"/>
          </a:solidFill>
          <a:ln w="22860">
            <a:solidFill>
              <a:srgbClr val="1DC9BA"/>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380" b="1">
                <a:solidFill>
                  <a:srgbClr val="142530"/>
                </a:solidFill>
              </a:rPr>
              <a:t>7. Removing a task
can wake a blocked
producer</a:t>
            </a:r>
          </a:p>
        </p:txBody>
      </p:sp>
      <p:sp>
        <p:nvSpPr>
          <p:cNvPr id="21" name="Rounded Rectangle 20"/>
          <p:cNvSpPr/>
          <p:nvPr/>
        </p:nvSpPr>
        <p:spPr>
          <a:xfrm>
            <a:off x="8641080" y="3584448"/>
            <a:ext cx="2148840" cy="868680"/>
          </a:xfrm>
          <a:prstGeom prst="roundRect">
            <a:avLst/>
          </a:prstGeom>
          <a:solidFill>
            <a:srgbClr val="F9F9F9"/>
          </a:solidFill>
          <a:ln w="22860">
            <a:solidFill>
              <a:srgbClr val="EB4D7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300" b="1">
                <a:solidFill>
                  <a:srgbClr val="142530"/>
                </a:solidFill>
              </a:rPr>
              <a:t>8. Worker-1
processes Task 1;
sleep releases GIL</a:t>
            </a:r>
          </a:p>
        </p:txBody>
      </p:sp>
      <p:sp>
        <p:nvSpPr>
          <p:cNvPr id="22" name="Rounded Rectangle 21"/>
          <p:cNvSpPr/>
          <p:nvPr/>
        </p:nvSpPr>
        <p:spPr>
          <a:xfrm>
            <a:off x="1143000" y="4919472"/>
            <a:ext cx="9875520" cy="566928"/>
          </a:xfrm>
          <a:prstGeom prst="roundRect">
            <a:avLst/>
          </a:prstGeom>
          <a:solidFill>
            <a:srgbClr val="EBF5F7"/>
          </a:solidFill>
          <a:ln w="22860">
            <a:solidFill>
              <a:srgbClr val="1DC9BA"/>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530" b="1">
                <a:solidFill>
                  <a:srgbClr val="142530"/>
                </a:solidFill>
              </a:rPr>
              <a:t>Meaning: the queue is not just storage. It also controls locking, blocking, and wake-up signals between threads.</a:t>
            </a:r>
          </a:p>
        </p:txBody>
      </p:sp>
      <p:sp>
        <p:nvSpPr>
          <p:cNvPr id="24" name="Shape 7"/>
          <p:cNvSpPr/>
          <p:nvPr/>
        </p:nvSpPr>
        <p:spPr>
          <a:xfrm>
            <a:off x="2697480" y="1730092"/>
            <a:ext cx="548640" cy="0"/>
          </a:xfrm>
          <a:prstGeom prst="line">
            <a:avLst/>
          </a:prstGeom>
          <a:noFill/>
          <a:ln w="25400">
            <a:solidFill>
              <a:srgbClr val="0F4C81"/>
            </a:solidFill>
            <a:prstDash val="solid"/>
            <a:headEnd type="none"/>
            <a:tailEnd type="triangle"/>
          </a:ln>
        </p:spPr>
        <p:txBody>
          <a:bodyPr/>
          <a:lstStyle/>
          <a:p>
            <a:endParaRPr/>
          </a:p>
        </p:txBody>
      </p:sp>
      <p:sp>
        <p:nvSpPr>
          <p:cNvPr id="25" name="Shape 7">
            <a:extLst>
              <a:ext uri="{FF2B5EF4-FFF2-40B4-BE49-F238E27FC236}">
                <a16:creationId xmlns:a16="http://schemas.microsoft.com/office/drawing/2014/main" id="{439DBAED-DEEE-9C4D-7306-803FEE09CA30}"/>
              </a:ext>
            </a:extLst>
          </p:cNvPr>
          <p:cNvSpPr/>
          <p:nvPr/>
        </p:nvSpPr>
        <p:spPr>
          <a:xfrm>
            <a:off x="5394960" y="1754007"/>
            <a:ext cx="548640" cy="0"/>
          </a:xfrm>
          <a:prstGeom prst="line">
            <a:avLst/>
          </a:prstGeom>
          <a:noFill/>
          <a:ln w="25400">
            <a:solidFill>
              <a:srgbClr val="0F4C81"/>
            </a:solidFill>
            <a:prstDash val="solid"/>
            <a:headEnd type="none"/>
            <a:tailEnd type="triangle"/>
          </a:ln>
        </p:spPr>
        <p:txBody>
          <a:bodyPr/>
          <a:lstStyle/>
          <a:p>
            <a:endParaRPr/>
          </a:p>
        </p:txBody>
      </p:sp>
      <p:sp>
        <p:nvSpPr>
          <p:cNvPr id="26" name="Shape 7">
            <a:extLst>
              <a:ext uri="{FF2B5EF4-FFF2-40B4-BE49-F238E27FC236}">
                <a16:creationId xmlns:a16="http://schemas.microsoft.com/office/drawing/2014/main" id="{483D2883-DD31-B8A0-D19F-DF68C897CED2}"/>
              </a:ext>
            </a:extLst>
          </p:cNvPr>
          <p:cNvSpPr/>
          <p:nvPr/>
        </p:nvSpPr>
        <p:spPr>
          <a:xfrm>
            <a:off x="8092440" y="1754007"/>
            <a:ext cx="548640" cy="0"/>
          </a:xfrm>
          <a:prstGeom prst="line">
            <a:avLst/>
          </a:prstGeom>
          <a:noFill/>
          <a:ln w="25400">
            <a:solidFill>
              <a:srgbClr val="0F4C81"/>
            </a:solidFill>
            <a:prstDash val="solid"/>
            <a:headEnd type="none"/>
            <a:tailEnd type="triangle"/>
          </a:ln>
        </p:spPr>
        <p:txBody>
          <a:bodyPr/>
          <a:lstStyle/>
          <a:p>
            <a:endParaRPr/>
          </a:p>
        </p:txBody>
      </p:sp>
      <p:sp>
        <p:nvSpPr>
          <p:cNvPr id="27" name="Shape 15">
            <a:extLst>
              <a:ext uri="{FF2B5EF4-FFF2-40B4-BE49-F238E27FC236}">
                <a16:creationId xmlns:a16="http://schemas.microsoft.com/office/drawing/2014/main" id="{3872716C-C8A4-A283-1C6A-E62AE58EB94C}"/>
              </a:ext>
            </a:extLst>
          </p:cNvPr>
          <p:cNvSpPr/>
          <p:nvPr/>
        </p:nvSpPr>
        <p:spPr>
          <a:xfrm>
            <a:off x="2697480" y="4010933"/>
            <a:ext cx="548640" cy="0"/>
          </a:xfrm>
          <a:prstGeom prst="line">
            <a:avLst/>
          </a:prstGeom>
          <a:noFill/>
          <a:ln w="25400">
            <a:solidFill>
              <a:srgbClr val="EF476F"/>
            </a:solidFill>
            <a:prstDash val="solid"/>
            <a:headEnd type="none"/>
            <a:tailEnd type="triangle"/>
          </a:ln>
        </p:spPr>
        <p:txBody>
          <a:bodyPr/>
          <a:lstStyle/>
          <a:p>
            <a:endParaRPr/>
          </a:p>
        </p:txBody>
      </p:sp>
      <p:sp>
        <p:nvSpPr>
          <p:cNvPr id="30" name="Shape 15">
            <a:extLst>
              <a:ext uri="{FF2B5EF4-FFF2-40B4-BE49-F238E27FC236}">
                <a16:creationId xmlns:a16="http://schemas.microsoft.com/office/drawing/2014/main" id="{123B80A0-9DF9-105F-7863-CBAEBD648C15}"/>
              </a:ext>
            </a:extLst>
          </p:cNvPr>
          <p:cNvSpPr/>
          <p:nvPr/>
        </p:nvSpPr>
        <p:spPr>
          <a:xfrm>
            <a:off x="5394960" y="4018435"/>
            <a:ext cx="548640" cy="0"/>
          </a:xfrm>
          <a:prstGeom prst="line">
            <a:avLst/>
          </a:prstGeom>
          <a:noFill/>
          <a:ln w="25400">
            <a:solidFill>
              <a:srgbClr val="EF476F"/>
            </a:solidFill>
            <a:prstDash val="solid"/>
            <a:headEnd type="none"/>
            <a:tailEnd type="triangle"/>
          </a:ln>
        </p:spPr>
        <p:txBody>
          <a:bodyPr/>
          <a:lstStyle/>
          <a:p>
            <a:endParaRPr/>
          </a:p>
        </p:txBody>
      </p:sp>
      <p:sp>
        <p:nvSpPr>
          <p:cNvPr id="31" name="Shape 15">
            <a:extLst>
              <a:ext uri="{FF2B5EF4-FFF2-40B4-BE49-F238E27FC236}">
                <a16:creationId xmlns:a16="http://schemas.microsoft.com/office/drawing/2014/main" id="{CAA8BABC-B0E5-3499-AA33-CAD2889F2392}"/>
              </a:ext>
            </a:extLst>
          </p:cNvPr>
          <p:cNvSpPr/>
          <p:nvPr/>
        </p:nvSpPr>
        <p:spPr>
          <a:xfrm>
            <a:off x="8092440" y="4018435"/>
            <a:ext cx="548640" cy="0"/>
          </a:xfrm>
          <a:prstGeom prst="line">
            <a:avLst/>
          </a:prstGeom>
          <a:noFill/>
          <a:ln w="25400">
            <a:solidFill>
              <a:srgbClr val="EF476F"/>
            </a:solidFill>
            <a:prstDash val="solid"/>
            <a:headEnd type="none"/>
            <a:tailEnd type="triangle"/>
          </a:ln>
        </p:spPr>
        <p:txBody>
          <a:bodyPr/>
          <a:lstStyle/>
          <a:p>
            <a:endParaRPr/>
          </a:p>
        </p:txBody>
      </p:sp>
      <p:sp>
        <p:nvSpPr>
          <p:cNvPr id="32" name="Text 21">
            <a:extLst>
              <a:ext uri="{FF2B5EF4-FFF2-40B4-BE49-F238E27FC236}">
                <a16:creationId xmlns:a16="http://schemas.microsoft.com/office/drawing/2014/main" id="{69C2A2B2-AC27-A9BB-0D1C-A67153575F9A}"/>
              </a:ext>
            </a:extLst>
          </p:cNvPr>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032" y="334035"/>
            <a:ext cx="11155680" cy="457200"/>
          </a:xfrm>
          <a:prstGeom prst="rect">
            <a:avLst/>
          </a:prstGeom>
          <a:noFill/>
        </p:spPr>
        <p:txBody>
          <a:bodyPr wrap="square" lIns="18288" tIns="18288" rIns="18288" bIns="18288">
            <a:spAutoFit/>
          </a:bodyPr>
          <a:lstStyle/>
          <a:p>
            <a:pPr algn="l"/>
            <a:r>
              <a:rPr sz="2400" b="1" dirty="0">
                <a:solidFill>
                  <a:srgbClr val="142530"/>
                </a:solidFill>
              </a:rPr>
              <a:t>GIL scheduling: Producer–Consumer from the start</a:t>
            </a:r>
          </a:p>
        </p:txBody>
      </p:sp>
      <p:sp>
        <p:nvSpPr>
          <p:cNvPr id="3" name="TextBox 2"/>
          <p:cNvSpPr txBox="1"/>
          <p:nvPr/>
        </p:nvSpPr>
        <p:spPr>
          <a:xfrm>
            <a:off x="256032" y="749808"/>
            <a:ext cx="4389120" cy="198516"/>
          </a:xfrm>
          <a:prstGeom prst="rect">
            <a:avLst/>
          </a:prstGeom>
          <a:noFill/>
        </p:spPr>
        <p:txBody>
          <a:bodyPr wrap="square" lIns="18288" tIns="18288" rIns="18288" bIns="18288">
            <a:spAutoFit/>
          </a:bodyPr>
          <a:lstStyle/>
          <a:p>
            <a:pPr algn="l"/>
            <a:r>
              <a:rPr sz="1050" b="1" dirty="0">
                <a:solidFill>
                  <a:srgbClr val="637480"/>
                </a:solidFill>
              </a:rPr>
              <a:t>EXAMPLE ORDER </a:t>
            </a:r>
            <a:r>
              <a:rPr lang="en-US" sz="1050" b="1" dirty="0">
                <a:solidFill>
                  <a:srgbClr val="637480"/>
                </a:solidFill>
              </a:rPr>
              <a:t>OF EXECUTION</a:t>
            </a:r>
            <a:endParaRPr sz="1050" b="1" dirty="0">
              <a:solidFill>
                <a:srgbClr val="637480"/>
              </a:solidFill>
            </a:endParaRPr>
          </a:p>
        </p:txBody>
      </p:sp>
      <p:cxnSp>
        <p:nvCxnSpPr>
          <p:cNvPr id="4" name="Connector 3"/>
          <p:cNvCxnSpPr/>
          <p:nvPr/>
        </p:nvCxnSpPr>
        <p:spPr>
          <a:xfrm>
            <a:off x="256032" y="987552"/>
            <a:ext cx="10762488" cy="0"/>
          </a:xfrm>
          <a:prstGeom prst="line">
            <a:avLst/>
          </a:prstGeom>
          <a:ln w="12700">
            <a:solidFill>
              <a:srgbClr val="D0D9DD"/>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133856"/>
            <a:ext cx="10332720" cy="502920"/>
          </a:xfrm>
          <a:prstGeom prst="roundRect">
            <a:avLst/>
          </a:prstGeom>
          <a:solidFill>
            <a:srgbClr val="EBF5F7"/>
          </a:solidFill>
          <a:ln w="22860">
            <a:solidFill>
              <a:srgbClr val="1DC9BA"/>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470" b="1">
                <a:solidFill>
                  <a:srgbClr val="142530"/>
                </a:solidFill>
              </a:rPr>
              <a:t>Exact order can change by OS scheduling, but the control pattern stays the same: hold GIL → do a small action → block/sleep → release GIL.</a:t>
            </a:r>
          </a:p>
        </p:txBody>
      </p:sp>
      <p:graphicFrame>
        <p:nvGraphicFramePr>
          <p:cNvPr id="6" name="Table 5"/>
          <p:cNvGraphicFramePr>
            <a:graphicFrameLocks noGrp="1"/>
          </p:cNvGraphicFramePr>
          <p:nvPr/>
        </p:nvGraphicFramePr>
        <p:xfrm>
          <a:off x="320040" y="1810512"/>
          <a:ext cx="10972800" cy="3803904"/>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384048">
                <a:tc>
                  <a:txBody>
                    <a:bodyPr/>
                    <a:lstStyle/>
                    <a:p>
                      <a:pPr algn="l"/>
                      <a:r>
                        <a:rPr sz="1270" b="1">
                          <a:solidFill>
                            <a:srgbClr val="142530"/>
                          </a:solidFill>
                        </a:rPr>
                        <a:t>Time</a:t>
                      </a:r>
                    </a:p>
                  </a:txBody>
                  <a:tcPr marL="36576" marR="36576" marT="18288" marB="18288">
                    <a:solidFill>
                      <a:srgbClr val="F1F5F7"/>
                    </a:solidFill>
                  </a:tcPr>
                </a:tc>
                <a:tc>
                  <a:txBody>
                    <a:bodyPr/>
                    <a:lstStyle/>
                    <a:p>
                      <a:pPr algn="l"/>
                      <a:r>
                        <a:rPr sz="1270" b="1">
                          <a:solidFill>
                            <a:srgbClr val="142530"/>
                          </a:solidFill>
                        </a:rPr>
                        <a:t>GIL holder</a:t>
                      </a:r>
                    </a:p>
                  </a:txBody>
                  <a:tcPr marL="36576" marR="36576" marT="18288" marB="18288">
                    <a:solidFill>
                      <a:srgbClr val="F1F5F7"/>
                    </a:solidFill>
                  </a:tcPr>
                </a:tc>
                <a:tc>
                  <a:txBody>
                    <a:bodyPr/>
                    <a:lstStyle/>
                    <a:p>
                      <a:pPr algn="l"/>
                      <a:r>
                        <a:rPr sz="1270" b="1">
                          <a:solidFill>
                            <a:srgbClr val="142530"/>
                          </a:solidFill>
                        </a:rPr>
                        <a:t>What happens now</a:t>
                      </a:r>
                    </a:p>
                  </a:txBody>
                  <a:tcPr marL="36576" marR="36576" marT="18288" marB="18288">
                    <a:solidFill>
                      <a:srgbClr val="F1F5F7"/>
                    </a:solidFill>
                  </a:tcPr>
                </a:tc>
                <a:tc>
                  <a:txBody>
                    <a:bodyPr/>
                    <a:lstStyle/>
                    <a:p>
                      <a:pPr algn="l"/>
                      <a:r>
                        <a:rPr sz="1270" b="1">
                          <a:solidFill>
                            <a:srgbClr val="142530"/>
                          </a:solidFill>
                        </a:rPr>
                        <a:t>What others are doing</a:t>
                      </a:r>
                    </a:p>
                  </a:txBody>
                  <a:tcPr marL="36576" marR="36576" marT="18288" marB="18288">
                    <a:solidFill>
                      <a:srgbClr val="F1F5F7"/>
                    </a:solidFill>
                  </a:tcPr>
                </a:tc>
                <a:extLst>
                  <a:ext uri="{0D108BD9-81ED-4DB2-BD59-A6C34878D82A}">
                    <a16:rowId xmlns:a16="http://schemas.microsoft.com/office/drawing/2014/main" val="10000"/>
                  </a:ext>
                </a:extLst>
              </a:tr>
              <a:tr h="493776">
                <a:tc>
                  <a:txBody>
                    <a:bodyPr/>
                    <a:lstStyle/>
                    <a:p>
                      <a:pPr algn="l"/>
                      <a:r>
                        <a:rPr sz="1230" b="1">
                          <a:solidFill>
                            <a:srgbClr val="142530"/>
                          </a:solidFill>
                        </a:rPr>
                        <a:t>T1</a:t>
                      </a:r>
                    </a:p>
                  </a:txBody>
                  <a:tcPr marL="36576" marR="36576" marT="18288" marB="18288">
                    <a:solidFill>
                      <a:srgbClr val="FFFFFF"/>
                    </a:solidFill>
                  </a:tcPr>
                </a:tc>
                <a:tc>
                  <a:txBody>
                    <a:bodyPr/>
                    <a:lstStyle/>
                    <a:p>
                      <a:pPr algn="l"/>
                      <a:r>
                        <a:rPr sz="1230" b="1">
                          <a:solidFill>
                            <a:srgbClr val="0C5899"/>
                          </a:solidFill>
                        </a:rPr>
                        <a:t>Producer-1</a:t>
                      </a:r>
                    </a:p>
                  </a:txBody>
                  <a:tcPr marL="36576" marR="36576" marT="18288" marB="18288">
                    <a:solidFill>
                      <a:srgbClr val="FFFFFF"/>
                    </a:solidFill>
                  </a:tcPr>
                </a:tc>
                <a:tc>
                  <a:txBody>
                    <a:bodyPr/>
                    <a:lstStyle/>
                    <a:p>
                      <a:pPr algn="l"/>
                      <a:r>
                        <a:rPr sz="1070">
                          <a:solidFill>
                            <a:srgbClr val="142530"/>
                          </a:solidFill>
                        </a:rPr>
                        <a:t>Creates Task 1 and executes task_queue.put(1). Queue lock safely stores Task 1.</a:t>
                      </a:r>
                    </a:p>
                  </a:txBody>
                  <a:tcPr marL="36576" marR="36576" marT="18288" marB="18288">
                    <a:solidFill>
                      <a:srgbClr val="FFFFFF"/>
                    </a:solidFill>
                  </a:tcPr>
                </a:tc>
                <a:tc>
                  <a:txBody>
                    <a:bodyPr/>
                    <a:lstStyle/>
                    <a:p>
                      <a:pPr algn="l"/>
                      <a:r>
                        <a:rPr sz="1070">
                          <a:solidFill>
                            <a:srgbClr val="142530"/>
                          </a:solidFill>
                        </a:rPr>
                        <a:t>Producer-2, Worker-1, and Worker-2 are ready, but they wait for their turn.</a:t>
                      </a:r>
                    </a:p>
                  </a:txBody>
                  <a:tcPr marL="36576" marR="36576" marT="18288" marB="18288">
                    <a:solidFill>
                      <a:srgbClr val="FFFFFF"/>
                    </a:solidFill>
                  </a:tcPr>
                </a:tc>
                <a:extLst>
                  <a:ext uri="{0D108BD9-81ED-4DB2-BD59-A6C34878D82A}">
                    <a16:rowId xmlns:a16="http://schemas.microsoft.com/office/drawing/2014/main" val="10001"/>
                  </a:ext>
                </a:extLst>
              </a:tr>
              <a:tr h="493776">
                <a:tc>
                  <a:txBody>
                    <a:bodyPr/>
                    <a:lstStyle/>
                    <a:p>
                      <a:pPr algn="l"/>
                      <a:r>
                        <a:rPr sz="1230" b="1">
                          <a:solidFill>
                            <a:srgbClr val="142530"/>
                          </a:solidFill>
                        </a:rPr>
                        <a:t>T2</a:t>
                      </a:r>
                    </a:p>
                  </a:txBody>
                  <a:tcPr marL="36576" marR="36576" marT="18288" marB="18288">
                    <a:solidFill>
                      <a:srgbClr val="FFFFFF"/>
                    </a:solidFill>
                  </a:tcPr>
                </a:tc>
                <a:tc>
                  <a:txBody>
                    <a:bodyPr/>
                    <a:lstStyle/>
                    <a:p>
                      <a:pPr algn="l"/>
                      <a:r>
                        <a:rPr sz="1230" b="1">
                          <a:solidFill>
                            <a:srgbClr val="0C5899"/>
                          </a:solidFill>
                        </a:rPr>
                        <a:t>Producer-1</a:t>
                      </a:r>
                    </a:p>
                    <a:p>
                      <a:pPr algn="l"/>
                      <a:r>
                        <a:rPr sz="1230" b="1">
                          <a:solidFill>
                            <a:srgbClr val="0C5899"/>
                          </a:solidFill>
                        </a:rPr>
                        <a:t>releases GIL</a:t>
                      </a:r>
                    </a:p>
                  </a:txBody>
                  <a:tcPr marL="36576" marR="36576" marT="18288" marB="18288">
                    <a:solidFill>
                      <a:srgbClr val="FFFFFF"/>
                    </a:solidFill>
                  </a:tcPr>
                </a:tc>
                <a:tc>
                  <a:txBody>
                    <a:bodyPr/>
                    <a:lstStyle/>
                    <a:p>
                      <a:pPr algn="l"/>
                      <a:r>
                        <a:rPr sz="1070">
                          <a:solidFill>
                            <a:srgbClr val="142530"/>
                          </a:solidFill>
                        </a:rPr>
                        <a:t>Producer-1 reaches time.sleep(0.5). CPython releases the GIL and OS puts it on a timer.</a:t>
                      </a:r>
                    </a:p>
                  </a:txBody>
                  <a:tcPr marL="36576" marR="36576" marT="18288" marB="18288">
                    <a:solidFill>
                      <a:srgbClr val="FFFFFF"/>
                    </a:solidFill>
                  </a:tcPr>
                </a:tc>
                <a:tc>
                  <a:txBody>
                    <a:bodyPr/>
                    <a:lstStyle/>
                    <a:p>
                      <a:pPr algn="l"/>
                      <a:r>
                        <a:rPr sz="1070">
                          <a:solidFill>
                            <a:srgbClr val="142530"/>
                          </a:solidFill>
                        </a:rPr>
                        <a:t>Now another ready thread can run.</a:t>
                      </a:r>
                    </a:p>
                  </a:txBody>
                  <a:tcPr marL="36576" marR="36576" marT="18288" marB="18288">
                    <a:solidFill>
                      <a:srgbClr val="FFFFFF"/>
                    </a:solidFill>
                  </a:tcPr>
                </a:tc>
                <a:extLst>
                  <a:ext uri="{0D108BD9-81ED-4DB2-BD59-A6C34878D82A}">
                    <a16:rowId xmlns:a16="http://schemas.microsoft.com/office/drawing/2014/main" val="10002"/>
                  </a:ext>
                </a:extLst>
              </a:tr>
              <a:tr h="621792">
                <a:tc>
                  <a:txBody>
                    <a:bodyPr/>
                    <a:lstStyle/>
                    <a:p>
                      <a:pPr algn="l"/>
                      <a:r>
                        <a:rPr sz="1230" b="1">
                          <a:solidFill>
                            <a:srgbClr val="142530"/>
                          </a:solidFill>
                        </a:rPr>
                        <a:t>T3</a:t>
                      </a:r>
                    </a:p>
                  </a:txBody>
                  <a:tcPr marL="36576" marR="36576" marT="18288" marB="18288">
                    <a:solidFill>
                      <a:srgbClr val="FFFFFF"/>
                    </a:solidFill>
                  </a:tcPr>
                </a:tc>
                <a:tc>
                  <a:txBody>
                    <a:bodyPr/>
                    <a:lstStyle/>
                    <a:p>
                      <a:pPr algn="l"/>
                      <a:r>
                        <a:rPr sz="1230" b="1">
                          <a:solidFill>
                            <a:srgbClr val="0C5899"/>
                          </a:solidFill>
                        </a:rPr>
                        <a:t>Producer-2</a:t>
                      </a:r>
                    </a:p>
                  </a:txBody>
                  <a:tcPr marL="36576" marR="36576" marT="18288" marB="18288">
                    <a:solidFill>
                      <a:srgbClr val="FFFFFF"/>
                    </a:solidFill>
                  </a:tcPr>
                </a:tc>
                <a:tc>
                  <a:txBody>
                    <a:bodyPr/>
                    <a:lstStyle/>
                    <a:p>
                      <a:pPr algn="l"/>
                      <a:r>
                        <a:rPr sz="1070">
                          <a:solidFill>
                            <a:srgbClr val="142530"/>
                          </a:solidFill>
                        </a:rPr>
                        <a:t>Producer-2 gets the GIL and puts its first task into the same shared queue safely.</a:t>
                      </a:r>
                    </a:p>
                  </a:txBody>
                  <a:tcPr marL="36576" marR="36576" marT="18288" marB="18288">
                    <a:solidFill>
                      <a:srgbClr val="FFFFFF"/>
                    </a:solidFill>
                  </a:tcPr>
                </a:tc>
                <a:tc>
                  <a:txBody>
                    <a:bodyPr/>
                    <a:lstStyle/>
                    <a:p>
                      <a:pPr algn="l"/>
                      <a:r>
                        <a:rPr sz="1070">
                          <a:solidFill>
                            <a:srgbClr val="142530"/>
                          </a:solidFill>
                        </a:rPr>
                        <a:t>Workers are ready to take items; Producer-1 is sleeping.</a:t>
                      </a:r>
                    </a:p>
                  </a:txBody>
                  <a:tcPr marL="36576" marR="36576" marT="18288" marB="18288">
                    <a:solidFill>
                      <a:srgbClr val="FFFFFF"/>
                    </a:solidFill>
                  </a:tcPr>
                </a:tc>
                <a:extLst>
                  <a:ext uri="{0D108BD9-81ED-4DB2-BD59-A6C34878D82A}">
                    <a16:rowId xmlns:a16="http://schemas.microsoft.com/office/drawing/2014/main" val="10003"/>
                  </a:ext>
                </a:extLst>
              </a:tr>
              <a:tr h="621792">
                <a:tc>
                  <a:txBody>
                    <a:bodyPr/>
                    <a:lstStyle/>
                    <a:p>
                      <a:pPr algn="l"/>
                      <a:r>
                        <a:rPr sz="1230" b="1">
                          <a:solidFill>
                            <a:srgbClr val="142530"/>
                          </a:solidFill>
                        </a:rPr>
                        <a:t>T4</a:t>
                      </a:r>
                    </a:p>
                  </a:txBody>
                  <a:tcPr marL="36576" marR="36576" marT="18288" marB="18288">
                    <a:solidFill>
                      <a:srgbClr val="FFFFFF"/>
                    </a:solidFill>
                  </a:tcPr>
                </a:tc>
                <a:tc>
                  <a:txBody>
                    <a:bodyPr/>
                    <a:lstStyle/>
                    <a:p>
                      <a:pPr algn="l"/>
                      <a:r>
                        <a:rPr sz="1230" b="1">
                          <a:solidFill>
                            <a:srgbClr val="0C5899"/>
                          </a:solidFill>
                        </a:rPr>
                        <a:t>Worker-1</a:t>
                      </a:r>
                    </a:p>
                  </a:txBody>
                  <a:tcPr marL="36576" marR="36576" marT="18288" marB="18288">
                    <a:solidFill>
                      <a:srgbClr val="FFFFFF"/>
                    </a:solidFill>
                  </a:tcPr>
                </a:tc>
                <a:tc>
                  <a:txBody>
                    <a:bodyPr/>
                    <a:lstStyle/>
                    <a:p>
                      <a:pPr algn="l"/>
                      <a:r>
                        <a:rPr sz="1070">
                          <a:solidFill>
                            <a:srgbClr val="142530"/>
                          </a:solidFill>
                        </a:rPr>
                        <a:t>Worker-1 gets the GIL, calls get(), removes Task 1, prints processing, then hits time.sleep(2).</a:t>
                      </a:r>
                    </a:p>
                  </a:txBody>
                  <a:tcPr marL="36576" marR="36576" marT="18288" marB="18288">
                    <a:solidFill>
                      <a:srgbClr val="FFFFFF"/>
                    </a:solidFill>
                  </a:tcPr>
                </a:tc>
                <a:tc>
                  <a:txBody>
                    <a:bodyPr/>
                    <a:lstStyle/>
                    <a:p>
                      <a:pPr algn="l"/>
                      <a:r>
                        <a:rPr sz="1070">
                          <a:solidFill>
                            <a:srgbClr val="142530"/>
                          </a:solidFill>
                        </a:rPr>
                        <a:t>Because Worker-1 sleeps, it releases the GIL. Other ready threads can continue.</a:t>
                      </a:r>
                    </a:p>
                  </a:txBody>
                  <a:tcPr marL="36576" marR="36576" marT="18288" marB="18288">
                    <a:solidFill>
                      <a:srgbClr val="FFFFFF"/>
                    </a:solidFill>
                  </a:tcPr>
                </a:tc>
                <a:extLst>
                  <a:ext uri="{0D108BD9-81ED-4DB2-BD59-A6C34878D82A}">
                    <a16:rowId xmlns:a16="http://schemas.microsoft.com/office/drawing/2014/main" val="10004"/>
                  </a:ext>
                </a:extLst>
              </a:tr>
              <a:tr h="594360">
                <a:tc>
                  <a:txBody>
                    <a:bodyPr/>
                    <a:lstStyle/>
                    <a:p>
                      <a:pPr algn="l"/>
                      <a:r>
                        <a:rPr sz="1230" b="1">
                          <a:solidFill>
                            <a:srgbClr val="142530"/>
                          </a:solidFill>
                        </a:rPr>
                        <a:t>T5</a:t>
                      </a:r>
                    </a:p>
                  </a:txBody>
                  <a:tcPr marL="36576" marR="36576" marT="18288" marB="18288">
                    <a:solidFill>
                      <a:srgbClr val="FFFFFF"/>
                    </a:solidFill>
                  </a:tcPr>
                </a:tc>
                <a:tc>
                  <a:txBody>
                    <a:bodyPr/>
                    <a:lstStyle/>
                    <a:p>
                      <a:pPr algn="l"/>
                      <a:r>
                        <a:rPr sz="1230" b="1">
                          <a:solidFill>
                            <a:srgbClr val="0C5899"/>
                          </a:solidFill>
                        </a:rPr>
                        <a:t>Worker-2</a:t>
                      </a:r>
                    </a:p>
                  </a:txBody>
                  <a:tcPr marL="36576" marR="36576" marT="18288" marB="18288">
                    <a:solidFill>
                      <a:srgbClr val="FFFFFF"/>
                    </a:solidFill>
                  </a:tcPr>
                </a:tc>
                <a:tc>
                  <a:txBody>
                    <a:bodyPr/>
                    <a:lstStyle/>
                    <a:p>
                      <a:pPr algn="l"/>
                      <a:r>
                        <a:rPr sz="1070">
                          <a:solidFill>
                            <a:srgbClr val="142530"/>
                          </a:solidFill>
                        </a:rPr>
                        <a:t>Worker-2 gets the GIL, calls get(), removes the next task, and also sleeps while processing.</a:t>
                      </a:r>
                    </a:p>
                  </a:txBody>
                  <a:tcPr marL="36576" marR="36576" marT="18288" marB="18288">
                    <a:solidFill>
                      <a:srgbClr val="FFFFFF"/>
                    </a:solidFill>
                  </a:tcPr>
                </a:tc>
                <a:tc>
                  <a:txBody>
                    <a:bodyPr/>
                    <a:lstStyle/>
                    <a:p>
                      <a:pPr algn="l"/>
                      <a:r>
                        <a:rPr sz="1070">
                          <a:solidFill>
                            <a:srgbClr val="142530"/>
                          </a:solidFill>
                        </a:rPr>
                        <a:t>Both workers are processing by waiting on timers; this is why output looks concurrent.</a:t>
                      </a:r>
                    </a:p>
                  </a:txBody>
                  <a:tcPr marL="36576" marR="36576" marT="18288" marB="18288">
                    <a:solidFill>
                      <a:srgbClr val="FFFFFF"/>
                    </a:solidFill>
                  </a:tcPr>
                </a:tc>
                <a:extLst>
                  <a:ext uri="{0D108BD9-81ED-4DB2-BD59-A6C34878D82A}">
                    <a16:rowId xmlns:a16="http://schemas.microsoft.com/office/drawing/2014/main" val="10005"/>
                  </a:ext>
                </a:extLst>
              </a:tr>
              <a:tr h="594360">
                <a:tc>
                  <a:txBody>
                    <a:bodyPr/>
                    <a:lstStyle/>
                    <a:p>
                      <a:pPr algn="l"/>
                      <a:r>
                        <a:rPr sz="1230" b="1">
                          <a:solidFill>
                            <a:srgbClr val="142530"/>
                          </a:solidFill>
                        </a:rPr>
                        <a:t>T6</a:t>
                      </a:r>
                    </a:p>
                  </a:txBody>
                  <a:tcPr marL="36576" marR="36576" marT="18288" marB="18288">
                    <a:solidFill>
                      <a:srgbClr val="FFFFFF"/>
                    </a:solidFill>
                  </a:tcPr>
                </a:tc>
                <a:tc>
                  <a:txBody>
                    <a:bodyPr/>
                    <a:lstStyle/>
                    <a:p>
                      <a:pPr algn="l"/>
                      <a:r>
                        <a:rPr sz="1230" b="1">
                          <a:solidFill>
                            <a:srgbClr val="0C5899"/>
                          </a:solidFill>
                        </a:rPr>
                        <a:t>Producer thread</a:t>
                      </a:r>
                    </a:p>
                    <a:p>
                      <a:pPr algn="l"/>
                      <a:r>
                        <a:rPr sz="1230" b="1">
                          <a:solidFill>
                            <a:srgbClr val="0C5899"/>
                          </a:solidFill>
                        </a:rPr>
                        <a:t>or worker</a:t>
                      </a:r>
                    </a:p>
                  </a:txBody>
                  <a:tcPr marL="36576" marR="36576" marT="18288" marB="18288">
                    <a:solidFill>
                      <a:srgbClr val="FFFFFF"/>
                    </a:solidFill>
                  </a:tcPr>
                </a:tc>
                <a:tc>
                  <a:txBody>
                    <a:bodyPr/>
                    <a:lstStyle/>
                    <a:p>
                      <a:pPr algn="l"/>
                      <a:r>
                        <a:rPr sz="1070">
                          <a:solidFill>
                            <a:srgbClr val="142530"/>
                          </a:solidFill>
                        </a:rPr>
                        <a:t>When a producer wakes, it tries to add the next task. If the queue is full, it blocks. When a worker finishes, task_done() frees progress.</a:t>
                      </a:r>
                    </a:p>
                  </a:txBody>
                  <a:tcPr marL="36576" marR="36576" marT="18288" marB="18288">
                    <a:solidFill>
                      <a:srgbClr val="FFFFFF"/>
                    </a:solidFill>
                  </a:tcPr>
                </a:tc>
                <a:tc>
                  <a:txBody>
                    <a:bodyPr/>
                    <a:lstStyle/>
                    <a:p>
                      <a:pPr algn="l"/>
                      <a:r>
                        <a:rPr sz="1070">
                          <a:solidFill>
                            <a:srgbClr val="142530"/>
                          </a:solidFill>
                        </a:rPr>
                        <a:t>The OS keeps switching between ready threads until producers finish, queue drains, and None stops workers.</a:t>
                      </a:r>
                    </a:p>
                  </a:txBody>
                  <a:tcPr marL="36576" marR="36576" marT="18288" marB="18288">
                    <a:solidFill>
                      <a:srgbClr val="FFFFFF"/>
                    </a:solidFill>
                  </a:tcPr>
                </a:tc>
                <a:extLst>
                  <a:ext uri="{0D108BD9-81ED-4DB2-BD59-A6C34878D82A}">
                    <a16:rowId xmlns:a16="http://schemas.microsoft.com/office/drawing/2014/main" val="10006"/>
                  </a:ext>
                </a:extLst>
              </a:tr>
            </a:tbl>
          </a:graphicData>
        </a:graphic>
      </p:graphicFrame>
      <p:sp>
        <p:nvSpPr>
          <p:cNvPr id="7" name="Rounded Rectangle 6"/>
          <p:cNvSpPr/>
          <p:nvPr/>
        </p:nvSpPr>
        <p:spPr>
          <a:xfrm>
            <a:off x="731520" y="5623560"/>
            <a:ext cx="10104120" cy="475488"/>
          </a:xfrm>
          <a:prstGeom prst="roundRect">
            <a:avLst/>
          </a:prstGeom>
          <a:solidFill>
            <a:srgbClr val="FFF8FA"/>
          </a:solidFill>
          <a:ln w="22860">
            <a:solidFill>
              <a:srgbClr val="EB4D78"/>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r>
              <a:rPr sz="1400" b="1">
                <a:solidFill>
                  <a:srgbClr val="142530"/>
                </a:solidFill>
              </a:rPr>
              <a:t>Main point: P1, P2, W1, and W2 do not all run Python bytecode at the exact same microsecond; they switch fast whenever sleep/blocking releases control.</a:t>
            </a:r>
          </a:p>
        </p:txBody>
      </p:sp>
      <p:sp>
        <p:nvSpPr>
          <p:cNvPr id="9" name="Text 21">
            <a:extLst>
              <a:ext uri="{FF2B5EF4-FFF2-40B4-BE49-F238E27FC236}">
                <a16:creationId xmlns:a16="http://schemas.microsoft.com/office/drawing/2014/main" id="{72779764-9CF4-DBC8-5756-874C802E3613}"/>
              </a:ext>
            </a:extLst>
          </p:cNvPr>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F2"/>
          </a:solidFill>
          <a:ln w="12700">
            <a:solidFill>
              <a:srgbClr val="F8F7F2">
                <a:alpha val="0"/>
              </a:srgbClr>
            </a:solidFill>
            <a:prstDash val="solid"/>
          </a:ln>
        </p:spPr>
        <p:txBody>
          <a:bodyPr/>
          <a:lstStyle/>
          <a:p>
            <a:endParaRPr/>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Worker Pool vs Producer-Consumer</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pPr marL="0" indent="0">
              <a:buNone/>
            </a:pPr>
            <a:r>
              <a:rPr lang="en-US" sz="900" b="1" dirty="0">
                <a:solidFill>
                  <a:srgbClr val="61727A"/>
                </a:solidFill>
              </a:rPr>
              <a:t>DESIGN DIFFERENCES, NOT JUST FEATURES</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Shape 5"/>
          <p:cNvSpPr/>
          <p:nvPr/>
        </p:nvSpPr>
        <p:spPr>
          <a:xfrm>
            <a:off x="640080" y="1234440"/>
            <a:ext cx="10881360" cy="4023360"/>
          </a:xfrm>
          <a:prstGeom prst="roundRect">
            <a:avLst>
              <a:gd name="adj" fmla="val 1136"/>
            </a:avLst>
          </a:prstGeom>
          <a:solidFill>
            <a:srgbClr val="FFFFFF"/>
          </a:solidFill>
          <a:ln w="12700">
            <a:solidFill>
              <a:srgbClr val="CEDADA"/>
            </a:solidFill>
            <a:prstDash val="solid"/>
          </a:ln>
        </p:spPr>
        <p:txBody>
          <a:bodyPr/>
          <a:lstStyle/>
          <a:p>
            <a:endParaRPr/>
          </a:p>
        </p:txBody>
      </p:sp>
      <p:sp>
        <p:nvSpPr>
          <p:cNvPr id="8" name="Text 6"/>
          <p:cNvSpPr/>
          <p:nvPr/>
        </p:nvSpPr>
        <p:spPr>
          <a:xfrm>
            <a:off x="822960" y="1481328"/>
            <a:ext cx="1417320" cy="201168"/>
          </a:xfrm>
          <a:prstGeom prst="rect">
            <a:avLst/>
          </a:prstGeom>
          <a:noFill/>
          <a:ln/>
        </p:spPr>
        <p:txBody>
          <a:bodyPr wrap="square" lIns="0" tIns="0" rIns="0" bIns="0" rtlCol="0" anchor="ctr">
            <a:normAutofit/>
          </a:bodyPr>
          <a:lstStyle/>
          <a:p>
            <a:pPr marL="0" indent="0">
              <a:buNone/>
            </a:pPr>
            <a:r>
              <a:rPr lang="en-US" sz="1100" b="1" dirty="0">
                <a:solidFill>
                  <a:srgbClr val="0F4C81"/>
                </a:solidFill>
              </a:rPr>
              <a:t>Dimension</a:t>
            </a:r>
            <a:endParaRPr lang="en-US" sz="1100" dirty="0"/>
          </a:p>
        </p:txBody>
      </p:sp>
      <p:sp>
        <p:nvSpPr>
          <p:cNvPr id="9" name="Text 7"/>
          <p:cNvSpPr/>
          <p:nvPr/>
        </p:nvSpPr>
        <p:spPr>
          <a:xfrm>
            <a:off x="2423160" y="1481328"/>
            <a:ext cx="3840480" cy="201168"/>
          </a:xfrm>
          <a:prstGeom prst="rect">
            <a:avLst/>
          </a:prstGeom>
          <a:noFill/>
          <a:ln/>
        </p:spPr>
        <p:txBody>
          <a:bodyPr wrap="square" lIns="0" tIns="0" rIns="0" bIns="0" rtlCol="0" anchor="ctr">
            <a:normAutofit/>
          </a:bodyPr>
          <a:lstStyle/>
          <a:p>
            <a:pPr marL="0" indent="0">
              <a:buNone/>
            </a:pPr>
            <a:r>
              <a:rPr lang="en-US" sz="1100" b="1" dirty="0">
                <a:solidFill>
                  <a:srgbClr val="0F4C81"/>
                </a:solidFill>
              </a:rPr>
              <a:t>Worker Pool</a:t>
            </a:r>
            <a:endParaRPr lang="en-US" sz="1100" dirty="0"/>
          </a:p>
        </p:txBody>
      </p:sp>
      <p:sp>
        <p:nvSpPr>
          <p:cNvPr id="10" name="Text 8"/>
          <p:cNvSpPr/>
          <p:nvPr/>
        </p:nvSpPr>
        <p:spPr>
          <a:xfrm>
            <a:off x="6629400" y="1481328"/>
            <a:ext cx="4297680" cy="201168"/>
          </a:xfrm>
          <a:prstGeom prst="rect">
            <a:avLst/>
          </a:prstGeom>
          <a:noFill/>
          <a:ln/>
        </p:spPr>
        <p:txBody>
          <a:bodyPr wrap="square" lIns="0" tIns="0" rIns="0" bIns="0" rtlCol="0" anchor="ctr">
            <a:normAutofit/>
          </a:bodyPr>
          <a:lstStyle/>
          <a:p>
            <a:pPr marL="0" indent="0">
              <a:buNone/>
            </a:pPr>
            <a:r>
              <a:rPr lang="en-US" sz="1100" b="1" dirty="0">
                <a:solidFill>
                  <a:srgbClr val="0F4C81"/>
                </a:solidFill>
              </a:rPr>
              <a:t>Producer-Consumer</a:t>
            </a:r>
            <a:endParaRPr lang="en-US" sz="1100" dirty="0"/>
          </a:p>
        </p:txBody>
      </p:sp>
      <p:sp>
        <p:nvSpPr>
          <p:cNvPr id="11" name="Shape 9"/>
          <p:cNvSpPr/>
          <p:nvPr/>
        </p:nvSpPr>
        <p:spPr>
          <a:xfrm>
            <a:off x="822960" y="1892808"/>
            <a:ext cx="10515600" cy="0"/>
          </a:xfrm>
          <a:prstGeom prst="line">
            <a:avLst/>
          </a:prstGeom>
          <a:noFill/>
          <a:ln w="12700">
            <a:solidFill>
              <a:srgbClr val="E1E8E8"/>
            </a:solidFill>
            <a:prstDash val="solid"/>
          </a:ln>
        </p:spPr>
        <p:txBody>
          <a:bodyPr/>
          <a:lstStyle/>
          <a:p>
            <a:endParaRPr/>
          </a:p>
        </p:txBody>
      </p:sp>
      <p:sp>
        <p:nvSpPr>
          <p:cNvPr id="12" name="Text 10"/>
          <p:cNvSpPr/>
          <p:nvPr/>
        </p:nvSpPr>
        <p:spPr>
          <a:xfrm>
            <a:off x="822960" y="2057400"/>
            <a:ext cx="141732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Task flow</a:t>
            </a:r>
            <a:endParaRPr lang="en-US" sz="1050" dirty="0"/>
          </a:p>
        </p:txBody>
      </p:sp>
      <p:sp>
        <p:nvSpPr>
          <p:cNvPr id="13" name="Text 11"/>
          <p:cNvSpPr/>
          <p:nvPr/>
        </p:nvSpPr>
        <p:spPr>
          <a:xfrm>
            <a:off x="2423160" y="2057400"/>
            <a:ext cx="38404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Main submits a fixed batch</a:t>
            </a:r>
            <a:endParaRPr lang="en-US" sz="1050" dirty="0"/>
          </a:p>
        </p:txBody>
      </p:sp>
      <p:sp>
        <p:nvSpPr>
          <p:cNvPr id="14" name="Text 12"/>
          <p:cNvSpPr/>
          <p:nvPr/>
        </p:nvSpPr>
        <p:spPr>
          <a:xfrm>
            <a:off x="6629400" y="2057400"/>
            <a:ext cx="42976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Producers continuously create work</a:t>
            </a:r>
            <a:endParaRPr lang="en-US" sz="1050" dirty="0"/>
          </a:p>
        </p:txBody>
      </p:sp>
      <p:sp>
        <p:nvSpPr>
          <p:cNvPr id="15" name="Shape 13"/>
          <p:cNvSpPr/>
          <p:nvPr/>
        </p:nvSpPr>
        <p:spPr>
          <a:xfrm>
            <a:off x="822960" y="2468880"/>
            <a:ext cx="10515600" cy="0"/>
          </a:xfrm>
          <a:prstGeom prst="line">
            <a:avLst/>
          </a:prstGeom>
          <a:noFill/>
          <a:ln w="12700">
            <a:solidFill>
              <a:srgbClr val="E1E8E8"/>
            </a:solidFill>
            <a:prstDash val="solid"/>
          </a:ln>
        </p:spPr>
        <p:txBody>
          <a:bodyPr/>
          <a:lstStyle/>
          <a:p>
            <a:endParaRPr/>
          </a:p>
        </p:txBody>
      </p:sp>
      <p:sp>
        <p:nvSpPr>
          <p:cNvPr id="16" name="Text 14"/>
          <p:cNvSpPr/>
          <p:nvPr/>
        </p:nvSpPr>
        <p:spPr>
          <a:xfrm>
            <a:off x="822960" y="2633472"/>
            <a:ext cx="141732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Control point</a:t>
            </a:r>
            <a:endParaRPr lang="en-US" sz="1050" dirty="0"/>
          </a:p>
        </p:txBody>
      </p:sp>
      <p:sp>
        <p:nvSpPr>
          <p:cNvPr id="17" name="Text 15"/>
          <p:cNvSpPr/>
          <p:nvPr/>
        </p:nvSpPr>
        <p:spPr>
          <a:xfrm>
            <a:off x="2423160" y="2633472"/>
            <a:ext cx="38404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Executor controls internal queue + workers</a:t>
            </a:r>
            <a:endParaRPr lang="en-US" sz="1050" dirty="0"/>
          </a:p>
        </p:txBody>
      </p:sp>
      <p:sp>
        <p:nvSpPr>
          <p:cNvPr id="18" name="Text 16"/>
          <p:cNvSpPr/>
          <p:nvPr/>
        </p:nvSpPr>
        <p:spPr>
          <a:xfrm>
            <a:off x="6629400" y="2633472"/>
            <a:ext cx="42976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Shared queue controls flow</a:t>
            </a:r>
            <a:endParaRPr lang="en-US" sz="1050" dirty="0"/>
          </a:p>
        </p:txBody>
      </p:sp>
      <p:sp>
        <p:nvSpPr>
          <p:cNvPr id="19" name="Shape 17"/>
          <p:cNvSpPr/>
          <p:nvPr/>
        </p:nvSpPr>
        <p:spPr>
          <a:xfrm>
            <a:off x="822960" y="3044952"/>
            <a:ext cx="10515600" cy="0"/>
          </a:xfrm>
          <a:prstGeom prst="line">
            <a:avLst/>
          </a:prstGeom>
          <a:noFill/>
          <a:ln w="12700">
            <a:solidFill>
              <a:srgbClr val="E1E8E8"/>
            </a:solidFill>
            <a:prstDash val="solid"/>
          </a:ln>
        </p:spPr>
        <p:txBody>
          <a:bodyPr/>
          <a:lstStyle/>
          <a:p>
            <a:endParaRPr/>
          </a:p>
        </p:txBody>
      </p:sp>
      <p:sp>
        <p:nvSpPr>
          <p:cNvPr id="20" name="Text 18"/>
          <p:cNvSpPr/>
          <p:nvPr/>
        </p:nvSpPr>
        <p:spPr>
          <a:xfrm>
            <a:off x="822960" y="3209544"/>
            <a:ext cx="141732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Best for</a:t>
            </a:r>
            <a:endParaRPr lang="en-US" sz="1050" dirty="0"/>
          </a:p>
        </p:txBody>
      </p:sp>
      <p:sp>
        <p:nvSpPr>
          <p:cNvPr id="21" name="Text 19"/>
          <p:cNvSpPr/>
          <p:nvPr/>
        </p:nvSpPr>
        <p:spPr>
          <a:xfrm>
            <a:off x="2423160" y="3209544"/>
            <a:ext cx="38404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Batch jobs, limited tasks, API calls</a:t>
            </a:r>
            <a:endParaRPr lang="en-US" sz="1050" dirty="0"/>
          </a:p>
        </p:txBody>
      </p:sp>
      <p:sp>
        <p:nvSpPr>
          <p:cNvPr id="22" name="Text 20"/>
          <p:cNvSpPr/>
          <p:nvPr/>
        </p:nvSpPr>
        <p:spPr>
          <a:xfrm>
            <a:off x="6629400" y="3209544"/>
            <a:ext cx="42976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Streaming, pipelines, live events</a:t>
            </a:r>
            <a:endParaRPr lang="en-US" sz="1050" dirty="0"/>
          </a:p>
        </p:txBody>
      </p:sp>
      <p:sp>
        <p:nvSpPr>
          <p:cNvPr id="23" name="Shape 21"/>
          <p:cNvSpPr/>
          <p:nvPr/>
        </p:nvSpPr>
        <p:spPr>
          <a:xfrm>
            <a:off x="822960" y="3621024"/>
            <a:ext cx="10515600" cy="0"/>
          </a:xfrm>
          <a:prstGeom prst="line">
            <a:avLst/>
          </a:prstGeom>
          <a:noFill/>
          <a:ln w="12700">
            <a:solidFill>
              <a:srgbClr val="E1E8E8"/>
            </a:solidFill>
            <a:prstDash val="solid"/>
          </a:ln>
        </p:spPr>
        <p:txBody>
          <a:bodyPr/>
          <a:lstStyle/>
          <a:p>
            <a:endParaRPr/>
          </a:p>
        </p:txBody>
      </p:sp>
      <p:sp>
        <p:nvSpPr>
          <p:cNvPr id="24" name="Text 22"/>
          <p:cNvSpPr/>
          <p:nvPr/>
        </p:nvSpPr>
        <p:spPr>
          <a:xfrm>
            <a:off x="822960" y="3785616"/>
            <a:ext cx="141732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Under load</a:t>
            </a:r>
            <a:endParaRPr lang="en-US" sz="1050" dirty="0"/>
          </a:p>
        </p:txBody>
      </p:sp>
      <p:sp>
        <p:nvSpPr>
          <p:cNvPr id="25" name="Text 23"/>
          <p:cNvSpPr/>
          <p:nvPr/>
        </p:nvSpPr>
        <p:spPr>
          <a:xfrm>
            <a:off x="2423160" y="3785616"/>
            <a:ext cx="38404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Extra tasks wait in executor queue</a:t>
            </a:r>
            <a:endParaRPr lang="en-US" sz="1050" dirty="0"/>
          </a:p>
        </p:txBody>
      </p:sp>
      <p:sp>
        <p:nvSpPr>
          <p:cNvPr id="26" name="Text 24"/>
          <p:cNvSpPr/>
          <p:nvPr/>
        </p:nvSpPr>
        <p:spPr>
          <a:xfrm>
            <a:off x="6629400" y="3785616"/>
            <a:ext cx="42976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Queue fills; producers block</a:t>
            </a:r>
            <a:endParaRPr lang="en-US" sz="1050" dirty="0"/>
          </a:p>
        </p:txBody>
      </p:sp>
      <p:sp>
        <p:nvSpPr>
          <p:cNvPr id="27" name="Shape 25"/>
          <p:cNvSpPr/>
          <p:nvPr/>
        </p:nvSpPr>
        <p:spPr>
          <a:xfrm>
            <a:off x="822960" y="4197096"/>
            <a:ext cx="10515600" cy="0"/>
          </a:xfrm>
          <a:prstGeom prst="line">
            <a:avLst/>
          </a:prstGeom>
          <a:noFill/>
          <a:ln w="12700">
            <a:solidFill>
              <a:srgbClr val="E1E8E8"/>
            </a:solidFill>
            <a:prstDash val="solid"/>
          </a:ln>
        </p:spPr>
        <p:txBody>
          <a:bodyPr/>
          <a:lstStyle/>
          <a:p>
            <a:endParaRPr/>
          </a:p>
        </p:txBody>
      </p:sp>
      <p:sp>
        <p:nvSpPr>
          <p:cNvPr id="28" name="Text 26"/>
          <p:cNvSpPr/>
          <p:nvPr/>
        </p:nvSpPr>
        <p:spPr>
          <a:xfrm>
            <a:off x="822960" y="4361688"/>
            <a:ext cx="141732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Shutdown</a:t>
            </a:r>
            <a:endParaRPr lang="en-US" sz="1050" dirty="0"/>
          </a:p>
        </p:txBody>
      </p:sp>
      <p:sp>
        <p:nvSpPr>
          <p:cNvPr id="29" name="Text 27"/>
          <p:cNvSpPr/>
          <p:nvPr/>
        </p:nvSpPr>
        <p:spPr>
          <a:xfrm>
            <a:off x="2423160" y="4361688"/>
            <a:ext cx="38404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Pool closes after submitted tasks finish</a:t>
            </a:r>
            <a:endParaRPr lang="en-US" sz="1050" dirty="0"/>
          </a:p>
        </p:txBody>
      </p:sp>
      <p:sp>
        <p:nvSpPr>
          <p:cNvPr id="30" name="Text 28"/>
          <p:cNvSpPr/>
          <p:nvPr/>
        </p:nvSpPr>
        <p:spPr>
          <a:xfrm>
            <a:off x="6629400" y="4361688"/>
            <a:ext cx="4297680" cy="201168"/>
          </a:xfrm>
          <a:prstGeom prst="rect">
            <a:avLst/>
          </a:prstGeom>
          <a:noFill/>
          <a:ln/>
        </p:spPr>
        <p:txBody>
          <a:bodyPr wrap="square" lIns="0" tIns="0" rIns="0" bIns="0" rtlCol="0" anchor="ctr">
            <a:normAutofit/>
          </a:bodyPr>
          <a:lstStyle/>
          <a:p>
            <a:pPr marL="0" indent="0">
              <a:buNone/>
            </a:pPr>
            <a:r>
              <a:rPr lang="en-US" sz="1050" dirty="0">
                <a:solidFill>
                  <a:srgbClr val="102027"/>
                </a:solidFill>
              </a:rPr>
              <a:t>Needs stop signal, e.g., None</a:t>
            </a:r>
            <a:endParaRPr lang="en-US" sz="1050" dirty="0"/>
          </a:p>
        </p:txBody>
      </p:sp>
      <p:sp>
        <p:nvSpPr>
          <p:cNvPr id="31" name="Shape 29"/>
          <p:cNvSpPr/>
          <p:nvPr/>
        </p:nvSpPr>
        <p:spPr>
          <a:xfrm>
            <a:off x="1920240" y="5577840"/>
            <a:ext cx="8412480" cy="502920"/>
          </a:xfrm>
          <a:prstGeom prst="roundRect">
            <a:avLst>
              <a:gd name="adj" fmla="val 14545"/>
            </a:avLst>
          </a:prstGeom>
          <a:solidFill>
            <a:srgbClr val="16213E"/>
          </a:solidFill>
          <a:ln w="19050">
            <a:solidFill>
              <a:srgbClr val="16213E"/>
            </a:solidFill>
            <a:prstDash val="solid"/>
          </a:ln>
        </p:spPr>
        <p:txBody>
          <a:bodyPr/>
          <a:lstStyle/>
          <a:p>
            <a:endParaRPr/>
          </a:p>
        </p:txBody>
      </p:sp>
      <p:sp>
        <p:nvSpPr>
          <p:cNvPr id="32" name="Text 30"/>
          <p:cNvSpPr/>
          <p:nvPr/>
        </p:nvSpPr>
        <p:spPr>
          <a:xfrm>
            <a:off x="2029968" y="5705856"/>
            <a:ext cx="8193024" cy="283464"/>
          </a:xfrm>
          <a:prstGeom prst="rect">
            <a:avLst/>
          </a:prstGeom>
          <a:noFill/>
          <a:ln/>
        </p:spPr>
        <p:txBody>
          <a:bodyPr wrap="square" lIns="0" tIns="0" rIns="0" bIns="0" rtlCol="0" anchor="ctr">
            <a:normAutofit fontScale="62500" lnSpcReduction="20000"/>
          </a:bodyPr>
          <a:lstStyle/>
          <a:p>
            <a:pPr marL="0" indent="0" algn="ctr">
              <a:buNone/>
            </a:pPr>
            <a:r>
              <a:rPr lang="en-US" sz="1800" b="1" dirty="0">
                <a:solidFill>
                  <a:srgbClr val="FFFFFF"/>
                </a:solidFill>
              </a:rPr>
              <a:t>One-line takeaway:</a:t>
            </a:r>
            <a:endParaRPr lang="en-US" sz="1800" dirty="0"/>
          </a:p>
          <a:p>
            <a:pPr marL="0" indent="0" algn="ctr">
              <a:buNone/>
            </a:pPr>
            <a:r>
              <a:rPr lang="en-US" sz="1800" b="1" dirty="0">
                <a:solidFill>
                  <a:srgbClr val="FFFFFF"/>
                </a:solidFill>
              </a:rPr>
              <a:t>Worker Pool controls "how many workers". Producer-Consumer controls "how work flows".</a:t>
            </a:r>
            <a:endParaRPr lang="en-US" sz="1800" dirty="0"/>
          </a:p>
        </p:txBody>
      </p:sp>
      <p:sp>
        <p:nvSpPr>
          <p:cNvPr id="34" name="Text 31"/>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F2"/>
          </a:solidFill>
          <a:ln w="12700">
            <a:solidFill>
              <a:srgbClr val="F8F7F2">
                <a:alpha val="0"/>
              </a:srgbClr>
            </a:solidFill>
            <a:prstDash val="solid"/>
          </a:ln>
        </p:spPr>
        <p:txBody>
          <a:bodyPr/>
          <a:lstStyle/>
          <a:p>
            <a:endParaRPr/>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292608"/>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When should we use which model?</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pPr marL="0" indent="0">
              <a:buNone/>
            </a:pPr>
            <a:r>
              <a:rPr lang="en-US" sz="900" b="1" dirty="0">
                <a:solidFill>
                  <a:srgbClr val="61727A"/>
                </a:solidFill>
              </a:rPr>
              <a:t>REAL-WORLD CHOICES</a:t>
            </a: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Shape 5"/>
          <p:cNvSpPr/>
          <p:nvPr/>
        </p:nvSpPr>
        <p:spPr>
          <a:xfrm>
            <a:off x="822960" y="1325880"/>
            <a:ext cx="4709160" cy="2743200"/>
          </a:xfrm>
          <a:prstGeom prst="roundRect">
            <a:avLst>
              <a:gd name="adj" fmla="val 2667"/>
            </a:avLst>
          </a:prstGeom>
          <a:solidFill>
            <a:srgbClr val="FFFFFF"/>
          </a:solidFill>
          <a:ln w="19050">
            <a:solidFill>
              <a:srgbClr val="0F4C81"/>
            </a:solidFill>
            <a:prstDash val="solid"/>
          </a:ln>
        </p:spPr>
        <p:txBody>
          <a:bodyPr/>
          <a:lstStyle/>
          <a:p>
            <a:endParaRPr/>
          </a:p>
        </p:txBody>
      </p:sp>
      <p:sp>
        <p:nvSpPr>
          <p:cNvPr id="8" name="Text 6"/>
          <p:cNvSpPr/>
          <p:nvPr/>
        </p:nvSpPr>
        <p:spPr>
          <a:xfrm>
            <a:off x="932688" y="1453896"/>
            <a:ext cx="4489704" cy="2523744"/>
          </a:xfrm>
          <a:prstGeom prst="rect">
            <a:avLst/>
          </a:prstGeom>
          <a:noFill/>
          <a:ln/>
        </p:spPr>
        <p:txBody>
          <a:bodyPr wrap="square" lIns="0" tIns="0" rIns="0" bIns="0" rtlCol="0" anchor="ctr">
            <a:normAutofit/>
          </a:bodyPr>
          <a:lstStyle/>
          <a:p>
            <a:pPr marL="0" indent="0" algn="ctr">
              <a:buNone/>
            </a:pPr>
            <a:r>
              <a:rPr lang="en-US" sz="1700" dirty="0">
                <a:solidFill>
                  <a:srgbClr val="102027"/>
                </a:solidFill>
              </a:rPr>
              <a:t>Use Worker Pool when...</a:t>
            </a:r>
            <a:endParaRPr lang="en-US" sz="1700" dirty="0"/>
          </a:p>
          <a:p>
            <a:pPr marL="0" indent="0" algn="ctr">
              <a:buNone/>
            </a:pPr>
            <a:endParaRPr lang="en-US" sz="1700" dirty="0"/>
          </a:p>
          <a:p>
            <a:pPr marL="0" indent="0" algn="ctr">
              <a:buNone/>
            </a:pPr>
            <a:r>
              <a:rPr lang="en-US" sz="1700" dirty="0">
                <a:solidFill>
                  <a:srgbClr val="102027"/>
                </a:solidFill>
              </a:rPr>
              <a:t>- You already know the tasks</a:t>
            </a:r>
            <a:endParaRPr lang="en-US" sz="1700" dirty="0"/>
          </a:p>
          <a:p>
            <a:pPr marL="0" indent="0" algn="ctr">
              <a:buNone/>
            </a:pPr>
            <a:r>
              <a:rPr lang="en-US" sz="1700" dirty="0">
                <a:solidFill>
                  <a:srgbClr val="102027"/>
                </a:solidFill>
              </a:rPr>
              <a:t>- You want limited parallelism</a:t>
            </a:r>
            <a:endParaRPr lang="en-US" sz="1700" dirty="0"/>
          </a:p>
          <a:p>
            <a:pPr marL="0" indent="0" algn="ctr">
              <a:buNone/>
            </a:pPr>
            <a:r>
              <a:rPr lang="en-US" sz="1700" dirty="0">
                <a:solidFill>
                  <a:srgbClr val="102027"/>
                </a:solidFill>
              </a:rPr>
              <a:t>- You want simple cleanup</a:t>
            </a:r>
            <a:endParaRPr lang="en-US" sz="1700" dirty="0"/>
          </a:p>
          <a:p>
            <a:pPr marL="0" indent="0" algn="ctr">
              <a:buNone/>
            </a:pPr>
            <a:r>
              <a:rPr lang="en-US" sz="1700" dirty="0">
                <a:solidFill>
                  <a:srgbClr val="102027"/>
                </a:solidFill>
              </a:rPr>
              <a:t>- Example: process 10 files or call 10 APIs</a:t>
            </a:r>
            <a:endParaRPr lang="en-US" sz="1700" dirty="0"/>
          </a:p>
        </p:txBody>
      </p:sp>
      <p:sp>
        <p:nvSpPr>
          <p:cNvPr id="9" name="Shape 7"/>
          <p:cNvSpPr/>
          <p:nvPr/>
        </p:nvSpPr>
        <p:spPr>
          <a:xfrm>
            <a:off x="6400800" y="1325880"/>
            <a:ext cx="4709160" cy="2743200"/>
          </a:xfrm>
          <a:prstGeom prst="roundRect">
            <a:avLst>
              <a:gd name="adj" fmla="val 2667"/>
            </a:avLst>
          </a:prstGeom>
          <a:solidFill>
            <a:srgbClr val="FFFFFF"/>
          </a:solidFill>
          <a:ln w="19050">
            <a:solidFill>
              <a:srgbClr val="EF476F"/>
            </a:solidFill>
            <a:prstDash val="solid"/>
          </a:ln>
        </p:spPr>
        <p:txBody>
          <a:bodyPr/>
          <a:lstStyle/>
          <a:p>
            <a:endParaRPr/>
          </a:p>
        </p:txBody>
      </p:sp>
      <p:sp>
        <p:nvSpPr>
          <p:cNvPr id="10" name="Text 8"/>
          <p:cNvSpPr/>
          <p:nvPr/>
        </p:nvSpPr>
        <p:spPr>
          <a:xfrm>
            <a:off x="6510528" y="1453896"/>
            <a:ext cx="4489704" cy="2523744"/>
          </a:xfrm>
          <a:prstGeom prst="rect">
            <a:avLst/>
          </a:prstGeom>
          <a:noFill/>
          <a:ln/>
        </p:spPr>
        <p:txBody>
          <a:bodyPr wrap="square" lIns="0" tIns="0" rIns="0" bIns="0" rtlCol="0" anchor="ctr">
            <a:normAutofit/>
          </a:bodyPr>
          <a:lstStyle/>
          <a:p>
            <a:pPr marL="0" indent="0" algn="ctr">
              <a:buNone/>
            </a:pPr>
            <a:r>
              <a:rPr lang="en-US" sz="1700" dirty="0">
                <a:solidFill>
                  <a:srgbClr val="102027"/>
                </a:solidFill>
              </a:rPr>
              <a:t>Use Producer-Consumer when...</a:t>
            </a:r>
            <a:endParaRPr lang="en-US" sz="1700" dirty="0"/>
          </a:p>
          <a:p>
            <a:pPr marL="0" indent="0" algn="ctr">
              <a:buNone/>
            </a:pPr>
            <a:endParaRPr lang="en-US" sz="1700" dirty="0"/>
          </a:p>
          <a:p>
            <a:pPr marL="0" indent="0" algn="ctr">
              <a:buNone/>
            </a:pPr>
            <a:r>
              <a:rPr lang="en-US" sz="1700" dirty="0">
                <a:solidFill>
                  <a:srgbClr val="102027"/>
                </a:solidFill>
              </a:rPr>
              <a:t>- Work keeps arriving</a:t>
            </a:r>
            <a:endParaRPr lang="en-US" sz="1700" dirty="0"/>
          </a:p>
          <a:p>
            <a:pPr marL="0" indent="0" algn="ctr">
              <a:buNone/>
            </a:pPr>
            <a:r>
              <a:rPr lang="en-US" sz="1700" dirty="0">
                <a:solidFill>
                  <a:srgbClr val="102027"/>
                </a:solidFill>
              </a:rPr>
              <a:t>- Producers and consumers run independently</a:t>
            </a:r>
            <a:endParaRPr lang="en-US" sz="1700" dirty="0"/>
          </a:p>
          <a:p>
            <a:pPr marL="0" indent="0" algn="ctr">
              <a:buNone/>
            </a:pPr>
            <a:r>
              <a:rPr lang="en-US" sz="1700" dirty="0">
                <a:solidFill>
                  <a:srgbClr val="102027"/>
                </a:solidFill>
              </a:rPr>
              <a:t>- You need buffering/backpressure</a:t>
            </a:r>
            <a:endParaRPr lang="en-US" sz="1700" dirty="0"/>
          </a:p>
          <a:p>
            <a:pPr marL="0" indent="0" algn="ctr">
              <a:buNone/>
            </a:pPr>
            <a:r>
              <a:rPr lang="en-US" sz="1700" dirty="0">
                <a:solidFill>
                  <a:srgbClr val="102027"/>
                </a:solidFill>
              </a:rPr>
              <a:t>- Example: live logs, video frames, request pipeline</a:t>
            </a:r>
            <a:endParaRPr lang="en-US" sz="1700" dirty="0"/>
          </a:p>
        </p:txBody>
      </p:sp>
      <p:sp>
        <p:nvSpPr>
          <p:cNvPr id="11" name="Shape 9"/>
          <p:cNvSpPr/>
          <p:nvPr/>
        </p:nvSpPr>
        <p:spPr>
          <a:xfrm>
            <a:off x="1920240" y="4800600"/>
            <a:ext cx="8412480" cy="822960"/>
          </a:xfrm>
          <a:prstGeom prst="roundRect">
            <a:avLst>
              <a:gd name="adj" fmla="val 8889"/>
            </a:avLst>
          </a:prstGeom>
          <a:solidFill>
            <a:srgbClr val="EAF6F6"/>
          </a:solidFill>
          <a:ln w="19050">
            <a:solidFill>
              <a:srgbClr val="40E0D0"/>
            </a:solidFill>
            <a:prstDash val="solid"/>
          </a:ln>
        </p:spPr>
        <p:txBody>
          <a:bodyPr/>
          <a:lstStyle/>
          <a:p>
            <a:endParaRPr/>
          </a:p>
        </p:txBody>
      </p:sp>
      <p:sp>
        <p:nvSpPr>
          <p:cNvPr id="12" name="Text 10"/>
          <p:cNvSpPr/>
          <p:nvPr/>
        </p:nvSpPr>
        <p:spPr>
          <a:xfrm>
            <a:off x="2029968" y="4928616"/>
            <a:ext cx="8193024" cy="603504"/>
          </a:xfrm>
          <a:prstGeom prst="rect">
            <a:avLst/>
          </a:prstGeom>
          <a:noFill/>
          <a:ln/>
        </p:spPr>
        <p:txBody>
          <a:bodyPr wrap="square" lIns="0" tIns="0" rIns="0" bIns="0" rtlCol="0" anchor="ctr">
            <a:normAutofit fontScale="77500" lnSpcReduction="20000"/>
          </a:bodyPr>
          <a:lstStyle/>
          <a:p>
            <a:r>
              <a:t>Simple analogy:</a:t>
            </a:r>
          </a:p>
          <a:p>
            <a:r>
              <a:t>Worker Pool = fixed chefs cooking a known list of orders.</a:t>
            </a:r>
          </a:p>
          <a:p>
            <a:r>
              <a:t>Producer-Consumer = restaurant counter where orders keep arriving and cooks take them from the queue.</a:t>
            </a:r>
          </a:p>
        </p:txBody>
      </p:sp>
      <p:sp>
        <p:nvSpPr>
          <p:cNvPr id="14" name="Text 11"/>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solidFill>
                  <a:srgbClr val="61727A"/>
                </a:solidFill>
              </a:rPr>
              <a:t>15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F2"/>
          </a:solidFill>
          <a:ln w="12700">
            <a:solidFill>
              <a:srgbClr val="F8F7F2">
                <a:alpha val="0"/>
              </a:srgbClr>
            </a:solidFill>
            <a:prstDash val="solid"/>
          </a:ln>
        </p:spPr>
        <p:txBody>
          <a:bodyPr/>
          <a:lstStyle/>
          <a:p>
            <a:endParaRPr dirty="0"/>
          </a:p>
        </p:txBody>
      </p:sp>
      <p:sp>
        <p:nvSpPr>
          <p:cNvPr id="3" name="Shape 1"/>
          <p:cNvSpPr/>
          <p:nvPr/>
        </p:nvSpPr>
        <p:spPr>
          <a:xfrm>
            <a:off x="0" y="0"/>
            <a:ext cx="164592" cy="6858000"/>
          </a:xfrm>
          <a:prstGeom prst="rect">
            <a:avLst/>
          </a:prstGeom>
          <a:solidFill>
            <a:srgbClr val="40E0D0"/>
          </a:solidFill>
          <a:ln w="12700">
            <a:solidFill>
              <a:srgbClr val="40E0D0">
                <a:alpha val="0"/>
              </a:srgbClr>
            </a:solidFill>
            <a:prstDash val="solid"/>
          </a:ln>
        </p:spPr>
        <p:txBody>
          <a:bodyPr/>
          <a:lstStyle/>
          <a:p>
            <a:endParaRPr/>
          </a:p>
        </p:txBody>
      </p:sp>
      <p:sp>
        <p:nvSpPr>
          <p:cNvPr id="4" name="Text 2"/>
          <p:cNvSpPr/>
          <p:nvPr/>
        </p:nvSpPr>
        <p:spPr>
          <a:xfrm>
            <a:off x="502920" y="402453"/>
            <a:ext cx="9052560" cy="411480"/>
          </a:xfrm>
          <a:prstGeom prst="rect">
            <a:avLst/>
          </a:prstGeom>
          <a:noFill/>
          <a:ln/>
        </p:spPr>
        <p:txBody>
          <a:bodyPr wrap="square" lIns="0" tIns="0" rIns="0" bIns="0" rtlCol="0" anchor="ctr"/>
          <a:lstStyle/>
          <a:p>
            <a:pPr marL="0" indent="0">
              <a:buNone/>
            </a:pPr>
            <a:r>
              <a:rPr lang="en-US" sz="2800" b="1" dirty="0">
                <a:solidFill>
                  <a:srgbClr val="102027"/>
                </a:solidFill>
                <a:latin typeface="Aptos Display" pitchFamily="34" charset="0"/>
                <a:ea typeface="Aptos Display" pitchFamily="34" charset="-122"/>
                <a:cs typeface="Aptos Display" pitchFamily="34" charset="-120"/>
              </a:rPr>
              <a:t>Final recap</a:t>
            </a:r>
            <a:endParaRPr lang="en-US" sz="2800" dirty="0"/>
          </a:p>
        </p:txBody>
      </p:sp>
      <p:sp>
        <p:nvSpPr>
          <p:cNvPr id="5" name="Text 3"/>
          <p:cNvSpPr/>
          <p:nvPr/>
        </p:nvSpPr>
        <p:spPr>
          <a:xfrm>
            <a:off x="512064" y="749808"/>
            <a:ext cx="8686800" cy="228600"/>
          </a:xfrm>
          <a:prstGeom prst="rect">
            <a:avLst/>
          </a:prstGeom>
          <a:noFill/>
          <a:ln/>
        </p:spPr>
        <p:txBody>
          <a:bodyPr wrap="square" lIns="0" tIns="0" rIns="0" bIns="0" rtlCol="0" anchor="ctr"/>
          <a:lstStyle/>
          <a:p>
            <a:pPr marL="0" indent="0">
              <a:buNone/>
            </a:pPr>
            <a:endParaRPr lang="en-US" sz="900" dirty="0"/>
          </a:p>
        </p:txBody>
      </p:sp>
      <p:sp>
        <p:nvSpPr>
          <p:cNvPr id="6" name="Shape 4"/>
          <p:cNvSpPr/>
          <p:nvPr/>
        </p:nvSpPr>
        <p:spPr>
          <a:xfrm>
            <a:off x="502920" y="932688"/>
            <a:ext cx="10881360" cy="0"/>
          </a:xfrm>
          <a:prstGeom prst="line">
            <a:avLst/>
          </a:prstGeom>
          <a:noFill/>
          <a:ln w="12700">
            <a:solidFill>
              <a:srgbClr val="D8E2E2"/>
            </a:solidFill>
            <a:prstDash val="solid"/>
          </a:ln>
        </p:spPr>
        <p:txBody>
          <a:bodyPr/>
          <a:lstStyle/>
          <a:p>
            <a:endParaRPr/>
          </a:p>
        </p:txBody>
      </p:sp>
      <p:sp>
        <p:nvSpPr>
          <p:cNvPr id="7" name="Shape 5"/>
          <p:cNvSpPr/>
          <p:nvPr/>
        </p:nvSpPr>
        <p:spPr>
          <a:xfrm>
            <a:off x="822960" y="1417320"/>
            <a:ext cx="3108960" cy="1143000"/>
          </a:xfrm>
          <a:prstGeom prst="roundRect">
            <a:avLst>
              <a:gd name="adj" fmla="val 6400"/>
            </a:avLst>
          </a:prstGeom>
          <a:solidFill>
            <a:srgbClr val="FFFFFF"/>
          </a:solidFill>
          <a:ln w="19050">
            <a:solidFill>
              <a:srgbClr val="0F4C81"/>
            </a:solidFill>
            <a:prstDash val="solid"/>
          </a:ln>
        </p:spPr>
        <p:txBody>
          <a:bodyPr/>
          <a:lstStyle/>
          <a:p>
            <a:endParaRPr/>
          </a:p>
        </p:txBody>
      </p:sp>
      <p:sp>
        <p:nvSpPr>
          <p:cNvPr id="8" name="Text 6"/>
          <p:cNvSpPr/>
          <p:nvPr/>
        </p:nvSpPr>
        <p:spPr>
          <a:xfrm>
            <a:off x="932688" y="1545336"/>
            <a:ext cx="2889504" cy="923544"/>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102027"/>
                </a:solidFill>
              </a:rPr>
              <a:t>1</a:t>
            </a:r>
            <a:endParaRPr lang="en-US" sz="1700" dirty="0"/>
          </a:p>
          <a:p>
            <a:pPr marL="0" indent="0" algn="ctr">
              <a:buNone/>
            </a:pPr>
            <a:r>
              <a:rPr lang="en-US" sz="1700" b="1" dirty="0">
                <a:solidFill>
                  <a:srgbClr val="102027"/>
                </a:solidFill>
              </a:rPr>
              <a:t>Thread != Core</a:t>
            </a:r>
            <a:endParaRPr lang="en-US" sz="1700" dirty="0"/>
          </a:p>
          <a:p>
            <a:pPr marL="0" indent="0" algn="ctr">
              <a:buNone/>
            </a:pPr>
            <a:r>
              <a:rPr lang="en-US" sz="1700" b="1" dirty="0">
                <a:solidFill>
                  <a:srgbClr val="102027"/>
                </a:solidFill>
              </a:rPr>
              <a:t>Thread is software; core is hardware.</a:t>
            </a:r>
            <a:endParaRPr lang="en-US" sz="1700" dirty="0"/>
          </a:p>
        </p:txBody>
      </p:sp>
      <p:sp>
        <p:nvSpPr>
          <p:cNvPr id="9" name="Shape 7"/>
          <p:cNvSpPr/>
          <p:nvPr/>
        </p:nvSpPr>
        <p:spPr>
          <a:xfrm>
            <a:off x="4526280" y="1417320"/>
            <a:ext cx="3108960" cy="1143000"/>
          </a:xfrm>
          <a:prstGeom prst="roundRect">
            <a:avLst>
              <a:gd name="adj" fmla="val 6400"/>
            </a:avLst>
          </a:prstGeom>
          <a:solidFill>
            <a:srgbClr val="FFFFFF"/>
          </a:solidFill>
          <a:ln w="19050">
            <a:solidFill>
              <a:srgbClr val="06D6A0"/>
            </a:solidFill>
            <a:prstDash val="solid"/>
          </a:ln>
        </p:spPr>
        <p:txBody>
          <a:bodyPr/>
          <a:lstStyle/>
          <a:p>
            <a:endParaRPr/>
          </a:p>
        </p:txBody>
      </p:sp>
      <p:sp>
        <p:nvSpPr>
          <p:cNvPr id="10" name="Text 8"/>
          <p:cNvSpPr/>
          <p:nvPr/>
        </p:nvSpPr>
        <p:spPr>
          <a:xfrm>
            <a:off x="4636008" y="1545336"/>
            <a:ext cx="2889504" cy="923544"/>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102027"/>
                </a:solidFill>
              </a:rPr>
              <a:t>2</a:t>
            </a:r>
            <a:endParaRPr lang="en-US" sz="1700" dirty="0"/>
          </a:p>
          <a:p>
            <a:pPr marL="0" indent="0" algn="ctr">
              <a:buNone/>
            </a:pPr>
            <a:r>
              <a:rPr lang="en-US" sz="1700" b="1" dirty="0">
                <a:solidFill>
                  <a:srgbClr val="102027"/>
                </a:solidFill>
              </a:rPr>
              <a:t>Worker Pool</a:t>
            </a:r>
            <a:endParaRPr lang="en-US" sz="1700" dirty="0"/>
          </a:p>
          <a:p>
            <a:pPr marL="0" indent="0" algn="ctr">
              <a:buNone/>
            </a:pPr>
            <a:r>
              <a:rPr lang="en-US" sz="1700" b="1" dirty="0">
                <a:solidFill>
                  <a:srgbClr val="102027"/>
                </a:solidFill>
              </a:rPr>
              <a:t>Fixed workers process a finite task list.</a:t>
            </a:r>
            <a:endParaRPr lang="en-US" sz="1700" dirty="0"/>
          </a:p>
        </p:txBody>
      </p:sp>
      <p:sp>
        <p:nvSpPr>
          <p:cNvPr id="11" name="Shape 9"/>
          <p:cNvSpPr/>
          <p:nvPr/>
        </p:nvSpPr>
        <p:spPr>
          <a:xfrm>
            <a:off x="8229600" y="1417320"/>
            <a:ext cx="3108960" cy="1143000"/>
          </a:xfrm>
          <a:prstGeom prst="roundRect">
            <a:avLst>
              <a:gd name="adj" fmla="val 6400"/>
            </a:avLst>
          </a:prstGeom>
          <a:solidFill>
            <a:srgbClr val="FFFFFF"/>
          </a:solidFill>
          <a:ln w="19050">
            <a:solidFill>
              <a:srgbClr val="EF476F"/>
            </a:solidFill>
            <a:prstDash val="solid"/>
          </a:ln>
        </p:spPr>
        <p:txBody>
          <a:bodyPr/>
          <a:lstStyle/>
          <a:p>
            <a:endParaRPr/>
          </a:p>
        </p:txBody>
      </p:sp>
      <p:sp>
        <p:nvSpPr>
          <p:cNvPr id="12" name="Text 10"/>
          <p:cNvSpPr/>
          <p:nvPr/>
        </p:nvSpPr>
        <p:spPr>
          <a:xfrm>
            <a:off x="8339328" y="1545336"/>
            <a:ext cx="2889504" cy="923544"/>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102027"/>
                </a:solidFill>
              </a:rPr>
              <a:t>3</a:t>
            </a:r>
            <a:endParaRPr lang="en-US" sz="1700" dirty="0"/>
          </a:p>
          <a:p>
            <a:pPr marL="0" indent="0" algn="ctr">
              <a:buNone/>
            </a:pPr>
            <a:r>
              <a:rPr lang="en-US" sz="1700" b="1" dirty="0">
                <a:solidFill>
                  <a:srgbClr val="102027"/>
                </a:solidFill>
              </a:rPr>
              <a:t>Producer-Consumer</a:t>
            </a:r>
            <a:endParaRPr lang="en-US" sz="1700" dirty="0"/>
          </a:p>
          <a:p>
            <a:pPr marL="0" indent="0" algn="ctr">
              <a:buNone/>
            </a:pPr>
            <a:r>
              <a:rPr lang="en-US" sz="1700" b="1" dirty="0">
                <a:solidFill>
                  <a:srgbClr val="102027"/>
                </a:solidFill>
              </a:rPr>
              <a:t>Queue separates task creation from processing.</a:t>
            </a:r>
            <a:endParaRPr lang="en-US" sz="1700" dirty="0"/>
          </a:p>
        </p:txBody>
      </p:sp>
      <p:sp>
        <p:nvSpPr>
          <p:cNvPr id="13" name="Shape 11"/>
          <p:cNvSpPr/>
          <p:nvPr/>
        </p:nvSpPr>
        <p:spPr>
          <a:xfrm>
            <a:off x="2697480" y="3337560"/>
            <a:ext cx="3383280" cy="1143000"/>
          </a:xfrm>
          <a:prstGeom prst="roundRect">
            <a:avLst>
              <a:gd name="adj" fmla="val 6400"/>
            </a:avLst>
          </a:prstGeom>
          <a:solidFill>
            <a:srgbClr val="EAF6F6"/>
          </a:solidFill>
          <a:ln w="19050">
            <a:solidFill>
              <a:srgbClr val="40E0D0"/>
            </a:solidFill>
            <a:prstDash val="solid"/>
          </a:ln>
        </p:spPr>
        <p:txBody>
          <a:bodyPr/>
          <a:lstStyle/>
          <a:p>
            <a:endParaRPr/>
          </a:p>
        </p:txBody>
      </p:sp>
      <p:sp>
        <p:nvSpPr>
          <p:cNvPr id="14" name="Text 12"/>
          <p:cNvSpPr/>
          <p:nvPr/>
        </p:nvSpPr>
        <p:spPr>
          <a:xfrm>
            <a:off x="2807208" y="3465576"/>
            <a:ext cx="3163824" cy="923544"/>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102027"/>
                </a:solidFill>
              </a:rPr>
              <a:t>4</a:t>
            </a:r>
            <a:endParaRPr lang="en-US" sz="1700" dirty="0"/>
          </a:p>
          <a:p>
            <a:pPr marL="0" indent="0" algn="ctr">
              <a:buNone/>
            </a:pPr>
            <a:r>
              <a:rPr lang="en-US" sz="1700" b="1" dirty="0">
                <a:solidFill>
                  <a:srgbClr val="102027"/>
                </a:solidFill>
              </a:rPr>
              <a:t>Blocking saves CPU</a:t>
            </a:r>
            <a:endParaRPr lang="en-US" sz="1700" dirty="0"/>
          </a:p>
          <a:p>
            <a:pPr marL="0" indent="0" algn="ctr">
              <a:buNone/>
            </a:pPr>
            <a:r>
              <a:rPr lang="en-US" sz="1700" b="1" dirty="0">
                <a:solidFill>
                  <a:srgbClr val="102027"/>
                </a:solidFill>
              </a:rPr>
              <a:t>Full queue blocks producer; empty queue blocks consumer.</a:t>
            </a:r>
            <a:endParaRPr lang="en-US" sz="1700" dirty="0"/>
          </a:p>
        </p:txBody>
      </p:sp>
      <p:sp>
        <p:nvSpPr>
          <p:cNvPr id="15" name="Shape 13"/>
          <p:cNvSpPr/>
          <p:nvPr/>
        </p:nvSpPr>
        <p:spPr>
          <a:xfrm>
            <a:off x="6309360" y="3337560"/>
            <a:ext cx="3383280" cy="1143000"/>
          </a:xfrm>
          <a:prstGeom prst="roundRect">
            <a:avLst>
              <a:gd name="adj" fmla="val 6400"/>
            </a:avLst>
          </a:prstGeom>
          <a:solidFill>
            <a:srgbClr val="EAF6F6"/>
          </a:solidFill>
          <a:ln w="19050">
            <a:solidFill>
              <a:srgbClr val="FFD166"/>
            </a:solidFill>
            <a:prstDash val="solid"/>
          </a:ln>
        </p:spPr>
        <p:txBody>
          <a:bodyPr/>
          <a:lstStyle/>
          <a:p>
            <a:endParaRPr/>
          </a:p>
        </p:txBody>
      </p:sp>
      <p:sp>
        <p:nvSpPr>
          <p:cNvPr id="16" name="Text 14"/>
          <p:cNvSpPr/>
          <p:nvPr/>
        </p:nvSpPr>
        <p:spPr>
          <a:xfrm>
            <a:off x="6419088" y="3465576"/>
            <a:ext cx="3163824" cy="923544"/>
          </a:xfrm>
          <a:prstGeom prst="rect">
            <a:avLst/>
          </a:prstGeom>
          <a:noFill/>
          <a:ln/>
        </p:spPr>
        <p:txBody>
          <a:bodyPr wrap="square" lIns="0" tIns="0" rIns="0" bIns="0" rtlCol="0" anchor="ctr">
            <a:normAutofit fontScale="85000" lnSpcReduction="10000"/>
          </a:bodyPr>
          <a:lstStyle/>
          <a:p>
            <a:pPr marL="0" indent="0" algn="ctr">
              <a:buNone/>
            </a:pPr>
            <a:r>
              <a:rPr lang="en-US" sz="1700" b="1" dirty="0">
                <a:solidFill>
                  <a:srgbClr val="102027"/>
                </a:solidFill>
              </a:rPr>
              <a:t>5</a:t>
            </a:r>
            <a:endParaRPr lang="en-US" sz="1700" dirty="0"/>
          </a:p>
          <a:p>
            <a:pPr marL="0" indent="0" algn="ctr">
              <a:buNone/>
            </a:pPr>
            <a:r>
              <a:rPr lang="en-US" sz="1700" b="1" dirty="0">
                <a:solidFill>
                  <a:srgbClr val="102027"/>
                </a:solidFill>
              </a:rPr>
              <a:t>Python GIL</a:t>
            </a:r>
            <a:endParaRPr lang="en-US" sz="1700" dirty="0"/>
          </a:p>
          <a:p>
            <a:pPr marL="0" indent="0" algn="ctr">
              <a:buNone/>
            </a:pPr>
            <a:r>
              <a:rPr lang="en-US" sz="1700" b="1" dirty="0">
                <a:solidFill>
                  <a:srgbClr val="102027"/>
                </a:solidFill>
              </a:rPr>
              <a:t>Threads take turns for Python bytecode, but waiting releases control.</a:t>
            </a:r>
            <a:endParaRPr lang="en-US" sz="1700" dirty="0"/>
          </a:p>
        </p:txBody>
      </p:sp>
      <p:sp>
        <p:nvSpPr>
          <p:cNvPr id="17" name="Text 15"/>
          <p:cNvSpPr/>
          <p:nvPr/>
        </p:nvSpPr>
        <p:spPr>
          <a:xfrm>
            <a:off x="4160520" y="5577840"/>
            <a:ext cx="3840480" cy="502920"/>
          </a:xfrm>
          <a:prstGeom prst="rect">
            <a:avLst/>
          </a:prstGeom>
          <a:noFill/>
          <a:ln/>
        </p:spPr>
        <p:txBody>
          <a:bodyPr wrap="square" lIns="0" tIns="0" rIns="0" bIns="0" rtlCol="0" anchor="ctr"/>
          <a:lstStyle/>
          <a:p>
            <a:pPr marL="0" indent="0" algn="ctr">
              <a:buNone/>
            </a:pPr>
            <a:r>
              <a:rPr lang="en-US" sz="3400" b="1" dirty="0">
                <a:solidFill>
                  <a:srgbClr val="102027"/>
                </a:solidFill>
                <a:latin typeface="Aptos Display" pitchFamily="34" charset="0"/>
                <a:ea typeface="Aptos Display" pitchFamily="34" charset="-122"/>
                <a:cs typeface="Aptos Display" pitchFamily="34" charset="-120"/>
              </a:rPr>
              <a:t>Thank you!</a:t>
            </a:r>
            <a:endParaRPr lang="en-US" sz="3400" dirty="0"/>
          </a:p>
        </p:txBody>
      </p:sp>
      <p:sp>
        <p:nvSpPr>
          <p:cNvPr id="19" name="Text 16"/>
          <p:cNvSpPr/>
          <p:nvPr/>
        </p:nvSpPr>
        <p:spPr>
          <a:xfrm>
            <a:off x="11475720" y="6437376"/>
            <a:ext cx="365760" cy="164592"/>
          </a:xfrm>
          <a:prstGeom prst="rect">
            <a:avLst/>
          </a:prstGeom>
          <a:noFill/>
          <a:ln/>
        </p:spPr>
        <p:txBody>
          <a:bodyPr wrap="square" lIns="0" tIns="0" rIns="0" bIns="0" rtlCol="0" anchor="ctr"/>
          <a:lstStyle/>
          <a:p>
            <a:pPr marL="0" indent="0" algn="r">
              <a:buNone/>
            </a:pPr>
            <a:r>
              <a:rPr lang="en-US" sz="800" dirty="0"/>
              <a:t>16</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174</TotalTime>
  <Words>2202</Words>
  <Application>Microsoft Office PowerPoint</Application>
  <PresentationFormat>Widescreen</PresentationFormat>
  <Paragraphs>331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Concurrency Models: Worker Pool vs Producer-Consumer</dc:title>
  <dc:subject>Worker Pool vs Producer-Consumer</dc:subject>
  <dc:creator>OpenAI</dc:creator>
  <cp:lastModifiedBy>Pulakanti, Aashrith Reddy (Stud SRH-University)</cp:lastModifiedBy>
  <cp:revision>8</cp:revision>
  <dcterms:created xsi:type="dcterms:W3CDTF">2026-06-28T17:20:20Z</dcterms:created>
  <dcterms:modified xsi:type="dcterms:W3CDTF">2026-06-30T08:58:07Z</dcterms:modified>
</cp:coreProperties>
</file>