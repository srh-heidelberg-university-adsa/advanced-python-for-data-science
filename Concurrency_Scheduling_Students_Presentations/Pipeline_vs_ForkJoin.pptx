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0B270F-4B7D-4872-63EB-9929AFE3B5A9}" v="5" dt="2026-07-23T06:13:14.066"/>
    <p1510:client id="{7F237987-D407-36BD-CE1B-8E09AB2689B0}" v="37" dt="2026-07-23T09:12:30.268"/>
    <p1510:client id="{E2109598-F562-DDE2-B1A7-6A457133A9CB}" v="171" dt="2026-07-22T19:19:20.136"/>
    <p1510:client id="{FD0787DA-81E9-D763-467C-D57B86622148}" v="180" dt="2026-07-22T19:34:44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B3AFB0-5702-4CD2-B16B-5C906DD2C64B}" type="datetimeFigureOut"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FE361-CE65-45B4-8117-68E814BB5C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37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MODELS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vs Fork-Join</a:t>
            </a:r>
            <a:endParaRPr lang="en-US" sz="460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computation as sequential stages vs parallel decomposition with aggregation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Vivek Sawant</a:t>
            </a:r>
            <a:endParaRPr lang="en-US" sz="15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Gaurav Awasare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4893469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Assignment  |  SRH Hochschule Heidelberg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 pitchFamily="34" charset="-120"/>
              </a:rPr>
              <a:t>Part 1 - The Pipeline Pattern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through a fixed sequence of processing stages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620554" y="2103120"/>
            <a:ext cx="2335769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0554" y="2359152"/>
            <a:ext cx="23357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620554" y="2880360"/>
            <a:ext cx="2335769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>
                <a:solidFill>
                  <a:srgbClr val="E8F1F5"/>
                </a:solidFill>
                <a:ea typeface="Calibri"/>
                <a:cs typeface="Calibri"/>
              </a:rPr>
              <a:t>Read the value</a:t>
            </a:r>
          </a:p>
        </p:txBody>
      </p:sp>
      <p:sp>
        <p:nvSpPr>
          <p:cNvPr id="7" name="Shape 5"/>
          <p:cNvSpPr/>
          <p:nvPr/>
        </p:nvSpPr>
        <p:spPr>
          <a:xfrm>
            <a:off x="3107722" y="2651760"/>
            <a:ext cx="653273" cy="274320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8" name="Shape 6"/>
          <p:cNvSpPr/>
          <p:nvPr/>
        </p:nvSpPr>
        <p:spPr>
          <a:xfrm>
            <a:off x="3912394" y="2103120"/>
            <a:ext cx="2335769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12394" y="2359152"/>
            <a:ext cx="23357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3912394" y="2880360"/>
            <a:ext cx="2335769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Square the number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6399562" y="2651760"/>
            <a:ext cx="653273" cy="274320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12" name="Shape 10"/>
          <p:cNvSpPr/>
          <p:nvPr/>
        </p:nvSpPr>
        <p:spPr>
          <a:xfrm>
            <a:off x="7204234" y="2103120"/>
            <a:ext cx="2335769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04234" y="2359152"/>
            <a:ext cx="23357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7204234" y="2880360"/>
            <a:ext cx="2335769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Format the squared result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91402" y="2651760"/>
            <a:ext cx="415529" cy="274320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94322" y="2103120"/>
            <a:ext cx="1512809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5C7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94322" y="2606040"/>
            <a:ext cx="15128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82296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822960" y="434340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flow — each item moves stage 1 → stage 2 → stage 3</a:t>
            </a:r>
            <a:endParaRPr lang="en-US" sz="135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run concurrently on separate threads, connected by queues</a:t>
            </a:r>
            <a:endParaRPr lang="en-US" sz="135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Throughput-oriented: while stage 3 finishes item A, stage 1 starts item B</a:t>
            </a:r>
            <a:endParaRPr lang="en-US" sz="135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to streaming / continuous data (ETL, I/O-bound workloads)</a:t>
            </a:r>
            <a:endParaRPr lang="en-US" sz="135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vs Fork-Join  |  SRH Hochschule Heidelberg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0051"/>
            <a:ext cx="91440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Implementation - threading + queue</a:t>
            </a:r>
            <a:endParaRPr lang="en-US" sz="2600">
              <a:latin typeface="Cambria"/>
              <a:ea typeface="Cambri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2971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library only: threading, queue, time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301898" y="1090749"/>
            <a:ext cx="11572238" cy="5449388"/>
          </a:xfrm>
          <a:prstGeom prst="roundRect">
            <a:avLst>
              <a:gd name="adj" fmla="val 1165"/>
            </a:avLst>
          </a:prstGeom>
          <a:solidFill>
            <a:srgbClr val="1016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7189" y="1244601"/>
            <a:ext cx="10791371" cy="53035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8000"/>
              </a:lnSpc>
            </a:pPr>
            <a:endParaRPr lang="en-US" sz="1250">
              <a:solidFill>
                <a:srgbClr val="D6F0FF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vs Fork-Join  |  SRH Hochschule Heidelberg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3C9AFA-560C-780A-CC1C-724A049B6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67" y="1219200"/>
            <a:ext cx="4707093" cy="528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658F83-5AB1-3522-54CB-785F6142D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943" y="1840366"/>
            <a:ext cx="6313714" cy="35618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in action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prints its input and output as data flows through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35204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Stage 1 (Read the items)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520440" cy="2697480"/>
          </a:xfrm>
          <a:prstGeom prst="roundRect">
            <a:avLst>
              <a:gd name="adj" fmla="val 2034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88920"/>
            <a:ext cx="3063240" cy="2194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>
                <a:solidFill>
                  <a:srgbClr val="1B2733"/>
                </a:solidFill>
                <a:latin typeface="Consolas"/>
                <a:ea typeface="Consolas" pitchFamily="34" charset="-122"/>
                <a:cs typeface="Consolas" pitchFamily="34" charset="-120"/>
              </a:rPr>
              <a:t>Input: 1  →  Output: 1</a:t>
            </a:r>
            <a:endParaRPr lang="en-US" sz="1200">
              <a:latin typeface="Consolas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200">
                <a:solidFill>
                  <a:srgbClr val="1B2733"/>
                </a:solidFill>
                <a:latin typeface="Consolas"/>
                <a:ea typeface="Consolas" pitchFamily="34" charset="-122"/>
                <a:cs typeface="Consolas" pitchFamily="34" charset="-120"/>
              </a:rPr>
              <a:t>Input: 2  →  Output: 2</a:t>
            </a:r>
            <a:endParaRPr lang="en-US" sz="1200"/>
          </a:p>
          <a:p>
            <a:pPr marL="0" indent="0">
              <a:spcAft>
                <a:spcPts val="1000"/>
              </a:spcAft>
              <a:buNone/>
            </a:pPr>
            <a:r>
              <a:rPr lang="en-US" sz="1200">
                <a:solidFill>
                  <a:srgbClr val="1B2733"/>
                </a:solidFill>
                <a:latin typeface="Consolas"/>
                <a:ea typeface="Consolas" pitchFamily="34" charset="-122"/>
                <a:cs typeface="Consolas" pitchFamily="34" charset="-120"/>
              </a:rPr>
              <a:t>Input: 3  →  Output: 3</a:t>
            </a:r>
            <a:endParaRPr lang="en-US" sz="1200">
              <a:latin typeface="Consolas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20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920240"/>
            <a:ext cx="35204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Stage 2 (Square the items)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4343400" y="2514600"/>
            <a:ext cx="3520440" cy="2697480"/>
          </a:xfrm>
          <a:prstGeom prst="roundRect">
            <a:avLst>
              <a:gd name="adj" fmla="val 2034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788920"/>
            <a:ext cx="3063240" cy="2194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spcAft>
                <a:spcPts val="1000"/>
              </a:spcAft>
            </a:pPr>
            <a:r>
              <a:rPr lang="en-US" sz="1200">
                <a:solidFill>
                  <a:srgbClr val="1B2733"/>
                </a:solidFill>
                <a:latin typeface="Consolas"/>
                <a:ea typeface="Consolas" pitchFamily="34" charset="-122"/>
                <a:cs typeface="Consolas" pitchFamily="34" charset="-120"/>
              </a:rPr>
              <a:t>Input: 1  →  Output: 1</a:t>
            </a:r>
            <a:endParaRPr lang="en-US" sz="1200"/>
          </a:p>
          <a:p>
            <a:pPr>
              <a:spcAft>
                <a:spcPts val="1000"/>
              </a:spcAft>
            </a:pPr>
            <a:r>
              <a:rPr lang="en-US" sz="1200">
                <a:solidFill>
                  <a:srgbClr val="1B2733"/>
                </a:solidFill>
                <a:latin typeface="Consolas"/>
                <a:ea typeface="Consolas" pitchFamily="34" charset="-122"/>
                <a:cs typeface="Consolas" pitchFamily="34" charset="-120"/>
              </a:rPr>
              <a:t>Input: 2  →  Output: 4</a:t>
            </a:r>
            <a:endParaRPr lang="en-US" sz="1200">
              <a:latin typeface="Consolas"/>
            </a:endParaRPr>
          </a:p>
          <a:p>
            <a:pPr>
              <a:spcAft>
                <a:spcPts val="1000"/>
              </a:spcAft>
            </a:pPr>
            <a:r>
              <a:rPr lang="en-US" sz="1200">
                <a:solidFill>
                  <a:srgbClr val="1B2733"/>
                </a:solidFill>
                <a:latin typeface="Consolas"/>
                <a:ea typeface="Consolas" pitchFamily="34" charset="-122"/>
                <a:cs typeface="Consolas" pitchFamily="34" charset="-120"/>
              </a:rPr>
              <a:t>Input: 3  →  Output: 9</a:t>
            </a:r>
            <a:endParaRPr lang="en-US" sz="1200">
              <a:latin typeface="Consolas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20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920240"/>
            <a:ext cx="35204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Stage 3 (Print in formatted way)</a:t>
            </a:r>
            <a:endParaRPr lang="en-US" sz="1500"/>
          </a:p>
        </p:txBody>
      </p:sp>
      <p:sp>
        <p:nvSpPr>
          <p:cNvPr id="14" name="Shape 12"/>
          <p:cNvSpPr/>
          <p:nvPr/>
        </p:nvSpPr>
        <p:spPr>
          <a:xfrm>
            <a:off x="8138160" y="2514600"/>
            <a:ext cx="3520440" cy="2697480"/>
          </a:xfrm>
          <a:prstGeom prst="roundRect">
            <a:avLst>
              <a:gd name="adj" fmla="val 2034"/>
            </a:avLst>
          </a:prstGeom>
          <a:solidFill>
            <a:srgbClr val="F4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2788920"/>
            <a:ext cx="3063240" cy="2194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spcAft>
                <a:spcPts val="1000"/>
              </a:spcAft>
            </a:pPr>
            <a:r>
              <a:rPr lang="en-US" sz="1200">
                <a:solidFill>
                  <a:srgbClr val="1B2733"/>
                </a:solidFill>
                <a:latin typeface="Consolas"/>
                <a:ea typeface="Consolas" pitchFamily="34" charset="-122"/>
                <a:cs typeface="Consolas" pitchFamily="34" charset="-120"/>
              </a:rPr>
              <a:t>Input: 1 → Square is (1)</a:t>
            </a:r>
            <a:endParaRPr lang="en-US" sz="1200">
              <a:latin typeface="Consolas"/>
            </a:endParaRPr>
          </a:p>
          <a:p>
            <a:pPr>
              <a:spcAft>
                <a:spcPts val="1000"/>
              </a:spcAft>
            </a:pPr>
            <a:r>
              <a:rPr lang="en-US" sz="1200">
                <a:solidFill>
                  <a:srgbClr val="1B2733"/>
                </a:solidFill>
                <a:latin typeface="Consolas"/>
                <a:ea typeface="Consolas" pitchFamily="34" charset="-122"/>
                <a:cs typeface="Consolas" pitchFamily="34" charset="-120"/>
              </a:rPr>
              <a:t>Input: 4 → Square is (4)</a:t>
            </a:r>
            <a:endParaRPr lang="en-US" sz="1200">
              <a:latin typeface="Consolas"/>
            </a:endParaRPr>
          </a:p>
          <a:p>
            <a:pPr>
              <a:spcAft>
                <a:spcPts val="1000"/>
              </a:spcAft>
            </a:pPr>
            <a:r>
              <a:rPr lang="en-US" sz="1200">
                <a:solidFill>
                  <a:srgbClr val="1B2733"/>
                </a:solidFill>
                <a:latin typeface="Consolas"/>
                <a:ea typeface="Consolas" pitchFamily="34" charset="-122"/>
                <a:cs typeface="Consolas" pitchFamily="34" charset="-120"/>
              </a:rPr>
              <a:t>Input: 9 → Square is (9)</a:t>
            </a:r>
            <a:endParaRPr lang="en-US" sz="1200">
              <a:latin typeface="Consolas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20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09728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C7080"/>
                </a:solidFill>
                <a:latin typeface="Calibri"/>
                <a:ea typeface="Calibri"/>
                <a:cs typeface="Calibri"/>
              </a:rPr>
              <a:t>Because stages overlap in time, Stage 1 can already be processing item 3 while Stage 3 is still finishing item 1, this is the throughput benefit of pipelining.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vs Fork-Join  |  SRH Hochschule Heidelberg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 pitchFamily="34" charset="-120"/>
              </a:rPr>
              <a:t>Part 2 - The Fork-Join Model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is split into subtasks, executed in parallel, then merged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1371600" y="2596991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596991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3017520" y="2871311"/>
            <a:ext cx="548640" cy="274320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2596991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596991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4754880" y="3008471"/>
            <a:ext cx="274320" cy="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636871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36871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 A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4754880" y="3008471"/>
            <a:ext cx="274320" cy="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2596991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596991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 B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4754880" y="3008471"/>
            <a:ext cx="274320" cy="86868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3557111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557111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 C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6772513" y="1962864"/>
            <a:ext cx="353854" cy="944404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766560" y="2913221"/>
            <a:ext cx="401478" cy="3810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6748701" y="2912746"/>
            <a:ext cx="383619" cy="940592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2501741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120414" y="2501741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7951946" y="2776061"/>
            <a:ext cx="548640" cy="274320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24" name="Shape 22"/>
          <p:cNvSpPr/>
          <p:nvPr/>
        </p:nvSpPr>
        <p:spPr>
          <a:xfrm>
            <a:off x="8592026" y="2501741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 w="12700">
            <a:solidFill>
              <a:srgbClr val="5C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2026" y="2501741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82296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822960" y="4343400"/>
            <a:ext cx="10424160" cy="1920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Decomposition - one large task is split (forked) into independent subtasks</a:t>
            </a:r>
            <a:endParaRPr lang="en-US" sz="135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 execute simultaneously across cores/processes</a:t>
            </a:r>
            <a:endParaRPr lang="en-US" sz="135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step waits for all subtasks and aggregates their results</a:t>
            </a:r>
            <a:endParaRPr lang="en-US" sz="135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Latency-oriented: best for CPU-bound, computationally heavy problems</a:t>
            </a:r>
            <a:endParaRPr lang="en-US" sz="135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vs Fork-Join  |  SRH Hochschule Heidelberg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5FCA0EBC-9375-58D9-2DAD-878FE0EAD2C4}"/>
              </a:ext>
            </a:extLst>
          </p:cNvPr>
          <p:cNvSpPr/>
          <p:nvPr/>
        </p:nvSpPr>
        <p:spPr>
          <a:xfrm flipV="1">
            <a:off x="4754878" y="1948339"/>
            <a:ext cx="268367" cy="1048225"/>
          </a:xfrm>
          <a:prstGeom prst="line">
            <a:avLst/>
          </a:prstGeom>
          <a:noFill/>
          <a:ln w="15875">
            <a:solidFill>
              <a:srgbClr val="5C708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Fork-Join Coordinates Work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E8F1F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Fork (split)</a:t>
            </a:r>
            <a:endParaRPr lang="en-US" sz="170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70916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The main task divides its input into independent chunks - e.g. splitting a large array into N equal ranges, one per worker.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63640" y="123444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4630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Parallel execution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6537960" y="196596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subtask runs concurrently on its own CPU core or process; a scheduler / pool coordinates workers and load-balances work.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E8F1F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8862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Join (merge)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task blocks until every subtask finishes, then combines partial results into one final output (sum, concatenation, reduction, …).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6263640" y="36576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8862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Why for heavy compute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6537960" y="438912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CPU-bound work (image processing, numerical simulation, sorting) benefits because true parallel cores bypass Python's GIL via separate processes.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vs Fork-Join  |  SRH Hochschule Heidelberg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Fork-Join in Python </a:t>
            </a:r>
            <a:endParaRPr lang="en-US" sz="2800">
              <a:latin typeface="Cambria"/>
              <a:ea typeface="Cambr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016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8FE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concurrent.futures.ProcessPoolExecutor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high-level pool that forks work across separate processes; submit() dispatches subtasks, and results() / as_completed() perform the join.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016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657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8FE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multiprocessing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868680" y="4114800"/>
            <a:ext cx="1042416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The lower-level module </a:t>
            </a:r>
            <a:r>
              <a:rPr lang="en-US" sz="1300" err="1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ProcessPoolExecutor</a:t>
            </a:r>
            <a:r>
              <a:rPr lang="en-US" sz="13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 is built on - gives direct control over Process, Pool, and shared memory for manual fork/join.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Both let a task “fork” into a pool of workers and “join” by collecting each worker’s return value - conceptually identical to the diagram on the previous slide.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vs Fork-Join  |  SRH Hochschule Heidelberg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differences, not implementation details</a:t>
            </a:r>
            <a:endParaRPr lang="en-US" sz="15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005792"/>
              </p:ext>
            </p:extLst>
          </p:nvPr>
        </p:nvGraphicFramePr>
        <p:xfrm>
          <a:off x="548640" y="1554480"/>
          <a:ext cx="11064240" cy="46177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Fork-Join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of computation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Flow - sequential stages, data passed forward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Decomposition - one task split into independent parts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strategy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Stages run concurrently, overlapping in time on a stream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Subtasks run simultaneously, then explicitly synchronized (join)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 mechanism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Queues connect stages; consumer/producer handoff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Pool/scheduler dispatches forks; blocking join collects results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 under workload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by the slowest stage (throughput-limited)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with available cores; limited by task-splitting overhead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suited for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/ I/O-bound, continuous data (ETL, media)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CPU-bound, computationally heavy, divisible workloads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vs Fork-Join  |  SRH Hochschule Heidelberg</a:t>
            </a:r>
            <a:endParaRPr lang="en-US" sz="100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 at a Glance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4F6F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5257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90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2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throughput for continuous streams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2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mental model: data flows one way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2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can be scaled/tuned independently</a:t>
            </a:r>
            <a:endParaRPr lang="en-US" sz="125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✖"/>
            </a:pPr>
            <a:r>
              <a:rPr lang="en-US" sz="12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speed capped by the slowest stage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✖"/>
            </a:pPr>
            <a:r>
              <a:rPr lang="en-US" sz="12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latency per item (must pass every stage)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4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37160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371600"/>
            <a:ext cx="5257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Fork-Join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6537960" y="21945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6537960" y="25603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2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a single heavy task via parallel cores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2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naturally with available CPUs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2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structure: split → compute → merge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6537960" y="3977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6537960" y="434340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✖"/>
            </a:pPr>
            <a:r>
              <a:rPr lang="en-US" sz="12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Splitting/merging adds coordination overhead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✖"/>
            </a:pPr>
            <a:r>
              <a:rPr lang="en-US" sz="12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subtask sizes cause idle workers</a:t>
            </a:r>
            <a:endParaRPr lang="en-US" sz="125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vs Fork-Join  |  SRH Hochschule Heidelberg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969264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Pipeline and fork-join both achieve concurrency, but answer different questions: pipeline asks “how do items flow through stages?”, fork-join asks “how do we split one big job across workers?” Choosing the right model - or combining both - depends on whether the workload is a continuous stream or a single divisible task.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3840480"/>
            <a:ext cx="201168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Thank you </a:t>
            </a:r>
            <a:endParaRPr lang="en-US" sz="18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2026-07-22T14:50:38Z</dcterms:created>
  <dcterms:modified xsi:type="dcterms:W3CDTF">2026-07-23T19:30:39Z</dcterms:modified>
</cp:coreProperties>
</file>