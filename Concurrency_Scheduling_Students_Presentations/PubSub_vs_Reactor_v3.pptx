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4114800" cy="41148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6FD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Concurrency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8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Publish–Subscribe vs Reactor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two ways systems respond to events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SRH Hochschule Heidelberg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for Data Science &amp; AI  —  Prof. Anil Keshav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study and compare two concurrency models to understand event-driven architecture.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011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FD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Publish–Subscribe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Python implementation using threading &amp; queue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8288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0" y="2011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FD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657600" y="27432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Reactor Pattern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338328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conceptual analysis of the single-loop event model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8288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2011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FD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583680" y="27432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338328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distribution, execution model, and coupling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326880" y="18288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09760" y="2011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FD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509760" y="27432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09760" y="338328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flow for both architectures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 — Publish–Subscribe: Theory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017520" y="182880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3017520" y="18288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(Dispatcher)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128016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6FD6C9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0" y="12801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20640" y="2240280"/>
            <a:ext cx="731520" cy="-667512"/>
          </a:xfrm>
          <a:prstGeom prst="line">
            <a:avLst/>
          </a:prstGeom>
          <a:noFill/>
          <a:ln w="19050">
            <a:solidFill>
              <a:srgbClr val="4856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205740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6FD6C9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20574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20640" y="2240280"/>
            <a:ext cx="731520" cy="109728"/>
          </a:xfrm>
          <a:prstGeom prst="line">
            <a:avLst/>
          </a:prstGeom>
          <a:noFill/>
          <a:ln w="19050">
            <a:solidFill>
              <a:srgbClr val="4856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283464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6FD6C9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0" y="28346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20640" y="2240280"/>
            <a:ext cx="731520" cy="886968"/>
          </a:xfrm>
          <a:prstGeom prst="line">
            <a:avLst/>
          </a:prstGeom>
          <a:noFill/>
          <a:ln w="19050">
            <a:solidFill>
              <a:srgbClr val="4856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2240280"/>
            <a:ext cx="548640" cy="0"/>
          </a:xfrm>
          <a:prstGeom prst="line">
            <a:avLst/>
          </a:prstGeom>
          <a:noFill/>
          <a:ln w="19050">
            <a:solidFill>
              <a:srgbClr val="4856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→ event bus → subscribers  (each subscriber has its own queue)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0" y="1280160"/>
            <a:ext cx="3383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and subscribers never call each other directly.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dispatcher decouples them completely.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subscriber runs on its own thread, blocked on queue.get().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queue.Queue is thread-safe — no manual locking needed for the data path.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Constraint: standard library only (threading, queue, time) — minimal, readable, decoupled.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 — Publish–Subscribe: Implementation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532120" cy="5394960"/>
          </a:xfrm>
          <a:prstGeom prst="roundRect">
            <a:avLst>
              <a:gd name="adj" fmla="val 1356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88720"/>
            <a:ext cx="5166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threading, queue, time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FD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Dispatcher: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__init__(self):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self.subscribers = []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subscribe(self, q):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self.subscribers.append(q)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publish(self, event):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q in self.subscribers: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q.put(event)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FD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publisher(dispatcher, n):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range(n):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event = f"event-{i}"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print(f"[Publisher] emitting {event}")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dispatcher.publish(event)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time.sleep(0.5)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dispatcher.publish(None)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63640" y="1051560"/>
            <a:ext cx="5394960" cy="5394960"/>
          </a:xfrm>
          <a:prstGeom prst="roundRect">
            <a:avLst>
              <a:gd name="adj" fmla="val 1356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46520" y="1188720"/>
            <a:ext cx="50292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FD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subscriber(name, q):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True: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event = q.get()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event is None: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print(f"[{name}] received {event}")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FD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"__main__":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dispatcher = Dispatcher()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q1, q2 = queue.Queue(), queue.Queue()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dispatcher.subscribe(q1)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dispatcher.subscribe(q2)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threading.Thread(target=subscriber,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args=("Sub1", q1)).start()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threading.Thread(target=subscriber,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args=("Sub2", q2)).start()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threading.Thread(target=publisher,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args=(dispatcher, 5)).start()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 — Publish–Subscribe: Sample Output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6035040" cy="5349240"/>
          </a:xfrm>
          <a:prstGeom prst="roundRect">
            <a:avLst>
              <a:gd name="adj" fmla="val 1368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34440"/>
            <a:ext cx="566928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[Publisher] emitting event-0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D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[Sub1] received event-0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D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[Sub2] received event-0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[Publisher] emitting event-1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D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[Sub1] received event-1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D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[Sub2] received event-1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[Publisher] emitting event-2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D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[Sub2] received event-2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D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[Sub1] received event-2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[Publisher] emitting event-3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D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[Sub1] received event-3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D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[Sub2] received event-3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[Publisher] emitting event-4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D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[Sub1] received event-4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D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[Sub2] received event-4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858000" y="1188720"/>
            <a:ext cx="47548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subscribers receive every event — true fan-out, not competition for one queue.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Sub1/Sub2 order flips for event-2: thread scheduling is non-deterministic.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0.5s time.sleep() between events simulates real-world event timing.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acts as a sentinel to cleanly stop each subscriber thread.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FD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MODELS  ·  EVENT-DRIVEN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8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Reactor Pattern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event loop, watching many sources at once — dispatching each ready event to its handler, without blocking and without a thread per connection.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32918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918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91840" y="3749040"/>
            <a:ext cx="822960" cy="0"/>
          </a:xfrm>
          <a:prstGeom prst="line">
            <a:avLst/>
          </a:prstGeom>
          <a:noFill/>
          <a:ln w="22225">
            <a:solidFill>
              <a:srgbClr val="CBD9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310896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0" y="310896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Loop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0" y="3749040"/>
            <a:ext cx="822960" cy="0"/>
          </a:xfrm>
          <a:prstGeom prst="line">
            <a:avLst/>
          </a:prstGeom>
          <a:noFill/>
          <a:ln w="22225">
            <a:solidFill>
              <a:srgbClr val="CBD9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32918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6FD6C9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0" y="32918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4846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 →  event loop  →  handlers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217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implemented — explained conceptually.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Thousands of Connections, Mostly Waiting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 may hold tens of thousands of open connections at once. The naive fix — one thread per connection — collapses under its own weight, because almost every thread is just sitting idle, waiting for the network.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194560"/>
            <a:ext cx="73152" cy="1920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blows up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thread needs its own stack (~1 MB). 10,000 threads ≈ 10 GB before any real work.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219456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2194560"/>
            <a:ext cx="73152" cy="1920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Context-switching tax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8803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CPU wastes cycles switching between thousands of mostly-sleeping threads.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219456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2194560"/>
            <a:ext cx="73152" cy="1920240"/>
          </a:xfrm>
          <a:prstGeom prst="rect">
            <a:avLst/>
          </a:prstGeom>
          <a:solidFill>
            <a:srgbClr val="6FD6C9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waiting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28803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I/O-bound work spends most of its time blocked, waiting for packets or disk — not computing.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4348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FD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insight: these connections are I/O-bound — they wait far more than they compute.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5349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machine spends its resources managing idle threads instead of serving requests. The reactor removes the threads and keeps only the waiting — in one place.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Thread, Four Moving Parts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forward flow: a ready event travels left to right, from source to handler.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51460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7744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sources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sockets, files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63240" y="2971800"/>
            <a:ext cx="411480" cy="0"/>
          </a:xfrm>
          <a:prstGeom prst="line">
            <a:avLst/>
          </a:prstGeom>
          <a:noFill/>
          <a:ln w="22225">
            <a:solidFill>
              <a:srgbClr val="48566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474720" y="2377440"/>
            <a:ext cx="251460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237744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Demultiplexer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/ epoll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89320" y="2971800"/>
            <a:ext cx="411480" cy="0"/>
          </a:xfrm>
          <a:prstGeom prst="line">
            <a:avLst/>
          </a:prstGeom>
          <a:noFill/>
          <a:ln w="22225">
            <a:solidFill>
              <a:srgbClr val="4856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00800" y="2377440"/>
            <a:ext cx="251460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37744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Reactor loop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+ dispatches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15400" y="2971800"/>
            <a:ext cx="411480" cy="0"/>
          </a:xfrm>
          <a:prstGeom prst="line">
            <a:avLst/>
          </a:prstGeom>
          <a:noFill/>
          <a:ln w="22225">
            <a:solidFill>
              <a:srgbClr val="4856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326880" y="2377440"/>
            <a:ext cx="2514600" cy="1188720"/>
          </a:xfrm>
          <a:prstGeom prst="roundRect">
            <a:avLst>
              <a:gd name="adj" fmla="val 7692"/>
            </a:avLst>
          </a:prstGeom>
          <a:solidFill>
            <a:srgbClr val="6FD6C9"/>
          </a:solidFill>
          <a:ln/>
        </p:spPr>
      </p:sp>
      <p:sp>
        <p:nvSpPr>
          <p:cNvPr id="14" name="Text 12"/>
          <p:cNvSpPr/>
          <p:nvPr/>
        </p:nvSpPr>
        <p:spPr>
          <a:xfrm>
            <a:off x="9418320" y="237744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callbacks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5120" y="3977640"/>
            <a:ext cx="-41833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  <a:headEnd type="triangle"/>
          </a:ln>
        </p:spPr>
      </p:sp>
      <p:sp>
        <p:nvSpPr>
          <p:cNvPr id="16" name="Text 14"/>
          <p:cNvSpPr/>
          <p:nvPr/>
        </p:nvSpPr>
        <p:spPr>
          <a:xfrm>
            <a:off x="6126480" y="4069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6634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loop runs, each handler registers with the reactor — naming the source it cares about and the event type. That's the dashed arrow.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Registration, Then the Loop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417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up the lookup table.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4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handler tells the reactor two things: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source — a specific socket or file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event type — readable, writable, or error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i="1" dirty="0">
                <a:solidFill>
                  <a:srgbClr val="4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reactor stores this as a source → handler table.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188720"/>
            <a:ext cx="5486400" cy="5029200"/>
          </a:xfrm>
          <a:prstGeom prst="roundRect">
            <a:avLst>
              <a:gd name="adj" fmla="val 1818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4173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D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Loop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forever, one cycle at a time.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423160"/>
            <a:ext cx="457200" cy="457200"/>
          </a:xfrm>
          <a:prstGeom prst="ellipse">
            <a:avLst/>
          </a:prstGeom>
          <a:solidFill>
            <a:srgbClr val="6FD6C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95160" y="23774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at the demultiplexer until one or more sources become ready.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0" y="3337560"/>
            <a:ext cx="457200" cy="457200"/>
          </a:xfrm>
          <a:prstGeom prst="ellipse">
            <a:avLst/>
          </a:prstGeom>
          <a:solidFill>
            <a:srgbClr val="6FD6C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95160" y="32918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ready source, look it up in the table and call its handler.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0" y="4251960"/>
            <a:ext cx="457200" cy="457200"/>
          </a:xfrm>
          <a:prstGeom prst="ellipse">
            <a:avLst/>
          </a:prstGeom>
          <a:solidFill>
            <a:srgbClr val="6FD6C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95160" y="42062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&amp; return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handler does a quick, non-blocking bit of work, then hands control back.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0" y="5166360"/>
            <a:ext cx="457200" cy="457200"/>
          </a:xfrm>
          <a:prstGeom prst="ellipse">
            <a:avLst/>
          </a:prstGeom>
          <a:solidFill>
            <a:srgbClr val="6FD6C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95160" y="51206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∞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straight back to waiting — the return arrow is the loop.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Need, Problem &amp; How — Both Patterns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8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behind every pattern: what need drove it, what problem it solves, and how.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4480560"/>
        </p:xfrm>
        <a:graphic>
          <a:graphicData uri="http://schemas.openxmlformats.org/drawingml/2006/table">
            <a:tbl>
              <a:tblPr/>
              <a:tblGrid>
                <a:gridCol w="1417320"/>
                <a:gridCol w="4846320"/>
                <a:gridCol w="4846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Publish–Subscribe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85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independent parts must react to one event, without the sender knowing who is listening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85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 many concurrent I/O operations efficiently, without one thread per connection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85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a bus, the publisher must call every subscriber directly — tight coupling, hard to add/remove listeners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85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Thread-per-connection wastes memory and CPU on threads that are mostly idle, waiting on I/O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85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shared dispatcher sits between them: publisher only calls publish(), each subscriber only listens on its own queue/thread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85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loop uses OS-level readiness checks (select/poll/epoll, asyncio) to dispatch only to handlers that are ready; handlers yield control back instead of blocking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to remember: Pub-Sub solves fan-out without coupling; Reactor solves efficient waiting without wasted threads.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Comparison: Publish–Subscribe vs Reactor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109960" cy="4206240"/>
        </p:xfrm>
        <a:graphic>
          <a:graphicData uri="http://schemas.openxmlformats.org/drawingml/2006/table">
            <a:tbl>
              <a:tblPr/>
              <a:tblGrid>
                <a:gridCol w="2377440"/>
                <a:gridCol w="4389120"/>
                <a:gridCol w="43434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Publish–Subscribe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85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distribution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85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 fans event out to every subscriber's own queue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85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loop dispatches one event to one handler at a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85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85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OS threads run independently and concurrently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85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thread; a loop drives non-blocking, cooperative handlers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85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85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Publisher/subscribers fully decoupled via the dispatcher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85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Handlers decoupled from I/O source, but tied to the single loop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85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suited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85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independent consumers reacting to the same event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85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High-volume I/O-bound systems (servers, network apps)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85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Concurrency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85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parallel-feeling execution via threading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85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Cooperative multitasking via async/await, no real parallelism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event-driven — they differ in how events are distributed and who does the waiting.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Publish-Subscribe vs Reactor</dc:title>
  <dc:subject>PptxGenJS Presentation</dc:subject>
  <dc:creator>Yash</dc:creator>
  <cp:lastModifiedBy>Yash</cp:lastModifiedBy>
  <cp:revision>1</cp:revision>
  <dcterms:created xsi:type="dcterms:W3CDTF">2026-07-06T09:57:44Z</dcterms:created>
  <dcterms:modified xsi:type="dcterms:W3CDTF">2026-07-06T09:57:44Z</dcterms:modified>
</cp:coreProperties>
</file>