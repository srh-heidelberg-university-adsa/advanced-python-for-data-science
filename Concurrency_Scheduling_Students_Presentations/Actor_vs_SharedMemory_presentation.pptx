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1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664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One sentence: 'We compared two ways of writing concurrent programs — the actor model, which passes messages, and the shared-memory threading model, which shares state and protects it with locks.' We actually built the actor model in Python; the shared-memory model we analyse conceptually. Then hand over to the next speaker for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roadmap. First we show the actor model we built and run it live. Then we explain shared-memory threading and the three big risks — race conditions, deadlocks, inconsistency. Finally we compare the two on state, synchronisation, and safety. Point at the right panel: the top row is actors passing messages; the bottom row is two threads reaching into the same shared memory. The whole talk is really about the difference between those two pictures.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comparison. Both models solve concurrency, but they answer the sharing question in opposite ways. Shared state: everyone uses the same memory, so you bolt on locks to keep them from colliding. Message passing: nobody shares anything; they mail each other messages instead. Our implemented part is on the right (actors). The analysed part is on the left (shared memory). Keep this VS picture in mind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part we actually coded. The actor model is the message-passing world from the previous slide. We built a small but complete actor system in pure Python — only threading and queue, exactly as the brief required. Next slides: the concept, our design, the code, and a live 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actor with these four rules — they are the heart of the model. Private mailbox: its own queue. Messages only: no reaching into another actor. One at a time: inside a single actor everything is sequential, which is why an actor's own logic is easy to reason about. No shared state: nothing shared means no locks and no race conditions between actors. Tie it back: these rules are exactly why the actor model is 'safe by design'.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We send ONE message, START, to the Coordinator (A). A loops over the numbers and sends a COMPUTE message to the Calculator (B) for each one. B squares the number and sends a LOG message to the Logger (C). C just prints/records it. Stress the mailbox tags: each actor has its own queue, drawn under it. The labelled arrows (START / COMPUTE / LOG) are the only links — this is literally the 'actor A ↔ actor B ↔ actor C, message passing' diagram the assignment asked for.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engine, trimmed to the essentials. The base Actor is a Thread with a private queue. send() just puts a message on that queue — that is our only public interface. run() is the message loop: get() blocks until a message arrives, then we call on_receive, strictly one message at a time. To make a new kind of actor you subclass Actor and override on_receive — here Calculator reads the number, squares it, and sends the result on to the logger. Mention that the real file has Coordinator, Calculator, Logger plus a clean STOP shutdown; this slide shows the pattern.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possible, run the script live here — it takes one second. Otherwise walk through this captured output. Point out the tags: you can literally see the message travel from Coordinator to Calculator to Logger. Each actor prints 'received' then 'processed', which proves sequential handling. The threads run concurrently, but because nothing is shared there is no corruption and no lock anywhere. End with the clean shutdown 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speakers and switch worlds. We did NOT implement this part — the brief asks us to explain it conceptually. Here threads share memory instead of passing messages. It is powerful and common, but it opens the door to the three risks we'll cover: race conditions, deadlocks, and inconsistency.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Shared-Memory diagram: thread A ↔ shared memory ↔ thread B. The double-headed arrows matter — both threads read AND write the same counter. Contrast it with the actor diagram: there, arrows went between actors (messages). Here, the arrows point at a shared box in the middle. Communication is 'leave a value in memory for the other thread to find'. Fast and direct — but the next slide shows the catch.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example and the one to slow down on. counter += 1 is not one action — the CPU reads the value, adds one, then writes it back. Walk the table row by row: A reads 0, then B also reads 0 before A has written. Both compute 1, both write 1. Two increments happened, but the counter only went from 0 to 1. One update vanished. The killer detail: it depends on timing, so it passes in testing and fails in production. That unpredictability is exactly why we need the next slide — locks.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for a race condition is to make the read-add-write happen with no interruption. A lock does that. In Python, 'with lock:' acquires it, runs the critical section, and releases it automatically. While A holds the lock, B blocks on acquire until A is done — so the interleaving from the previous slide can't happen, and we always get 2. But be honest about the cost: locks serialise access so they reduce parallelism, and if you use several of them carelessly you can get a deadlock —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risks that come with shared state. DEADLOCK: A holds lock 1 and wants lock 2; B holds lock 2 and wants lock 1. Each waits for the other, forever — the program hangs. The standard cure is to always take locks in the same global order, or use acquire timeouts. INCONSISTENCY: an update often takes several steps. In the transfer example, between 'subtract from A' and 'add to B' the money is nowhere. If another thread reads right then, it sees an invalid total. That whole update needs to be protected as one unit. Big picture: race conditions, deadlocks, and inconsistency are all symptoms of the same root cause — shared mutable state.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Part 3 — focus on design differences, not a feature list. Go row by row. State: actors isolate it, threads share it — this single choice drives everything else. Synchronisation: actors need none because the mailbox already serialises each actor's work; shared memory needs manual locks around every shared piece. Safety: actors are safe by design and easy to reason about; shared memory is faster and more flexible but fragile — the races and deadlocks we just saw. Communication: explicit messages vs implicit reads and writes. One-line summary: the actor model trades a little speed and directness for a lot of safety.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practical conclusion. Neither model is 'better' everywhere. Choose actors when you value safety, simplicity, and independent tasks, and when you want to scale out. Choose shared memory when you need raw speed, cheap sharing of big data, and you trust the team to handle locks. Then deliver the takeaway line as the message of the whole talk: the actor model removes shared mutable state, which is the root cause of the bugs we showed, trading a little performance for a lot of safety. Hand to whoever runs Q&amp;A.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open the floor. Likely questions to be ready for: 'Why no locks in the actor model?' (because nothing is shared). 'Is the actor model always slower?' (usually a bit, due to message overhead, but it scales and avoids lock contention). 'Where is this used in real life?' (Erlang/Elixir, Akka, and Python's multiprocessing / asyncio-style designs). Remember every group member should have spoken by now — make sure the last speaker isn't the only voice in Q&amp;A.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371600"/>
            <a:ext cx="10908792" cy="274320"/>
          </a:xfrm>
          <a:prstGeom prst="rect">
            <a:avLst/>
          </a:prstGeom>
          <a:noFill/>
          <a:ln/>
        </p:spPr>
        <p:txBody>
          <a:bodyPr wrap="square" rtlCol="0" anchor="ctr"/>
          <a:lstStyle/>
          <a:p>
            <a:pPr marL="0" indent="0">
              <a:buNone/>
            </a:pPr>
            <a:r>
              <a:rPr lang="en-US" sz="1300" b="1" kern="0" spc="150" dirty="0">
                <a:solidFill>
                  <a:srgbClr val="1F4E79"/>
                </a:solidFill>
                <a:latin typeface="Calibri" pitchFamily="34" charset="0"/>
                <a:ea typeface="Calibri" pitchFamily="34" charset="-122"/>
                <a:cs typeface="Calibri" pitchFamily="34" charset="-120"/>
              </a:rPr>
              <a:t>SRH HOCHSCHULE HEIDELBERG  ·  TEAM C</a:t>
            </a:r>
            <a:endParaRPr lang="en-US" sz="1300" dirty="0"/>
          </a:p>
        </p:txBody>
      </p:sp>
      <p:sp>
        <p:nvSpPr>
          <p:cNvPr id="3" name="Text 1"/>
          <p:cNvSpPr/>
          <p:nvPr/>
        </p:nvSpPr>
        <p:spPr>
          <a:xfrm>
            <a:off x="640080" y="1828800"/>
            <a:ext cx="10908792" cy="1005840"/>
          </a:xfrm>
          <a:prstGeom prst="rect">
            <a:avLst/>
          </a:prstGeom>
          <a:noFill/>
          <a:ln/>
        </p:spPr>
        <p:txBody>
          <a:bodyPr wrap="square" rtlCol="0" anchor="ctr"/>
          <a:lstStyle/>
          <a:p>
            <a:pPr marL="0" indent="0">
              <a:lnSpc>
                <a:spcPts val="4400"/>
              </a:lnSpc>
              <a:buNone/>
            </a:pPr>
            <a:r>
              <a:rPr lang="en-US" sz="4000" b="1" dirty="0">
                <a:solidFill>
                  <a:srgbClr val="262626"/>
                </a:solidFill>
                <a:latin typeface="Calibri" pitchFamily="34" charset="0"/>
                <a:ea typeface="Calibri" pitchFamily="34" charset="-122"/>
                <a:cs typeface="Calibri" pitchFamily="34" charset="-120"/>
              </a:rPr>
              <a:t>Actor Model vs. Shared-Memory Threads</a:t>
            </a:r>
            <a:endParaRPr lang="en-US" sz="4000" dirty="0"/>
          </a:p>
        </p:txBody>
      </p:sp>
      <p:sp>
        <p:nvSpPr>
          <p:cNvPr id="4" name="Text 2"/>
          <p:cNvSpPr/>
          <p:nvPr/>
        </p:nvSpPr>
        <p:spPr>
          <a:xfrm>
            <a:off x="640080" y="2971800"/>
            <a:ext cx="8778240" cy="731520"/>
          </a:xfrm>
          <a:prstGeom prst="rect">
            <a:avLst/>
          </a:prstGeom>
          <a:noFill/>
          <a:ln/>
        </p:spPr>
        <p:txBody>
          <a:bodyPr wrap="square" rtlCol="0" anchor="ctr"/>
          <a:lstStyle/>
          <a:p>
            <a:pPr marL="0" indent="0">
              <a:lnSpc>
                <a:spcPts val="2500"/>
              </a:lnSpc>
              <a:buNone/>
            </a:pPr>
            <a:r>
              <a:rPr lang="en-US" sz="1700" dirty="0">
                <a:solidFill>
                  <a:srgbClr val="595959"/>
                </a:solidFill>
                <a:latin typeface="Calibri" pitchFamily="34" charset="0"/>
                <a:ea typeface="Calibri" pitchFamily="34" charset="-122"/>
                <a:cs typeface="Calibri" pitchFamily="34" charset="-120"/>
              </a:rPr>
              <a:t>Message passing versus shared state — a working implementation and a conceptual analysis of two concurrency models.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OBJECTIVE &amp; AGENDA</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What we set out to do</a:t>
            </a:r>
            <a:endParaRPr lang="en-US" sz="2800" dirty="0"/>
          </a:p>
        </p:txBody>
      </p:sp>
      <p:sp>
        <p:nvSpPr>
          <p:cNvPr id="4" name="Text 2"/>
          <p:cNvSpPr/>
          <p:nvPr/>
        </p:nvSpPr>
        <p:spPr>
          <a:xfrm>
            <a:off x="640080" y="1417320"/>
            <a:ext cx="6309360" cy="822960"/>
          </a:xfrm>
          <a:prstGeom prst="rect">
            <a:avLst/>
          </a:prstGeom>
          <a:noFill/>
          <a:ln/>
        </p:spPr>
        <p:txBody>
          <a:bodyPr wrap="square" rtlCol="0" anchor="ctr"/>
          <a:lstStyle/>
          <a:p>
            <a:pPr marL="0" indent="0">
              <a:lnSpc>
                <a:spcPts val="2200"/>
              </a:lnSpc>
              <a:buNone/>
            </a:pPr>
            <a:r>
              <a:rPr lang="en-US" sz="1550" dirty="0">
                <a:solidFill>
                  <a:srgbClr val="595959"/>
                </a:solidFill>
                <a:latin typeface="Calibri" pitchFamily="34" charset="0"/>
                <a:ea typeface="Calibri" pitchFamily="34" charset="-122"/>
                <a:cs typeface="Calibri" pitchFamily="34" charset="-120"/>
              </a:rPr>
              <a:t>Study and compare two concurrency models so we understand the difference between message passing and shared-state concurrency.</a:t>
            </a:r>
            <a:endParaRPr lang="en-US" sz="1550" dirty="0"/>
          </a:p>
        </p:txBody>
      </p:sp>
      <p:pic>
        <p:nvPicPr>
          <p:cNvPr id="5" name="Image 0" descr="preencoded.png"/>
          <p:cNvPicPr>
            <a:picLocks noChangeAspect="1"/>
          </p:cNvPicPr>
          <p:nvPr/>
        </p:nvPicPr>
        <p:blipFill>
          <a:blip r:embed="rId3"/>
          <a:stretch>
            <a:fillRect/>
          </a:stretch>
        </p:blipFill>
        <p:spPr>
          <a:xfrm>
            <a:off x="658368" y="2560320"/>
            <a:ext cx="292608" cy="292608"/>
          </a:xfrm>
          <a:prstGeom prst="rect">
            <a:avLst/>
          </a:prstGeom>
        </p:spPr>
      </p:pic>
      <p:sp>
        <p:nvSpPr>
          <p:cNvPr id="6" name="Text 3"/>
          <p:cNvSpPr/>
          <p:nvPr/>
        </p:nvSpPr>
        <p:spPr>
          <a:xfrm>
            <a:off x="1143000" y="2468880"/>
            <a:ext cx="5669280" cy="329184"/>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Actor model</a:t>
            </a:r>
            <a:endParaRPr lang="en-US" sz="1600" dirty="0"/>
          </a:p>
        </p:txBody>
      </p:sp>
      <p:sp>
        <p:nvSpPr>
          <p:cNvPr id="7" name="Text 4"/>
          <p:cNvSpPr/>
          <p:nvPr/>
        </p:nvSpPr>
        <p:spPr>
          <a:xfrm>
            <a:off x="1143000" y="2798064"/>
            <a:ext cx="5852160" cy="329184"/>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A working, minimal implementation in Python.</a:t>
            </a:r>
            <a:endParaRPr lang="en-US" sz="1300" dirty="0"/>
          </a:p>
        </p:txBody>
      </p:sp>
      <p:pic>
        <p:nvPicPr>
          <p:cNvPr id="8" name="Image 1" descr="preencoded.png"/>
          <p:cNvPicPr>
            <a:picLocks noChangeAspect="1"/>
          </p:cNvPicPr>
          <p:nvPr/>
        </p:nvPicPr>
        <p:blipFill>
          <a:blip r:embed="rId4"/>
          <a:stretch>
            <a:fillRect/>
          </a:stretch>
        </p:blipFill>
        <p:spPr>
          <a:xfrm>
            <a:off x="658368" y="3429000"/>
            <a:ext cx="292608" cy="292608"/>
          </a:xfrm>
          <a:prstGeom prst="rect">
            <a:avLst/>
          </a:prstGeom>
        </p:spPr>
      </p:pic>
      <p:sp>
        <p:nvSpPr>
          <p:cNvPr id="9" name="Text 5"/>
          <p:cNvSpPr/>
          <p:nvPr/>
        </p:nvSpPr>
        <p:spPr>
          <a:xfrm>
            <a:off x="1143000" y="3337560"/>
            <a:ext cx="5669280" cy="329184"/>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Shared memory</a:t>
            </a:r>
            <a:endParaRPr lang="en-US" sz="1600" dirty="0"/>
          </a:p>
        </p:txBody>
      </p:sp>
      <p:sp>
        <p:nvSpPr>
          <p:cNvPr id="10" name="Text 6"/>
          <p:cNvSpPr/>
          <p:nvPr/>
        </p:nvSpPr>
        <p:spPr>
          <a:xfrm>
            <a:off x="1143000" y="3666744"/>
            <a:ext cx="5852160" cy="329184"/>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How shared-state threading works — conceptually.</a:t>
            </a:r>
            <a:endParaRPr lang="en-US" sz="1300" dirty="0"/>
          </a:p>
        </p:txBody>
      </p:sp>
      <p:pic>
        <p:nvPicPr>
          <p:cNvPr id="11" name="Image 2" descr="preencoded.png"/>
          <p:cNvPicPr>
            <a:picLocks noChangeAspect="1"/>
          </p:cNvPicPr>
          <p:nvPr/>
        </p:nvPicPr>
        <p:blipFill>
          <a:blip r:embed="rId5"/>
          <a:stretch>
            <a:fillRect/>
          </a:stretch>
        </p:blipFill>
        <p:spPr>
          <a:xfrm>
            <a:off x="658368" y="4297680"/>
            <a:ext cx="292608" cy="292608"/>
          </a:xfrm>
          <a:prstGeom prst="rect">
            <a:avLst/>
          </a:prstGeom>
        </p:spPr>
      </p:pic>
      <p:sp>
        <p:nvSpPr>
          <p:cNvPr id="12" name="Text 7"/>
          <p:cNvSpPr/>
          <p:nvPr/>
        </p:nvSpPr>
        <p:spPr>
          <a:xfrm>
            <a:off x="1143000" y="4206240"/>
            <a:ext cx="5669280" cy="329184"/>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The risks</a:t>
            </a:r>
            <a:endParaRPr lang="en-US" sz="1600" dirty="0"/>
          </a:p>
        </p:txBody>
      </p:sp>
      <p:sp>
        <p:nvSpPr>
          <p:cNvPr id="13" name="Text 8"/>
          <p:cNvSpPr/>
          <p:nvPr/>
        </p:nvSpPr>
        <p:spPr>
          <a:xfrm>
            <a:off x="1143000" y="4535424"/>
            <a:ext cx="5852160" cy="329184"/>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Race conditions, locks, deadlocks, inconsistency.</a:t>
            </a:r>
            <a:endParaRPr lang="en-US" sz="1300" dirty="0"/>
          </a:p>
        </p:txBody>
      </p:sp>
      <p:pic>
        <p:nvPicPr>
          <p:cNvPr id="14" name="Image 3" descr="preencoded.png"/>
          <p:cNvPicPr>
            <a:picLocks noChangeAspect="1"/>
          </p:cNvPicPr>
          <p:nvPr/>
        </p:nvPicPr>
        <p:blipFill>
          <a:blip r:embed="rId6"/>
          <a:stretch>
            <a:fillRect/>
          </a:stretch>
        </p:blipFill>
        <p:spPr>
          <a:xfrm>
            <a:off x="658368" y="5166360"/>
            <a:ext cx="292608" cy="292608"/>
          </a:xfrm>
          <a:prstGeom prst="rect">
            <a:avLst/>
          </a:prstGeom>
        </p:spPr>
      </p:pic>
      <p:sp>
        <p:nvSpPr>
          <p:cNvPr id="15" name="Text 9"/>
          <p:cNvSpPr/>
          <p:nvPr/>
        </p:nvSpPr>
        <p:spPr>
          <a:xfrm>
            <a:off x="1143000" y="5074920"/>
            <a:ext cx="5669280" cy="329184"/>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Comparison</a:t>
            </a:r>
            <a:endParaRPr lang="en-US" sz="1600" dirty="0"/>
          </a:p>
        </p:txBody>
      </p:sp>
      <p:sp>
        <p:nvSpPr>
          <p:cNvPr id="16" name="Text 10"/>
          <p:cNvSpPr/>
          <p:nvPr/>
        </p:nvSpPr>
        <p:spPr>
          <a:xfrm>
            <a:off x="1143000" y="5404104"/>
            <a:ext cx="5852160" cy="329184"/>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State, synchronisation, safety &amp; predictability.</a:t>
            </a:r>
            <a:endParaRPr lang="en-US" sz="1300" dirty="0"/>
          </a:p>
        </p:txBody>
      </p:sp>
      <p:sp>
        <p:nvSpPr>
          <p:cNvPr id="17" name="Shape 11"/>
          <p:cNvSpPr/>
          <p:nvPr/>
        </p:nvSpPr>
        <p:spPr>
          <a:xfrm>
            <a:off x="7315200" y="1463040"/>
            <a:ext cx="4233672" cy="4800600"/>
          </a:xfrm>
          <a:prstGeom prst="rect">
            <a:avLst/>
          </a:prstGeom>
          <a:solidFill>
            <a:srgbClr val="FFFFFF"/>
          </a:solidFill>
          <a:ln w="12700">
            <a:solidFill>
              <a:srgbClr val="D4D4D4"/>
            </a:solidFill>
            <a:prstDash val="solid"/>
          </a:ln>
        </p:spPr>
      </p:sp>
      <p:sp>
        <p:nvSpPr>
          <p:cNvPr id="18" name="Text 12"/>
          <p:cNvSpPr/>
          <p:nvPr/>
        </p:nvSpPr>
        <p:spPr>
          <a:xfrm>
            <a:off x="7589520" y="1664208"/>
            <a:ext cx="3685032" cy="274320"/>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TWO WORLDS</a:t>
            </a:r>
            <a:endParaRPr lang="en-US" sz="1150" dirty="0"/>
          </a:p>
        </p:txBody>
      </p:sp>
      <p:sp>
        <p:nvSpPr>
          <p:cNvPr id="19" name="Text 13"/>
          <p:cNvSpPr/>
          <p:nvPr/>
        </p:nvSpPr>
        <p:spPr>
          <a:xfrm>
            <a:off x="7589520" y="2057400"/>
            <a:ext cx="3685032" cy="320040"/>
          </a:xfrm>
          <a:prstGeom prst="rect">
            <a:avLst/>
          </a:prstGeom>
          <a:noFill/>
          <a:ln/>
        </p:spPr>
        <p:txBody>
          <a:bodyPr wrap="square" rtlCol="0" anchor="ctr"/>
          <a:lstStyle/>
          <a:p>
            <a:pPr marL="0" indent="0">
              <a:buNone/>
            </a:pPr>
            <a:r>
              <a:rPr lang="en-US" sz="1350" b="1" dirty="0">
                <a:solidFill>
                  <a:srgbClr val="262626"/>
                </a:solidFill>
                <a:latin typeface="Calibri" pitchFamily="34" charset="0"/>
                <a:ea typeface="Calibri" pitchFamily="34" charset="-122"/>
                <a:cs typeface="Calibri" pitchFamily="34" charset="-120"/>
              </a:rPr>
              <a:t>Actors talk by sending messages</a:t>
            </a:r>
            <a:endParaRPr lang="en-US" sz="1350" dirty="0"/>
          </a:p>
        </p:txBody>
      </p:sp>
      <p:sp>
        <p:nvSpPr>
          <p:cNvPr id="20" name="Shape 14"/>
          <p:cNvSpPr/>
          <p:nvPr/>
        </p:nvSpPr>
        <p:spPr>
          <a:xfrm>
            <a:off x="7635240" y="2514600"/>
            <a:ext cx="713232" cy="713232"/>
          </a:xfrm>
          <a:prstGeom prst="ellipse">
            <a:avLst/>
          </a:prstGeom>
          <a:solidFill>
            <a:srgbClr val="DCE6F1"/>
          </a:solidFill>
          <a:ln w="12700">
            <a:solidFill>
              <a:srgbClr val="1F4E79"/>
            </a:solidFill>
            <a:prstDash val="solid"/>
          </a:ln>
        </p:spPr>
      </p:sp>
      <p:sp>
        <p:nvSpPr>
          <p:cNvPr id="21" name="Text 15"/>
          <p:cNvSpPr/>
          <p:nvPr/>
        </p:nvSpPr>
        <p:spPr>
          <a:xfrm>
            <a:off x="7635240" y="2514600"/>
            <a:ext cx="713232" cy="713232"/>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A</a:t>
            </a:r>
            <a:endParaRPr lang="en-US" sz="1600" dirty="0"/>
          </a:p>
        </p:txBody>
      </p:sp>
      <p:sp>
        <p:nvSpPr>
          <p:cNvPr id="22" name="Shape 16"/>
          <p:cNvSpPr/>
          <p:nvPr/>
        </p:nvSpPr>
        <p:spPr>
          <a:xfrm>
            <a:off x="8366760" y="2871216"/>
            <a:ext cx="484632" cy="0"/>
          </a:xfrm>
          <a:prstGeom prst="line">
            <a:avLst/>
          </a:prstGeom>
          <a:noFill/>
          <a:ln w="19050">
            <a:solidFill>
              <a:srgbClr val="595959"/>
            </a:solidFill>
            <a:prstDash val="solid"/>
            <a:tailEnd type="triangle"/>
          </a:ln>
        </p:spPr>
      </p:sp>
      <p:sp>
        <p:nvSpPr>
          <p:cNvPr id="23" name="Shape 17"/>
          <p:cNvSpPr/>
          <p:nvPr/>
        </p:nvSpPr>
        <p:spPr>
          <a:xfrm>
            <a:off x="8869680" y="2514600"/>
            <a:ext cx="713232" cy="713232"/>
          </a:xfrm>
          <a:prstGeom prst="ellipse">
            <a:avLst/>
          </a:prstGeom>
          <a:solidFill>
            <a:srgbClr val="DCE6F1"/>
          </a:solidFill>
          <a:ln w="12700">
            <a:solidFill>
              <a:srgbClr val="1F4E79"/>
            </a:solidFill>
            <a:prstDash val="solid"/>
          </a:ln>
        </p:spPr>
      </p:sp>
      <p:sp>
        <p:nvSpPr>
          <p:cNvPr id="24" name="Text 18"/>
          <p:cNvSpPr/>
          <p:nvPr/>
        </p:nvSpPr>
        <p:spPr>
          <a:xfrm>
            <a:off x="8869680" y="2514600"/>
            <a:ext cx="713232" cy="713232"/>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B</a:t>
            </a:r>
            <a:endParaRPr lang="en-US" sz="1600" dirty="0"/>
          </a:p>
        </p:txBody>
      </p:sp>
      <p:sp>
        <p:nvSpPr>
          <p:cNvPr id="25" name="Shape 19"/>
          <p:cNvSpPr/>
          <p:nvPr/>
        </p:nvSpPr>
        <p:spPr>
          <a:xfrm>
            <a:off x="9601200" y="2871216"/>
            <a:ext cx="484632" cy="0"/>
          </a:xfrm>
          <a:prstGeom prst="line">
            <a:avLst/>
          </a:prstGeom>
          <a:noFill/>
          <a:ln w="19050">
            <a:solidFill>
              <a:srgbClr val="595959"/>
            </a:solidFill>
            <a:prstDash val="solid"/>
            <a:tailEnd type="triangle"/>
          </a:ln>
        </p:spPr>
      </p:sp>
      <p:sp>
        <p:nvSpPr>
          <p:cNvPr id="26" name="Shape 20"/>
          <p:cNvSpPr/>
          <p:nvPr/>
        </p:nvSpPr>
        <p:spPr>
          <a:xfrm>
            <a:off x="10104120" y="2514600"/>
            <a:ext cx="713232" cy="713232"/>
          </a:xfrm>
          <a:prstGeom prst="ellipse">
            <a:avLst/>
          </a:prstGeom>
          <a:solidFill>
            <a:srgbClr val="DCE6F1"/>
          </a:solidFill>
          <a:ln w="12700">
            <a:solidFill>
              <a:srgbClr val="1F4E79"/>
            </a:solidFill>
            <a:prstDash val="solid"/>
          </a:ln>
        </p:spPr>
      </p:sp>
      <p:sp>
        <p:nvSpPr>
          <p:cNvPr id="27" name="Text 21"/>
          <p:cNvSpPr/>
          <p:nvPr/>
        </p:nvSpPr>
        <p:spPr>
          <a:xfrm>
            <a:off x="10104120" y="2514600"/>
            <a:ext cx="713232" cy="713232"/>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C</a:t>
            </a:r>
            <a:endParaRPr lang="en-US" sz="1600" dirty="0"/>
          </a:p>
        </p:txBody>
      </p:sp>
      <p:sp>
        <p:nvSpPr>
          <p:cNvPr id="28" name="Text 22"/>
          <p:cNvSpPr/>
          <p:nvPr/>
        </p:nvSpPr>
        <p:spPr>
          <a:xfrm>
            <a:off x="7589520" y="3703320"/>
            <a:ext cx="3685032" cy="320040"/>
          </a:xfrm>
          <a:prstGeom prst="rect">
            <a:avLst/>
          </a:prstGeom>
          <a:noFill/>
          <a:ln/>
        </p:spPr>
        <p:txBody>
          <a:bodyPr wrap="square" rtlCol="0" anchor="ctr"/>
          <a:lstStyle/>
          <a:p>
            <a:pPr marL="0" indent="0">
              <a:buNone/>
            </a:pPr>
            <a:r>
              <a:rPr lang="en-US" sz="1350" b="1" dirty="0">
                <a:solidFill>
                  <a:srgbClr val="262626"/>
                </a:solidFill>
                <a:latin typeface="Calibri" pitchFamily="34" charset="0"/>
                <a:ea typeface="Calibri" pitchFamily="34" charset="-122"/>
                <a:cs typeface="Calibri" pitchFamily="34" charset="-120"/>
              </a:rPr>
              <a:t>Threads share one pool of memory</a:t>
            </a:r>
            <a:endParaRPr lang="en-US" sz="1350" dirty="0"/>
          </a:p>
        </p:txBody>
      </p:sp>
      <p:sp>
        <p:nvSpPr>
          <p:cNvPr id="29" name="Shape 23"/>
          <p:cNvSpPr/>
          <p:nvPr/>
        </p:nvSpPr>
        <p:spPr>
          <a:xfrm>
            <a:off x="8732520" y="4251960"/>
            <a:ext cx="1417320" cy="658368"/>
          </a:xfrm>
          <a:prstGeom prst="rect">
            <a:avLst/>
          </a:prstGeom>
          <a:solidFill>
            <a:srgbClr val="F3E4E2"/>
          </a:solidFill>
          <a:ln w="12700">
            <a:solidFill>
              <a:srgbClr val="A6342E"/>
            </a:solidFill>
            <a:prstDash val="solid"/>
          </a:ln>
        </p:spPr>
      </p:sp>
      <p:sp>
        <p:nvSpPr>
          <p:cNvPr id="30" name="Text 24"/>
          <p:cNvSpPr/>
          <p:nvPr/>
        </p:nvSpPr>
        <p:spPr>
          <a:xfrm>
            <a:off x="8732520" y="4251960"/>
            <a:ext cx="1417320" cy="658368"/>
          </a:xfrm>
          <a:prstGeom prst="rect">
            <a:avLst/>
          </a:prstGeom>
          <a:noFill/>
          <a:ln/>
        </p:spPr>
        <p:txBody>
          <a:bodyPr wrap="square" rtlCol="0" anchor="ctr"/>
          <a:lstStyle/>
          <a:p>
            <a:pPr marL="0" indent="0" algn="ctr">
              <a:lnSpc>
                <a:spcPts val="1200"/>
              </a:lnSpc>
              <a:buNone/>
            </a:pPr>
            <a:r>
              <a:rPr lang="en-US" sz="1050" b="1" dirty="0">
                <a:solidFill>
                  <a:srgbClr val="262626"/>
                </a:solidFill>
                <a:latin typeface="Calibri" pitchFamily="34" charset="0"/>
                <a:ea typeface="Calibri" pitchFamily="34" charset="-122"/>
                <a:cs typeface="Calibri" pitchFamily="34" charset="-120"/>
              </a:rPr>
              <a:t>shared</a:t>
            </a:r>
            <a:endParaRPr lang="en-US" sz="1050" dirty="0"/>
          </a:p>
          <a:p>
            <a:pPr marL="0" indent="0" algn="ctr">
              <a:lnSpc>
                <a:spcPts val="1200"/>
              </a:lnSpc>
              <a:buNone/>
            </a:pPr>
            <a:r>
              <a:rPr lang="en-US" sz="1050" b="1" dirty="0">
                <a:solidFill>
                  <a:srgbClr val="262626"/>
                </a:solidFill>
                <a:latin typeface="Calibri" pitchFamily="34" charset="0"/>
                <a:ea typeface="Calibri" pitchFamily="34" charset="-122"/>
                <a:cs typeface="Calibri" pitchFamily="34" charset="-120"/>
              </a:rPr>
              <a:t>memory</a:t>
            </a:r>
            <a:endParaRPr lang="en-US" sz="1050" dirty="0"/>
          </a:p>
        </p:txBody>
      </p:sp>
      <p:sp>
        <p:nvSpPr>
          <p:cNvPr id="31" name="Shape 25"/>
          <p:cNvSpPr/>
          <p:nvPr/>
        </p:nvSpPr>
        <p:spPr>
          <a:xfrm>
            <a:off x="7635240" y="4279392"/>
            <a:ext cx="603504" cy="603504"/>
          </a:xfrm>
          <a:prstGeom prst="ellipse">
            <a:avLst/>
          </a:prstGeom>
          <a:solidFill>
            <a:srgbClr val="FFFFFF"/>
          </a:solidFill>
          <a:ln w="12700">
            <a:solidFill>
              <a:srgbClr val="595959"/>
            </a:solidFill>
            <a:prstDash val="solid"/>
          </a:ln>
        </p:spPr>
      </p:sp>
      <p:sp>
        <p:nvSpPr>
          <p:cNvPr id="32" name="Text 26"/>
          <p:cNvSpPr/>
          <p:nvPr/>
        </p:nvSpPr>
        <p:spPr>
          <a:xfrm>
            <a:off x="7635240" y="4279392"/>
            <a:ext cx="603504" cy="603504"/>
          </a:xfrm>
          <a:prstGeom prst="rect">
            <a:avLst/>
          </a:prstGeom>
          <a:noFill/>
          <a:ln/>
        </p:spPr>
        <p:txBody>
          <a:bodyPr wrap="square"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T1</a:t>
            </a:r>
            <a:endParaRPr lang="en-US" sz="1200" dirty="0"/>
          </a:p>
        </p:txBody>
      </p:sp>
      <p:sp>
        <p:nvSpPr>
          <p:cNvPr id="33" name="Shape 27"/>
          <p:cNvSpPr/>
          <p:nvPr/>
        </p:nvSpPr>
        <p:spPr>
          <a:xfrm>
            <a:off x="10378440" y="4279392"/>
            <a:ext cx="603504" cy="603504"/>
          </a:xfrm>
          <a:prstGeom prst="ellipse">
            <a:avLst/>
          </a:prstGeom>
          <a:solidFill>
            <a:srgbClr val="FFFFFF"/>
          </a:solidFill>
          <a:ln w="12700">
            <a:solidFill>
              <a:srgbClr val="595959"/>
            </a:solidFill>
            <a:prstDash val="solid"/>
          </a:ln>
        </p:spPr>
      </p:sp>
      <p:sp>
        <p:nvSpPr>
          <p:cNvPr id="34" name="Text 28"/>
          <p:cNvSpPr/>
          <p:nvPr/>
        </p:nvSpPr>
        <p:spPr>
          <a:xfrm>
            <a:off x="10378440" y="4279392"/>
            <a:ext cx="603504" cy="603504"/>
          </a:xfrm>
          <a:prstGeom prst="rect">
            <a:avLst/>
          </a:prstGeom>
          <a:noFill/>
          <a:ln/>
        </p:spPr>
        <p:txBody>
          <a:bodyPr wrap="square"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T2</a:t>
            </a:r>
            <a:endParaRPr lang="en-US" sz="1200" dirty="0"/>
          </a:p>
        </p:txBody>
      </p:sp>
      <p:sp>
        <p:nvSpPr>
          <p:cNvPr id="35" name="Text 29"/>
          <p:cNvSpPr/>
          <p:nvPr/>
        </p:nvSpPr>
        <p:spPr>
          <a:xfrm>
            <a:off x="8229600" y="4279392"/>
            <a:ext cx="502920" cy="603504"/>
          </a:xfrm>
          <a:prstGeom prst="rect">
            <a:avLst/>
          </a:prstGeom>
          <a:noFill/>
          <a:ln/>
        </p:spPr>
        <p:txBody>
          <a:bodyPr wrap="square" rtlCol="0" anchor="ctr"/>
          <a:lstStyle/>
          <a:p>
            <a:pPr marL="0" indent="0" algn="ctr">
              <a:buNone/>
            </a:pPr>
            <a:r>
              <a:rPr lang="en-US" sz="1500" dirty="0">
                <a:solidFill>
                  <a:srgbClr val="595959"/>
                </a:solidFill>
              </a:rPr>
              <a:t>↔</a:t>
            </a:r>
            <a:endParaRPr lang="en-US" sz="1500" dirty="0"/>
          </a:p>
        </p:txBody>
      </p:sp>
      <p:sp>
        <p:nvSpPr>
          <p:cNvPr id="36" name="Text 30"/>
          <p:cNvSpPr/>
          <p:nvPr/>
        </p:nvSpPr>
        <p:spPr>
          <a:xfrm>
            <a:off x="10131552" y="4279392"/>
            <a:ext cx="502920" cy="603504"/>
          </a:xfrm>
          <a:prstGeom prst="rect">
            <a:avLst/>
          </a:prstGeom>
          <a:noFill/>
          <a:ln/>
        </p:spPr>
        <p:txBody>
          <a:bodyPr wrap="square" rtlCol="0" anchor="ctr"/>
          <a:lstStyle/>
          <a:p>
            <a:pPr marL="0" indent="0" algn="ctr">
              <a:buNone/>
            </a:pPr>
            <a:r>
              <a:rPr lang="en-US" sz="1500" dirty="0">
                <a:solidFill>
                  <a:srgbClr val="595959"/>
                </a:solidFill>
              </a:rPr>
              <a:t>↔</a:t>
            </a:r>
            <a:endParaRPr lang="en-US" sz="1500" dirty="0"/>
          </a:p>
        </p:txBody>
      </p:sp>
      <p:sp>
        <p:nvSpPr>
          <p:cNvPr id="37" name="Text 31"/>
          <p:cNvSpPr/>
          <p:nvPr/>
        </p:nvSpPr>
        <p:spPr>
          <a:xfrm>
            <a:off x="7589520" y="5212080"/>
            <a:ext cx="3685032" cy="365760"/>
          </a:xfrm>
          <a:prstGeom prst="rect">
            <a:avLst/>
          </a:prstGeom>
          <a:noFill/>
          <a:ln/>
        </p:spPr>
        <p:txBody>
          <a:bodyPr wrap="square" rtlCol="0" anchor="ctr"/>
          <a:lstStyle/>
          <a:p>
            <a:pPr marL="0" indent="0">
              <a:buNone/>
            </a:pPr>
            <a:r>
              <a:rPr lang="en-US" sz="1150" i="1" dirty="0">
                <a:solidFill>
                  <a:srgbClr val="595959"/>
                </a:solidFill>
                <a:latin typeface="Calibri" pitchFamily="34" charset="0"/>
                <a:ea typeface="Calibri" pitchFamily="34" charset="-122"/>
                <a:cs typeface="Calibri" pitchFamily="34" charset="-120"/>
              </a:rPr>
              <a:t>Same data, at the same time → needs locks.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SETTING THE SCENE</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Two answers to one hard problem</a:t>
            </a:r>
            <a:endParaRPr lang="en-US" sz="2800" dirty="0"/>
          </a:p>
        </p:txBody>
      </p:sp>
      <p:sp>
        <p:nvSpPr>
          <p:cNvPr id="4" name="Text 2"/>
          <p:cNvSpPr/>
          <p:nvPr/>
        </p:nvSpPr>
        <p:spPr>
          <a:xfrm>
            <a:off x="640080" y="1417320"/>
            <a:ext cx="10908792" cy="548640"/>
          </a:xfrm>
          <a:prstGeom prst="rect">
            <a:avLst/>
          </a:prstGeom>
          <a:noFill/>
          <a:ln/>
        </p:spPr>
        <p:txBody>
          <a:bodyPr wrap="square" rtlCol="0" anchor="ctr"/>
          <a:lstStyle/>
          <a:p>
            <a:pPr marL="0" indent="0">
              <a:lnSpc>
                <a:spcPts val="2200"/>
              </a:lnSpc>
              <a:buNone/>
            </a:pPr>
            <a:r>
              <a:rPr lang="en-US" sz="1550" dirty="0">
                <a:solidFill>
                  <a:srgbClr val="595959"/>
                </a:solidFill>
                <a:latin typeface="Calibri" pitchFamily="34" charset="0"/>
                <a:ea typeface="Calibri" pitchFamily="34" charset="-122"/>
                <a:cs typeface="Calibri" pitchFamily="34" charset="-120"/>
              </a:rPr>
              <a:t>Concurrency = many things making progress at once. The hard question is always: how do independent tasks coordinate and share information safely?</a:t>
            </a:r>
            <a:endParaRPr lang="en-US" sz="1550" dirty="0"/>
          </a:p>
        </p:txBody>
      </p:sp>
      <p:sp>
        <p:nvSpPr>
          <p:cNvPr id="5" name="Shape 3"/>
          <p:cNvSpPr/>
          <p:nvPr/>
        </p:nvSpPr>
        <p:spPr>
          <a:xfrm>
            <a:off x="640080" y="2240280"/>
            <a:ext cx="5271516" cy="3840480"/>
          </a:xfrm>
          <a:prstGeom prst="rect">
            <a:avLst/>
          </a:prstGeom>
          <a:solidFill>
            <a:srgbClr val="FFFFFF"/>
          </a:solidFill>
          <a:ln w="12700">
            <a:solidFill>
              <a:srgbClr val="D4D4D4"/>
            </a:solidFill>
            <a:prstDash val="solid"/>
          </a:ln>
        </p:spPr>
      </p:sp>
      <p:pic>
        <p:nvPicPr>
          <p:cNvPr id="6" name="Image 0" descr="preencoded.png"/>
          <p:cNvPicPr>
            <a:picLocks noChangeAspect="1"/>
          </p:cNvPicPr>
          <p:nvPr/>
        </p:nvPicPr>
        <p:blipFill>
          <a:blip r:embed="rId3"/>
          <a:stretch>
            <a:fillRect/>
          </a:stretch>
        </p:blipFill>
        <p:spPr>
          <a:xfrm>
            <a:off x="960120" y="2542032"/>
            <a:ext cx="310896" cy="310896"/>
          </a:xfrm>
          <a:prstGeom prst="rect">
            <a:avLst/>
          </a:prstGeom>
        </p:spPr>
      </p:pic>
      <p:sp>
        <p:nvSpPr>
          <p:cNvPr id="7" name="Text 4"/>
          <p:cNvSpPr/>
          <p:nvPr/>
        </p:nvSpPr>
        <p:spPr>
          <a:xfrm>
            <a:off x="1417320" y="2487168"/>
            <a:ext cx="4265676" cy="457200"/>
          </a:xfrm>
          <a:prstGeom prst="rect">
            <a:avLst/>
          </a:prstGeom>
          <a:noFill/>
          <a:ln/>
        </p:spPr>
        <p:txBody>
          <a:bodyPr wrap="square"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Shared-state concurrency</a:t>
            </a:r>
            <a:endParaRPr lang="en-US" sz="1700" dirty="0"/>
          </a:p>
        </p:txBody>
      </p:sp>
      <p:sp>
        <p:nvSpPr>
          <p:cNvPr id="8" name="Text 5"/>
          <p:cNvSpPr/>
          <p:nvPr/>
        </p:nvSpPr>
        <p:spPr>
          <a:xfrm>
            <a:off x="1097280" y="3291840"/>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Tasks share the same memory.</a:t>
            </a:r>
            <a:endParaRPr lang="en-US" sz="1400" dirty="0"/>
          </a:p>
        </p:txBody>
      </p:sp>
      <p:sp>
        <p:nvSpPr>
          <p:cNvPr id="9" name="Text 6"/>
          <p:cNvSpPr/>
          <p:nvPr/>
        </p:nvSpPr>
        <p:spPr>
          <a:xfrm>
            <a:off x="1097280" y="3858768"/>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Anyone can read or write it.</a:t>
            </a:r>
            <a:endParaRPr lang="en-US" sz="1400" dirty="0"/>
          </a:p>
        </p:txBody>
      </p:sp>
      <p:sp>
        <p:nvSpPr>
          <p:cNvPr id="10" name="Text 7"/>
          <p:cNvSpPr/>
          <p:nvPr/>
        </p:nvSpPr>
        <p:spPr>
          <a:xfrm>
            <a:off x="1097280" y="4425696"/>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You must add locks so they take turns.</a:t>
            </a:r>
            <a:endParaRPr lang="en-US" sz="1400" dirty="0"/>
          </a:p>
        </p:txBody>
      </p:sp>
      <p:sp>
        <p:nvSpPr>
          <p:cNvPr id="11" name="Text 8"/>
          <p:cNvSpPr/>
          <p:nvPr/>
        </p:nvSpPr>
        <p:spPr>
          <a:xfrm>
            <a:off x="1097280" y="4992624"/>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Fast, but easy to get subtly wrong.</a:t>
            </a:r>
            <a:endParaRPr lang="en-US" sz="1400" dirty="0"/>
          </a:p>
        </p:txBody>
      </p:sp>
      <p:sp>
        <p:nvSpPr>
          <p:cNvPr id="12" name="Shape 9"/>
          <p:cNvSpPr/>
          <p:nvPr/>
        </p:nvSpPr>
        <p:spPr>
          <a:xfrm>
            <a:off x="6277356" y="2240280"/>
            <a:ext cx="5271516" cy="3840480"/>
          </a:xfrm>
          <a:prstGeom prst="rect">
            <a:avLst/>
          </a:prstGeom>
          <a:solidFill>
            <a:srgbClr val="FFFFFF"/>
          </a:solidFill>
          <a:ln w="12700">
            <a:solidFill>
              <a:srgbClr val="D4D4D4"/>
            </a:solidFill>
            <a:prstDash val="solid"/>
          </a:ln>
        </p:spPr>
      </p:sp>
      <p:pic>
        <p:nvPicPr>
          <p:cNvPr id="13" name="Image 1" descr="preencoded.png"/>
          <p:cNvPicPr>
            <a:picLocks noChangeAspect="1"/>
          </p:cNvPicPr>
          <p:nvPr/>
        </p:nvPicPr>
        <p:blipFill>
          <a:blip r:embed="rId4"/>
          <a:stretch>
            <a:fillRect/>
          </a:stretch>
        </p:blipFill>
        <p:spPr>
          <a:xfrm>
            <a:off x="6597396" y="2542032"/>
            <a:ext cx="310896" cy="310896"/>
          </a:xfrm>
          <a:prstGeom prst="rect">
            <a:avLst/>
          </a:prstGeom>
        </p:spPr>
      </p:pic>
      <p:sp>
        <p:nvSpPr>
          <p:cNvPr id="14" name="Text 10"/>
          <p:cNvSpPr/>
          <p:nvPr/>
        </p:nvSpPr>
        <p:spPr>
          <a:xfrm>
            <a:off x="7054596" y="2487168"/>
            <a:ext cx="4265676" cy="457200"/>
          </a:xfrm>
          <a:prstGeom prst="rect">
            <a:avLst/>
          </a:prstGeom>
          <a:noFill/>
          <a:ln/>
        </p:spPr>
        <p:txBody>
          <a:bodyPr wrap="square"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Message-passing concurrency</a:t>
            </a:r>
            <a:endParaRPr lang="en-US" sz="1700" dirty="0"/>
          </a:p>
        </p:txBody>
      </p:sp>
      <p:sp>
        <p:nvSpPr>
          <p:cNvPr id="15" name="Text 11"/>
          <p:cNvSpPr/>
          <p:nvPr/>
        </p:nvSpPr>
        <p:spPr>
          <a:xfrm>
            <a:off x="6734556" y="3291840"/>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Tasks keep their own private state.</a:t>
            </a:r>
            <a:endParaRPr lang="en-US" sz="1400" dirty="0"/>
          </a:p>
        </p:txBody>
      </p:sp>
      <p:sp>
        <p:nvSpPr>
          <p:cNvPr id="16" name="Text 12"/>
          <p:cNvSpPr/>
          <p:nvPr/>
        </p:nvSpPr>
        <p:spPr>
          <a:xfrm>
            <a:off x="6734556" y="3858768"/>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They never touch each other's data.</a:t>
            </a:r>
            <a:endParaRPr lang="en-US" sz="1400" dirty="0"/>
          </a:p>
        </p:txBody>
      </p:sp>
      <p:sp>
        <p:nvSpPr>
          <p:cNvPr id="17" name="Text 13"/>
          <p:cNvSpPr/>
          <p:nvPr/>
        </p:nvSpPr>
        <p:spPr>
          <a:xfrm>
            <a:off x="6734556" y="4425696"/>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They communicate only by sending messages.</a:t>
            </a:r>
            <a:endParaRPr lang="en-US" sz="1400" dirty="0"/>
          </a:p>
        </p:txBody>
      </p:sp>
      <p:sp>
        <p:nvSpPr>
          <p:cNvPr id="18" name="Text 14"/>
          <p:cNvSpPr/>
          <p:nvPr/>
        </p:nvSpPr>
        <p:spPr>
          <a:xfrm>
            <a:off x="6734556" y="4992624"/>
            <a:ext cx="4448556" cy="457200"/>
          </a:xfrm>
          <a:prstGeom prst="rect">
            <a:avLst/>
          </a:prstGeom>
          <a:noFill/>
          <a:ln/>
        </p:spPr>
        <p:txBody>
          <a:bodyPr wrap="square" rtlCol="0" anchor="ctr"/>
          <a:lstStyle/>
          <a:p>
            <a:pPr marL="177800" indent="-177800">
              <a:buSzPct val="100000"/>
              <a:buChar char="•"/>
            </a:pPr>
            <a:r>
              <a:rPr lang="en-US" sz="1400" dirty="0">
                <a:solidFill>
                  <a:srgbClr val="262626"/>
                </a:solidFill>
                <a:latin typeface="Calibri" pitchFamily="34" charset="0"/>
                <a:ea typeface="Calibri" pitchFamily="34" charset="-122"/>
                <a:cs typeface="Calibri" pitchFamily="34" charset="-120"/>
              </a:rPr>
              <a:t>Safer by design — no locks needed.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a:effectLst/>
      </p:bgPr>
    </p:bg>
    <p:spTree>
      <p:nvGrpSpPr>
        <p:cNvPr id="1" name=""/>
        <p:cNvGrpSpPr/>
        <p:nvPr/>
      </p:nvGrpSpPr>
      <p:grpSpPr>
        <a:xfrm>
          <a:off x="0" y="0"/>
          <a:ext cx="0" cy="0"/>
          <a:chOff x="0" y="0"/>
          <a:chExt cx="0" cy="0"/>
        </a:xfrm>
      </p:grpSpPr>
      <p:sp>
        <p:nvSpPr>
          <p:cNvPr id="2" name="Text 0"/>
          <p:cNvSpPr/>
          <p:nvPr/>
        </p:nvSpPr>
        <p:spPr>
          <a:xfrm>
            <a:off x="640080" y="2331720"/>
            <a:ext cx="10908792" cy="320040"/>
          </a:xfrm>
          <a:prstGeom prst="rect">
            <a:avLst/>
          </a:prstGeom>
          <a:noFill/>
          <a:ln/>
        </p:spPr>
        <p:txBody>
          <a:bodyPr wrap="square" rtlCol="0" anchor="ctr"/>
          <a:lstStyle/>
          <a:p>
            <a:pPr marL="0" indent="0">
              <a:buNone/>
            </a:pPr>
            <a:r>
              <a:rPr lang="en-US" sz="1300" b="1" kern="0" spc="150" dirty="0">
                <a:solidFill>
                  <a:srgbClr val="1F4E79"/>
                </a:solidFill>
                <a:latin typeface="Calibri" pitchFamily="34" charset="0"/>
                <a:ea typeface="Calibri" pitchFamily="34" charset="-122"/>
                <a:cs typeface="Calibri" pitchFamily="34" charset="-120"/>
              </a:rPr>
              <a:t>PART 1  ·  IMPLEMENTED</a:t>
            </a:r>
            <a:endParaRPr lang="en-US" sz="1300" dirty="0"/>
          </a:p>
        </p:txBody>
      </p:sp>
      <p:sp>
        <p:nvSpPr>
          <p:cNvPr id="3" name="Shape 1"/>
          <p:cNvSpPr/>
          <p:nvPr/>
        </p:nvSpPr>
        <p:spPr>
          <a:xfrm>
            <a:off x="640080" y="2743200"/>
            <a:ext cx="3291840" cy="0"/>
          </a:xfrm>
          <a:prstGeom prst="line">
            <a:avLst/>
          </a:prstGeom>
          <a:noFill/>
          <a:ln w="12700">
            <a:solidFill>
              <a:srgbClr val="D4D4D4"/>
            </a:solidFill>
            <a:prstDash val="solid"/>
          </a:ln>
        </p:spPr>
      </p:sp>
      <p:sp>
        <p:nvSpPr>
          <p:cNvPr id="4" name="Text 2"/>
          <p:cNvSpPr/>
          <p:nvPr/>
        </p:nvSpPr>
        <p:spPr>
          <a:xfrm>
            <a:off x="640080" y="2880360"/>
            <a:ext cx="9601200" cy="822960"/>
          </a:xfrm>
          <a:prstGeom prst="rect">
            <a:avLst/>
          </a:prstGeom>
          <a:noFill/>
          <a:ln/>
        </p:spPr>
        <p:txBody>
          <a:bodyPr wrap="square" rtlCol="0" anchor="ctr"/>
          <a:lstStyle/>
          <a:p>
            <a:pPr marL="0" indent="0">
              <a:buNone/>
            </a:pPr>
            <a:r>
              <a:rPr lang="en-US" sz="3600" b="1" dirty="0">
                <a:solidFill>
                  <a:srgbClr val="262626"/>
                </a:solidFill>
                <a:latin typeface="Calibri" pitchFamily="34" charset="0"/>
                <a:ea typeface="Calibri" pitchFamily="34" charset="-122"/>
                <a:cs typeface="Calibri" pitchFamily="34" charset="-120"/>
              </a:rPr>
              <a:t>The Actor Model</a:t>
            </a:r>
            <a:endParaRPr lang="en-US" sz="3600" dirty="0"/>
          </a:p>
        </p:txBody>
      </p:sp>
      <p:sp>
        <p:nvSpPr>
          <p:cNvPr id="5" name="Text 3"/>
          <p:cNvSpPr/>
          <p:nvPr/>
        </p:nvSpPr>
        <p:spPr>
          <a:xfrm>
            <a:off x="640080" y="3840480"/>
            <a:ext cx="8229600" cy="822960"/>
          </a:xfrm>
          <a:prstGeom prst="rect">
            <a:avLst/>
          </a:prstGeom>
          <a:noFill/>
          <a:ln/>
        </p:spPr>
        <p:txBody>
          <a:bodyPr wrap="square" rtlCol="0" anchor="ctr"/>
          <a:lstStyle/>
          <a:p>
            <a:pPr marL="0" indent="0">
              <a:lnSpc>
                <a:spcPts val="2300"/>
              </a:lnSpc>
              <a:buNone/>
            </a:pPr>
            <a:r>
              <a:rPr lang="en-US" sz="1600" dirty="0">
                <a:solidFill>
                  <a:srgbClr val="595959"/>
                </a:solidFill>
                <a:latin typeface="Calibri" pitchFamily="34" charset="0"/>
                <a:ea typeface="Calibri" pitchFamily="34" charset="-122"/>
                <a:cs typeface="Calibri" pitchFamily="34" charset="-120"/>
              </a:rPr>
              <a:t>Independent actors, each with a private mailbox, communicating only through messages — built with Python's standard library.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1 · CONCEPT</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What is an actor?</a:t>
            </a:r>
            <a:endParaRPr lang="en-US" sz="2800" dirty="0"/>
          </a:p>
        </p:txBody>
      </p:sp>
      <p:sp>
        <p:nvSpPr>
          <p:cNvPr id="4" name="Text 2"/>
          <p:cNvSpPr/>
          <p:nvPr/>
        </p:nvSpPr>
        <p:spPr>
          <a:xfrm>
            <a:off x="640080" y="1417320"/>
            <a:ext cx="10908792" cy="457200"/>
          </a:xfrm>
          <a:prstGeom prst="rect">
            <a:avLst/>
          </a:prstGeom>
          <a:noFill/>
          <a:ln/>
        </p:spPr>
        <p:txBody>
          <a:bodyPr wrap="square" rtlCol="0" anchor="ctr"/>
          <a:lstStyle/>
          <a:p>
            <a:pPr marL="0" indent="0">
              <a:lnSpc>
                <a:spcPts val="2200"/>
              </a:lnSpc>
              <a:buNone/>
            </a:pPr>
            <a:r>
              <a:rPr lang="en-US" sz="1550" dirty="0">
                <a:solidFill>
                  <a:srgbClr val="595959"/>
                </a:solidFill>
                <a:latin typeface="Calibri" pitchFamily="34" charset="0"/>
                <a:ea typeface="Calibri" pitchFamily="34" charset="-122"/>
                <a:cs typeface="Calibri" pitchFamily="34" charset="-120"/>
              </a:rPr>
              <a:t>An actor is a self-contained unit of computation. It is the smallest building block of the model, and it follows a few strict rules.</a:t>
            </a:r>
            <a:endParaRPr lang="en-US" sz="1550" dirty="0"/>
          </a:p>
        </p:txBody>
      </p:sp>
      <p:sp>
        <p:nvSpPr>
          <p:cNvPr id="5" name="Shape 3"/>
          <p:cNvSpPr/>
          <p:nvPr/>
        </p:nvSpPr>
        <p:spPr>
          <a:xfrm>
            <a:off x="640080" y="2286000"/>
            <a:ext cx="5271516" cy="1691640"/>
          </a:xfrm>
          <a:prstGeom prst="rect">
            <a:avLst/>
          </a:prstGeom>
          <a:solidFill>
            <a:srgbClr val="FFFFFF"/>
          </a:solidFill>
          <a:ln w="12700">
            <a:solidFill>
              <a:srgbClr val="D4D4D4"/>
            </a:solidFill>
            <a:prstDash val="solid"/>
          </a:ln>
        </p:spPr>
      </p:sp>
      <p:pic>
        <p:nvPicPr>
          <p:cNvPr id="6" name="Image 0" descr="preencoded.png"/>
          <p:cNvPicPr>
            <a:picLocks noChangeAspect="1"/>
          </p:cNvPicPr>
          <p:nvPr/>
        </p:nvPicPr>
        <p:blipFill>
          <a:blip r:embed="rId3"/>
          <a:stretch>
            <a:fillRect/>
          </a:stretch>
        </p:blipFill>
        <p:spPr>
          <a:xfrm>
            <a:off x="960120" y="2606040"/>
            <a:ext cx="329184" cy="329184"/>
          </a:xfrm>
          <a:prstGeom prst="rect">
            <a:avLst/>
          </a:prstGeom>
        </p:spPr>
      </p:pic>
      <p:sp>
        <p:nvSpPr>
          <p:cNvPr id="7" name="Text 4"/>
          <p:cNvSpPr/>
          <p:nvPr/>
        </p:nvSpPr>
        <p:spPr>
          <a:xfrm>
            <a:off x="1463040" y="2578608"/>
            <a:ext cx="4174236" cy="411480"/>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Owns a private mailbox</a:t>
            </a:r>
            <a:endParaRPr lang="en-US" sz="1600" dirty="0"/>
          </a:p>
        </p:txBody>
      </p:sp>
      <p:sp>
        <p:nvSpPr>
          <p:cNvPr id="8" name="Text 5"/>
          <p:cNvSpPr/>
          <p:nvPr/>
        </p:nvSpPr>
        <p:spPr>
          <a:xfrm>
            <a:off x="1463040" y="3017520"/>
            <a:ext cx="4128516" cy="822960"/>
          </a:xfrm>
          <a:prstGeom prst="rect">
            <a:avLst/>
          </a:prstGeom>
          <a:noFill/>
          <a:ln/>
        </p:spPr>
        <p:txBody>
          <a:bodyPr wrap="square" rtlCol="0" anchor="ctr"/>
          <a:lstStyle/>
          <a:p>
            <a:pPr marL="0" indent="0">
              <a:lnSpc>
                <a:spcPts val="1600"/>
              </a:lnSpc>
              <a:buNone/>
            </a:pPr>
            <a:r>
              <a:rPr lang="en-US" sz="1250" dirty="0">
                <a:solidFill>
                  <a:srgbClr val="595959"/>
                </a:solidFill>
                <a:latin typeface="Calibri" pitchFamily="34" charset="0"/>
                <a:ea typeface="Calibri" pitchFamily="34" charset="-122"/>
                <a:cs typeface="Calibri" pitchFamily="34" charset="-120"/>
              </a:rPr>
              <a:t>Every actor has its own message queue. Messages wait there until the actor is ready.</a:t>
            </a:r>
            <a:endParaRPr lang="en-US" sz="1250" dirty="0"/>
          </a:p>
        </p:txBody>
      </p:sp>
      <p:sp>
        <p:nvSpPr>
          <p:cNvPr id="9" name="Shape 6"/>
          <p:cNvSpPr/>
          <p:nvPr/>
        </p:nvSpPr>
        <p:spPr>
          <a:xfrm>
            <a:off x="6277356" y="2286000"/>
            <a:ext cx="5271516" cy="1691640"/>
          </a:xfrm>
          <a:prstGeom prst="rect">
            <a:avLst/>
          </a:prstGeom>
          <a:solidFill>
            <a:srgbClr val="FFFFFF"/>
          </a:solidFill>
          <a:ln w="12700">
            <a:solidFill>
              <a:srgbClr val="D4D4D4"/>
            </a:solidFill>
            <a:prstDash val="solid"/>
          </a:ln>
        </p:spPr>
      </p:sp>
      <p:pic>
        <p:nvPicPr>
          <p:cNvPr id="10" name="Image 1" descr="preencoded.png"/>
          <p:cNvPicPr>
            <a:picLocks noChangeAspect="1"/>
          </p:cNvPicPr>
          <p:nvPr/>
        </p:nvPicPr>
        <p:blipFill>
          <a:blip r:embed="rId4"/>
          <a:stretch>
            <a:fillRect/>
          </a:stretch>
        </p:blipFill>
        <p:spPr>
          <a:xfrm>
            <a:off x="6597396" y="2606040"/>
            <a:ext cx="329184" cy="329184"/>
          </a:xfrm>
          <a:prstGeom prst="rect">
            <a:avLst/>
          </a:prstGeom>
        </p:spPr>
      </p:pic>
      <p:sp>
        <p:nvSpPr>
          <p:cNvPr id="11" name="Text 7"/>
          <p:cNvSpPr/>
          <p:nvPr/>
        </p:nvSpPr>
        <p:spPr>
          <a:xfrm>
            <a:off x="7100316" y="2578608"/>
            <a:ext cx="4174236" cy="411480"/>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Talks only via messages</a:t>
            </a:r>
            <a:endParaRPr lang="en-US" sz="1600" dirty="0"/>
          </a:p>
        </p:txBody>
      </p:sp>
      <p:sp>
        <p:nvSpPr>
          <p:cNvPr id="12" name="Text 8"/>
          <p:cNvSpPr/>
          <p:nvPr/>
        </p:nvSpPr>
        <p:spPr>
          <a:xfrm>
            <a:off x="7100316" y="3017520"/>
            <a:ext cx="4128516" cy="822960"/>
          </a:xfrm>
          <a:prstGeom prst="rect">
            <a:avLst/>
          </a:prstGeom>
          <a:noFill/>
          <a:ln/>
        </p:spPr>
        <p:txBody>
          <a:bodyPr wrap="square" rtlCol="0" anchor="ctr"/>
          <a:lstStyle/>
          <a:p>
            <a:pPr marL="0" indent="0">
              <a:lnSpc>
                <a:spcPts val="1600"/>
              </a:lnSpc>
              <a:buNone/>
            </a:pPr>
            <a:r>
              <a:rPr lang="en-US" sz="1250" dirty="0">
                <a:solidFill>
                  <a:srgbClr val="595959"/>
                </a:solidFill>
                <a:latin typeface="Calibri" pitchFamily="34" charset="0"/>
                <a:ea typeface="Calibri" pitchFamily="34" charset="-122"/>
                <a:cs typeface="Calibri" pitchFamily="34" charset="-120"/>
              </a:rPr>
              <a:t>Actors never read or write each other's data — the only interaction is sending a message.</a:t>
            </a:r>
            <a:endParaRPr lang="en-US" sz="1250" dirty="0"/>
          </a:p>
        </p:txBody>
      </p:sp>
      <p:sp>
        <p:nvSpPr>
          <p:cNvPr id="13" name="Shape 9"/>
          <p:cNvSpPr/>
          <p:nvPr/>
        </p:nvSpPr>
        <p:spPr>
          <a:xfrm>
            <a:off x="640080" y="4206240"/>
            <a:ext cx="5271516" cy="1691640"/>
          </a:xfrm>
          <a:prstGeom prst="rect">
            <a:avLst/>
          </a:prstGeom>
          <a:solidFill>
            <a:srgbClr val="FFFFFF"/>
          </a:solidFill>
          <a:ln w="12700">
            <a:solidFill>
              <a:srgbClr val="D4D4D4"/>
            </a:solidFill>
            <a:prstDash val="solid"/>
          </a:ln>
        </p:spPr>
      </p:sp>
      <p:pic>
        <p:nvPicPr>
          <p:cNvPr id="14" name="Image 2" descr="preencoded.png"/>
          <p:cNvPicPr>
            <a:picLocks noChangeAspect="1"/>
          </p:cNvPicPr>
          <p:nvPr/>
        </p:nvPicPr>
        <p:blipFill>
          <a:blip r:embed="rId5"/>
          <a:stretch>
            <a:fillRect/>
          </a:stretch>
        </p:blipFill>
        <p:spPr>
          <a:xfrm>
            <a:off x="960120" y="4526280"/>
            <a:ext cx="329184" cy="329184"/>
          </a:xfrm>
          <a:prstGeom prst="rect">
            <a:avLst/>
          </a:prstGeom>
        </p:spPr>
      </p:pic>
      <p:sp>
        <p:nvSpPr>
          <p:cNvPr id="15" name="Text 10"/>
          <p:cNvSpPr/>
          <p:nvPr/>
        </p:nvSpPr>
        <p:spPr>
          <a:xfrm>
            <a:off x="1463040" y="4498848"/>
            <a:ext cx="4174236" cy="411480"/>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Processes one at a time</a:t>
            </a:r>
            <a:endParaRPr lang="en-US" sz="1600" dirty="0"/>
          </a:p>
        </p:txBody>
      </p:sp>
      <p:sp>
        <p:nvSpPr>
          <p:cNvPr id="16" name="Text 11"/>
          <p:cNvSpPr/>
          <p:nvPr/>
        </p:nvSpPr>
        <p:spPr>
          <a:xfrm>
            <a:off x="1463040" y="4937760"/>
            <a:ext cx="4128516" cy="822960"/>
          </a:xfrm>
          <a:prstGeom prst="rect">
            <a:avLst/>
          </a:prstGeom>
          <a:noFill/>
          <a:ln/>
        </p:spPr>
        <p:txBody>
          <a:bodyPr wrap="square" rtlCol="0" anchor="ctr"/>
          <a:lstStyle/>
          <a:p>
            <a:pPr marL="0" indent="0">
              <a:lnSpc>
                <a:spcPts val="1600"/>
              </a:lnSpc>
              <a:buNone/>
            </a:pPr>
            <a:r>
              <a:rPr lang="en-US" sz="1250" dirty="0">
                <a:solidFill>
                  <a:srgbClr val="595959"/>
                </a:solidFill>
                <a:latin typeface="Calibri" pitchFamily="34" charset="0"/>
                <a:ea typeface="Calibri" pitchFamily="34" charset="-122"/>
                <a:cs typeface="Calibri" pitchFamily="34" charset="-120"/>
              </a:rPr>
              <a:t>Messages are handled sequentially, in arrival order. No two run at once inside one actor.</a:t>
            </a:r>
            <a:endParaRPr lang="en-US" sz="1250" dirty="0"/>
          </a:p>
        </p:txBody>
      </p:sp>
      <p:sp>
        <p:nvSpPr>
          <p:cNvPr id="17" name="Shape 12"/>
          <p:cNvSpPr/>
          <p:nvPr/>
        </p:nvSpPr>
        <p:spPr>
          <a:xfrm>
            <a:off x="6277356" y="4206240"/>
            <a:ext cx="5271516" cy="1691640"/>
          </a:xfrm>
          <a:prstGeom prst="rect">
            <a:avLst/>
          </a:prstGeom>
          <a:solidFill>
            <a:srgbClr val="FFFFFF"/>
          </a:solidFill>
          <a:ln w="12700">
            <a:solidFill>
              <a:srgbClr val="D4D4D4"/>
            </a:solidFill>
            <a:prstDash val="solid"/>
          </a:ln>
        </p:spPr>
      </p:sp>
      <p:pic>
        <p:nvPicPr>
          <p:cNvPr id="18" name="Image 3" descr="preencoded.png"/>
          <p:cNvPicPr>
            <a:picLocks noChangeAspect="1"/>
          </p:cNvPicPr>
          <p:nvPr/>
        </p:nvPicPr>
        <p:blipFill>
          <a:blip r:embed="rId6"/>
          <a:stretch>
            <a:fillRect/>
          </a:stretch>
        </p:blipFill>
        <p:spPr>
          <a:xfrm>
            <a:off x="6597396" y="4526280"/>
            <a:ext cx="329184" cy="329184"/>
          </a:xfrm>
          <a:prstGeom prst="rect">
            <a:avLst/>
          </a:prstGeom>
        </p:spPr>
      </p:pic>
      <p:sp>
        <p:nvSpPr>
          <p:cNvPr id="19" name="Text 13"/>
          <p:cNvSpPr/>
          <p:nvPr/>
        </p:nvSpPr>
        <p:spPr>
          <a:xfrm>
            <a:off x="7100316" y="4498848"/>
            <a:ext cx="4174236" cy="411480"/>
          </a:xfrm>
          <a:prstGeom prst="rect">
            <a:avLst/>
          </a:prstGeom>
          <a:noFill/>
          <a:ln/>
        </p:spPr>
        <p:txBody>
          <a:bodyPr wrap="square"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No shared state</a:t>
            </a:r>
            <a:endParaRPr lang="en-US" sz="1600" dirty="0"/>
          </a:p>
        </p:txBody>
      </p:sp>
      <p:sp>
        <p:nvSpPr>
          <p:cNvPr id="20" name="Text 14"/>
          <p:cNvSpPr/>
          <p:nvPr/>
        </p:nvSpPr>
        <p:spPr>
          <a:xfrm>
            <a:off x="7100316" y="4937760"/>
            <a:ext cx="4128516" cy="822960"/>
          </a:xfrm>
          <a:prstGeom prst="rect">
            <a:avLst/>
          </a:prstGeom>
          <a:noFill/>
          <a:ln/>
        </p:spPr>
        <p:txBody>
          <a:bodyPr wrap="square" rtlCol="0" anchor="ctr"/>
          <a:lstStyle/>
          <a:p>
            <a:pPr marL="0" indent="0">
              <a:lnSpc>
                <a:spcPts val="1600"/>
              </a:lnSpc>
              <a:buNone/>
            </a:pPr>
            <a:r>
              <a:rPr lang="en-US" sz="1250" dirty="0">
                <a:solidFill>
                  <a:srgbClr val="595959"/>
                </a:solidFill>
                <a:latin typeface="Calibri" pitchFamily="34" charset="0"/>
                <a:ea typeface="Calibri" pitchFamily="34" charset="-122"/>
                <a:cs typeface="Calibri" pitchFamily="34" charset="-120"/>
              </a:rPr>
              <a:t>Because nothing is shared, there is nothing to lock. Whole classes of bugs disappear.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1 · DESIGN</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Our system: a three-actor pipeline</a:t>
            </a:r>
            <a:endParaRPr lang="en-US" sz="2800" dirty="0"/>
          </a:p>
        </p:txBody>
      </p:sp>
      <p:sp>
        <p:nvSpPr>
          <p:cNvPr id="4" name="Text 2"/>
          <p:cNvSpPr/>
          <p:nvPr/>
        </p:nvSpPr>
        <p:spPr>
          <a:xfrm>
            <a:off x="640080" y="1417320"/>
            <a:ext cx="10908792" cy="548640"/>
          </a:xfrm>
          <a:prstGeom prst="rect">
            <a:avLst/>
          </a:prstGeom>
          <a:noFill/>
          <a:ln/>
        </p:spPr>
        <p:txBody>
          <a:bodyPr wrap="square" rtlCol="0" anchor="ctr"/>
          <a:lstStyle/>
          <a:p>
            <a:pPr marL="0" indent="0">
              <a:lnSpc>
                <a:spcPts val="2000"/>
              </a:lnSpc>
              <a:buNone/>
            </a:pPr>
            <a:r>
              <a:rPr lang="en-US" sz="1500" dirty="0">
                <a:solidFill>
                  <a:srgbClr val="595959"/>
                </a:solidFill>
                <a:latin typeface="Calibri" pitchFamily="34" charset="0"/>
                <a:ea typeface="Calibri" pitchFamily="34" charset="-122"/>
                <a:cs typeface="Calibri" pitchFamily="34" charset="-120"/>
              </a:rPr>
              <a:t>One message to the Coordinator kicks off the whole flow. Each actor does one job, then passes a message on. This is also our required Actor-Model diagram.</a:t>
            </a:r>
            <a:endParaRPr lang="en-US" sz="1500" dirty="0"/>
          </a:p>
        </p:txBody>
      </p:sp>
      <p:sp>
        <p:nvSpPr>
          <p:cNvPr id="5" name="Shape 3"/>
          <p:cNvSpPr/>
          <p:nvPr/>
        </p:nvSpPr>
        <p:spPr>
          <a:xfrm>
            <a:off x="1097280" y="2514600"/>
            <a:ext cx="2377440" cy="1737360"/>
          </a:xfrm>
          <a:prstGeom prst="rect">
            <a:avLst/>
          </a:prstGeom>
          <a:solidFill>
            <a:srgbClr val="FFFFFF"/>
          </a:solidFill>
          <a:ln w="15875">
            <a:solidFill>
              <a:srgbClr val="D4D4D4"/>
            </a:solidFill>
            <a:prstDash val="solid"/>
          </a:ln>
        </p:spPr>
      </p:sp>
      <p:sp>
        <p:nvSpPr>
          <p:cNvPr id="6" name="Shape 4"/>
          <p:cNvSpPr/>
          <p:nvPr/>
        </p:nvSpPr>
        <p:spPr>
          <a:xfrm>
            <a:off x="1965960" y="2697480"/>
            <a:ext cx="640080" cy="640080"/>
          </a:xfrm>
          <a:prstGeom prst="ellipse">
            <a:avLst/>
          </a:prstGeom>
          <a:solidFill>
            <a:srgbClr val="DCE6F1"/>
          </a:solidFill>
          <a:ln w="12700">
            <a:solidFill>
              <a:srgbClr val="1F4E79"/>
            </a:solidFill>
            <a:prstDash val="solid"/>
          </a:ln>
        </p:spPr>
      </p:sp>
      <p:sp>
        <p:nvSpPr>
          <p:cNvPr id="7" name="Text 5"/>
          <p:cNvSpPr/>
          <p:nvPr/>
        </p:nvSpPr>
        <p:spPr>
          <a:xfrm>
            <a:off x="1965960" y="2697480"/>
            <a:ext cx="640080" cy="640080"/>
          </a:xfrm>
          <a:prstGeom prst="rect">
            <a:avLst/>
          </a:prstGeom>
          <a:noFill/>
          <a:ln/>
        </p:spPr>
        <p:txBody>
          <a:bodyPr wrap="square" rtlCol="0" anchor="ctr"/>
          <a:lstStyle/>
          <a:p>
            <a:pPr marL="0" indent="0" algn="ctr">
              <a:buNone/>
            </a:pPr>
            <a:r>
              <a:rPr lang="en-US" sz="1700" b="1" dirty="0">
                <a:solidFill>
                  <a:srgbClr val="1F4E79"/>
                </a:solidFill>
                <a:latin typeface="Calibri" pitchFamily="34" charset="0"/>
                <a:ea typeface="Calibri" pitchFamily="34" charset="-122"/>
                <a:cs typeface="Calibri" pitchFamily="34" charset="-120"/>
              </a:rPr>
              <a:t>A</a:t>
            </a:r>
            <a:endParaRPr lang="en-US" sz="1700" dirty="0"/>
          </a:p>
        </p:txBody>
      </p:sp>
      <p:sp>
        <p:nvSpPr>
          <p:cNvPr id="8" name="Text 6"/>
          <p:cNvSpPr/>
          <p:nvPr/>
        </p:nvSpPr>
        <p:spPr>
          <a:xfrm>
            <a:off x="1097280" y="3401568"/>
            <a:ext cx="2377440" cy="347472"/>
          </a:xfrm>
          <a:prstGeom prst="rect">
            <a:avLst/>
          </a:prstGeom>
          <a:noFill/>
          <a:ln/>
        </p:spPr>
        <p:txBody>
          <a:bodyPr wrap="square"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Coordinator</a:t>
            </a:r>
            <a:endParaRPr lang="en-US" sz="1600" dirty="0"/>
          </a:p>
        </p:txBody>
      </p:sp>
      <p:sp>
        <p:nvSpPr>
          <p:cNvPr id="9" name="Text 7"/>
          <p:cNvSpPr/>
          <p:nvPr/>
        </p:nvSpPr>
        <p:spPr>
          <a:xfrm>
            <a:off x="1097280" y="3749040"/>
            <a:ext cx="2377440" cy="320040"/>
          </a:xfrm>
          <a:prstGeom prst="rect">
            <a:avLst/>
          </a:prstGeom>
          <a:noFill/>
          <a:ln/>
        </p:spPr>
        <p:txBody>
          <a:bodyPr wrap="square" rtlCol="0" anchor="ctr"/>
          <a:lstStyle/>
          <a:p>
            <a:pPr marL="0" indent="0" algn="ctr">
              <a:buNone/>
            </a:pPr>
            <a:r>
              <a:rPr lang="en-US" sz="1200" dirty="0">
                <a:solidFill>
                  <a:srgbClr val="595959"/>
                </a:solidFill>
                <a:latin typeface="Calibri" pitchFamily="34" charset="0"/>
                <a:ea typeface="Calibri" pitchFamily="34" charset="-122"/>
                <a:cs typeface="Calibri" pitchFamily="34" charset="-120"/>
              </a:rPr>
              <a:t>Hands out jobs</a:t>
            </a:r>
            <a:endParaRPr lang="en-US" sz="1200" dirty="0"/>
          </a:p>
        </p:txBody>
      </p:sp>
      <p:sp>
        <p:nvSpPr>
          <p:cNvPr id="10" name="Shape 8"/>
          <p:cNvSpPr/>
          <p:nvPr/>
        </p:nvSpPr>
        <p:spPr>
          <a:xfrm>
            <a:off x="1280160" y="4480560"/>
            <a:ext cx="2011680" cy="365760"/>
          </a:xfrm>
          <a:prstGeom prst="rect">
            <a:avLst/>
          </a:prstGeom>
          <a:solidFill>
            <a:srgbClr val="F3F4F6"/>
          </a:solidFill>
          <a:ln w="9525">
            <a:solidFill>
              <a:srgbClr val="D4D4D4"/>
            </a:solidFill>
            <a:prstDash val="solid"/>
          </a:ln>
        </p:spPr>
      </p:sp>
      <p:sp>
        <p:nvSpPr>
          <p:cNvPr id="11" name="Text 9"/>
          <p:cNvSpPr/>
          <p:nvPr/>
        </p:nvSpPr>
        <p:spPr>
          <a:xfrm>
            <a:off x="1280160" y="4480560"/>
            <a:ext cx="2011680" cy="365760"/>
          </a:xfrm>
          <a:prstGeom prst="rect">
            <a:avLst/>
          </a:prstGeom>
          <a:noFill/>
          <a:ln/>
        </p:spPr>
        <p:txBody>
          <a:bodyPr wrap="square"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private mailbox (queue)</a:t>
            </a:r>
            <a:endParaRPr lang="en-US" sz="1050" dirty="0"/>
          </a:p>
        </p:txBody>
      </p:sp>
      <p:sp>
        <p:nvSpPr>
          <p:cNvPr id="12" name="Shape 10"/>
          <p:cNvSpPr/>
          <p:nvPr/>
        </p:nvSpPr>
        <p:spPr>
          <a:xfrm>
            <a:off x="4892040" y="2514600"/>
            <a:ext cx="2377440" cy="1737360"/>
          </a:xfrm>
          <a:prstGeom prst="rect">
            <a:avLst/>
          </a:prstGeom>
          <a:solidFill>
            <a:srgbClr val="FFFFFF"/>
          </a:solidFill>
          <a:ln w="15875">
            <a:solidFill>
              <a:srgbClr val="D4D4D4"/>
            </a:solidFill>
            <a:prstDash val="solid"/>
          </a:ln>
        </p:spPr>
      </p:sp>
      <p:sp>
        <p:nvSpPr>
          <p:cNvPr id="13" name="Shape 11"/>
          <p:cNvSpPr/>
          <p:nvPr/>
        </p:nvSpPr>
        <p:spPr>
          <a:xfrm>
            <a:off x="5760720" y="2697480"/>
            <a:ext cx="640080" cy="640080"/>
          </a:xfrm>
          <a:prstGeom prst="ellipse">
            <a:avLst/>
          </a:prstGeom>
          <a:solidFill>
            <a:srgbClr val="DCE6F1"/>
          </a:solidFill>
          <a:ln w="12700">
            <a:solidFill>
              <a:srgbClr val="1F4E79"/>
            </a:solidFill>
            <a:prstDash val="solid"/>
          </a:ln>
        </p:spPr>
      </p:sp>
      <p:sp>
        <p:nvSpPr>
          <p:cNvPr id="14" name="Text 12"/>
          <p:cNvSpPr/>
          <p:nvPr/>
        </p:nvSpPr>
        <p:spPr>
          <a:xfrm>
            <a:off x="5760720" y="2697480"/>
            <a:ext cx="640080" cy="640080"/>
          </a:xfrm>
          <a:prstGeom prst="rect">
            <a:avLst/>
          </a:prstGeom>
          <a:noFill/>
          <a:ln/>
        </p:spPr>
        <p:txBody>
          <a:bodyPr wrap="square" rtlCol="0" anchor="ctr"/>
          <a:lstStyle/>
          <a:p>
            <a:pPr marL="0" indent="0" algn="ctr">
              <a:buNone/>
            </a:pPr>
            <a:r>
              <a:rPr lang="en-US" sz="1700" b="1" dirty="0">
                <a:solidFill>
                  <a:srgbClr val="1F4E79"/>
                </a:solidFill>
                <a:latin typeface="Calibri" pitchFamily="34" charset="0"/>
                <a:ea typeface="Calibri" pitchFamily="34" charset="-122"/>
                <a:cs typeface="Calibri" pitchFamily="34" charset="-120"/>
              </a:rPr>
              <a:t>B</a:t>
            </a:r>
            <a:endParaRPr lang="en-US" sz="1700" dirty="0"/>
          </a:p>
        </p:txBody>
      </p:sp>
      <p:sp>
        <p:nvSpPr>
          <p:cNvPr id="15" name="Text 13"/>
          <p:cNvSpPr/>
          <p:nvPr/>
        </p:nvSpPr>
        <p:spPr>
          <a:xfrm>
            <a:off x="4892040" y="3401568"/>
            <a:ext cx="2377440" cy="347472"/>
          </a:xfrm>
          <a:prstGeom prst="rect">
            <a:avLst/>
          </a:prstGeom>
          <a:noFill/>
          <a:ln/>
        </p:spPr>
        <p:txBody>
          <a:bodyPr wrap="square"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Calculator</a:t>
            </a:r>
            <a:endParaRPr lang="en-US" sz="1600" dirty="0"/>
          </a:p>
        </p:txBody>
      </p:sp>
      <p:sp>
        <p:nvSpPr>
          <p:cNvPr id="16" name="Text 14"/>
          <p:cNvSpPr/>
          <p:nvPr/>
        </p:nvSpPr>
        <p:spPr>
          <a:xfrm>
            <a:off x="4892040" y="3749040"/>
            <a:ext cx="2377440" cy="320040"/>
          </a:xfrm>
          <a:prstGeom prst="rect">
            <a:avLst/>
          </a:prstGeom>
          <a:noFill/>
          <a:ln/>
        </p:spPr>
        <p:txBody>
          <a:bodyPr wrap="square" rtlCol="0" anchor="ctr"/>
          <a:lstStyle/>
          <a:p>
            <a:pPr marL="0" indent="0" algn="ctr">
              <a:buNone/>
            </a:pPr>
            <a:r>
              <a:rPr lang="en-US" sz="1200" dirty="0">
                <a:solidFill>
                  <a:srgbClr val="595959"/>
                </a:solidFill>
                <a:latin typeface="Calibri" pitchFamily="34" charset="0"/>
                <a:ea typeface="Calibri" pitchFamily="34" charset="-122"/>
                <a:cs typeface="Calibri" pitchFamily="34" charset="-120"/>
              </a:rPr>
              <a:t>Squares the number</a:t>
            </a:r>
            <a:endParaRPr lang="en-US" sz="1200" dirty="0"/>
          </a:p>
        </p:txBody>
      </p:sp>
      <p:sp>
        <p:nvSpPr>
          <p:cNvPr id="17" name="Shape 15"/>
          <p:cNvSpPr/>
          <p:nvPr/>
        </p:nvSpPr>
        <p:spPr>
          <a:xfrm>
            <a:off x="5074920" y="4480560"/>
            <a:ext cx="2011680" cy="365760"/>
          </a:xfrm>
          <a:prstGeom prst="rect">
            <a:avLst/>
          </a:prstGeom>
          <a:solidFill>
            <a:srgbClr val="F3F4F6"/>
          </a:solidFill>
          <a:ln w="9525">
            <a:solidFill>
              <a:srgbClr val="D4D4D4"/>
            </a:solidFill>
            <a:prstDash val="solid"/>
          </a:ln>
        </p:spPr>
      </p:sp>
      <p:sp>
        <p:nvSpPr>
          <p:cNvPr id="18" name="Text 16"/>
          <p:cNvSpPr/>
          <p:nvPr/>
        </p:nvSpPr>
        <p:spPr>
          <a:xfrm>
            <a:off x="5074920" y="4480560"/>
            <a:ext cx="2011680" cy="365760"/>
          </a:xfrm>
          <a:prstGeom prst="rect">
            <a:avLst/>
          </a:prstGeom>
          <a:noFill/>
          <a:ln/>
        </p:spPr>
        <p:txBody>
          <a:bodyPr wrap="square"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private mailbox (queue)</a:t>
            </a:r>
            <a:endParaRPr lang="en-US" sz="1050" dirty="0"/>
          </a:p>
        </p:txBody>
      </p:sp>
      <p:sp>
        <p:nvSpPr>
          <p:cNvPr id="19" name="Shape 17"/>
          <p:cNvSpPr/>
          <p:nvPr/>
        </p:nvSpPr>
        <p:spPr>
          <a:xfrm>
            <a:off x="8686800" y="2514600"/>
            <a:ext cx="2377440" cy="1737360"/>
          </a:xfrm>
          <a:prstGeom prst="rect">
            <a:avLst/>
          </a:prstGeom>
          <a:solidFill>
            <a:srgbClr val="FFFFFF"/>
          </a:solidFill>
          <a:ln w="15875">
            <a:solidFill>
              <a:srgbClr val="D4D4D4"/>
            </a:solidFill>
            <a:prstDash val="solid"/>
          </a:ln>
        </p:spPr>
      </p:sp>
      <p:sp>
        <p:nvSpPr>
          <p:cNvPr id="20" name="Shape 18"/>
          <p:cNvSpPr/>
          <p:nvPr/>
        </p:nvSpPr>
        <p:spPr>
          <a:xfrm>
            <a:off x="9555480" y="2697480"/>
            <a:ext cx="640080" cy="640080"/>
          </a:xfrm>
          <a:prstGeom prst="ellipse">
            <a:avLst/>
          </a:prstGeom>
          <a:solidFill>
            <a:srgbClr val="DCE6F1"/>
          </a:solidFill>
          <a:ln w="12700">
            <a:solidFill>
              <a:srgbClr val="1F4E79"/>
            </a:solidFill>
            <a:prstDash val="solid"/>
          </a:ln>
        </p:spPr>
      </p:sp>
      <p:sp>
        <p:nvSpPr>
          <p:cNvPr id="21" name="Text 19"/>
          <p:cNvSpPr/>
          <p:nvPr/>
        </p:nvSpPr>
        <p:spPr>
          <a:xfrm>
            <a:off x="9555480" y="2697480"/>
            <a:ext cx="640080" cy="640080"/>
          </a:xfrm>
          <a:prstGeom prst="rect">
            <a:avLst/>
          </a:prstGeom>
          <a:noFill/>
          <a:ln/>
        </p:spPr>
        <p:txBody>
          <a:bodyPr wrap="square" rtlCol="0" anchor="ctr"/>
          <a:lstStyle/>
          <a:p>
            <a:pPr marL="0" indent="0" algn="ctr">
              <a:buNone/>
            </a:pPr>
            <a:r>
              <a:rPr lang="en-US" sz="1700" b="1" dirty="0">
                <a:solidFill>
                  <a:srgbClr val="1F4E79"/>
                </a:solidFill>
                <a:latin typeface="Calibri" pitchFamily="34" charset="0"/>
                <a:ea typeface="Calibri" pitchFamily="34" charset="-122"/>
                <a:cs typeface="Calibri" pitchFamily="34" charset="-120"/>
              </a:rPr>
              <a:t>C</a:t>
            </a:r>
            <a:endParaRPr lang="en-US" sz="1700" dirty="0"/>
          </a:p>
        </p:txBody>
      </p:sp>
      <p:sp>
        <p:nvSpPr>
          <p:cNvPr id="22" name="Text 20"/>
          <p:cNvSpPr/>
          <p:nvPr/>
        </p:nvSpPr>
        <p:spPr>
          <a:xfrm>
            <a:off x="8686800" y="3401568"/>
            <a:ext cx="2377440" cy="347472"/>
          </a:xfrm>
          <a:prstGeom prst="rect">
            <a:avLst/>
          </a:prstGeom>
          <a:noFill/>
          <a:ln/>
        </p:spPr>
        <p:txBody>
          <a:bodyPr wrap="square"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Logger</a:t>
            </a:r>
            <a:endParaRPr lang="en-US" sz="1600" dirty="0"/>
          </a:p>
        </p:txBody>
      </p:sp>
      <p:sp>
        <p:nvSpPr>
          <p:cNvPr id="23" name="Text 21"/>
          <p:cNvSpPr/>
          <p:nvPr/>
        </p:nvSpPr>
        <p:spPr>
          <a:xfrm>
            <a:off x="8686800" y="3749040"/>
            <a:ext cx="2377440" cy="320040"/>
          </a:xfrm>
          <a:prstGeom prst="rect">
            <a:avLst/>
          </a:prstGeom>
          <a:noFill/>
          <a:ln/>
        </p:spPr>
        <p:txBody>
          <a:bodyPr wrap="square" rtlCol="0" anchor="ctr"/>
          <a:lstStyle/>
          <a:p>
            <a:pPr marL="0" indent="0" algn="ctr">
              <a:buNone/>
            </a:pPr>
            <a:r>
              <a:rPr lang="en-US" sz="1200" dirty="0">
                <a:solidFill>
                  <a:srgbClr val="595959"/>
                </a:solidFill>
                <a:latin typeface="Calibri" pitchFamily="34" charset="0"/>
                <a:ea typeface="Calibri" pitchFamily="34" charset="-122"/>
                <a:cs typeface="Calibri" pitchFamily="34" charset="-120"/>
              </a:rPr>
              <a:t>Records the result</a:t>
            </a:r>
            <a:endParaRPr lang="en-US" sz="1200" dirty="0"/>
          </a:p>
        </p:txBody>
      </p:sp>
      <p:sp>
        <p:nvSpPr>
          <p:cNvPr id="24" name="Shape 22"/>
          <p:cNvSpPr/>
          <p:nvPr/>
        </p:nvSpPr>
        <p:spPr>
          <a:xfrm>
            <a:off x="8869680" y="4480560"/>
            <a:ext cx="2011680" cy="365760"/>
          </a:xfrm>
          <a:prstGeom prst="rect">
            <a:avLst/>
          </a:prstGeom>
          <a:solidFill>
            <a:srgbClr val="F3F4F6"/>
          </a:solidFill>
          <a:ln w="9525">
            <a:solidFill>
              <a:srgbClr val="D4D4D4"/>
            </a:solidFill>
            <a:prstDash val="solid"/>
          </a:ln>
        </p:spPr>
      </p:sp>
      <p:sp>
        <p:nvSpPr>
          <p:cNvPr id="25" name="Text 23"/>
          <p:cNvSpPr/>
          <p:nvPr/>
        </p:nvSpPr>
        <p:spPr>
          <a:xfrm>
            <a:off x="8869680" y="4480560"/>
            <a:ext cx="2011680" cy="365760"/>
          </a:xfrm>
          <a:prstGeom prst="rect">
            <a:avLst/>
          </a:prstGeom>
          <a:noFill/>
          <a:ln/>
        </p:spPr>
        <p:txBody>
          <a:bodyPr wrap="square"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private mailbox (queue)</a:t>
            </a:r>
            <a:endParaRPr lang="en-US" sz="1050" dirty="0"/>
          </a:p>
        </p:txBody>
      </p:sp>
      <p:sp>
        <p:nvSpPr>
          <p:cNvPr id="26" name="Shape 24"/>
          <p:cNvSpPr/>
          <p:nvPr/>
        </p:nvSpPr>
        <p:spPr>
          <a:xfrm>
            <a:off x="3474720" y="3401568"/>
            <a:ext cx="1417320" cy="0"/>
          </a:xfrm>
          <a:prstGeom prst="line">
            <a:avLst/>
          </a:prstGeom>
          <a:noFill/>
          <a:ln w="25400">
            <a:solidFill>
              <a:srgbClr val="595959"/>
            </a:solidFill>
            <a:prstDash val="solid"/>
            <a:tailEnd type="triangle"/>
          </a:ln>
        </p:spPr>
      </p:sp>
      <p:sp>
        <p:nvSpPr>
          <p:cNvPr id="27" name="Shape 25"/>
          <p:cNvSpPr/>
          <p:nvPr/>
        </p:nvSpPr>
        <p:spPr>
          <a:xfrm>
            <a:off x="3703320" y="3072384"/>
            <a:ext cx="960120" cy="320040"/>
          </a:xfrm>
          <a:prstGeom prst="rect">
            <a:avLst/>
          </a:prstGeom>
          <a:solidFill>
            <a:srgbClr val="FFFFFF"/>
          </a:solidFill>
          <a:ln w="9525">
            <a:solidFill>
              <a:srgbClr val="D4D4D4"/>
            </a:solidFill>
            <a:prstDash val="solid"/>
          </a:ln>
        </p:spPr>
      </p:sp>
      <p:sp>
        <p:nvSpPr>
          <p:cNvPr id="28" name="Text 26"/>
          <p:cNvSpPr/>
          <p:nvPr/>
        </p:nvSpPr>
        <p:spPr>
          <a:xfrm>
            <a:off x="3703320" y="3072384"/>
            <a:ext cx="960120" cy="320040"/>
          </a:xfrm>
          <a:prstGeom prst="rect">
            <a:avLst/>
          </a:prstGeom>
          <a:noFill/>
          <a:ln/>
        </p:spPr>
        <p:txBody>
          <a:bodyPr wrap="square" rtlCol="0" anchor="ctr"/>
          <a:lstStyle/>
          <a:p>
            <a:pPr marL="0" indent="0" algn="ctr">
              <a:buNone/>
            </a:pPr>
            <a:r>
              <a:rPr lang="en-US" sz="1000" dirty="0">
                <a:solidFill>
                  <a:srgbClr val="262626"/>
                </a:solidFill>
                <a:latin typeface="Consolas" pitchFamily="34" charset="0"/>
                <a:ea typeface="Consolas" pitchFamily="34" charset="-122"/>
                <a:cs typeface="Consolas" pitchFamily="34" charset="-120"/>
              </a:rPr>
              <a:t>COMPUTE</a:t>
            </a:r>
            <a:endParaRPr lang="en-US" sz="1000" dirty="0"/>
          </a:p>
        </p:txBody>
      </p:sp>
      <p:sp>
        <p:nvSpPr>
          <p:cNvPr id="29" name="Shape 27"/>
          <p:cNvSpPr/>
          <p:nvPr/>
        </p:nvSpPr>
        <p:spPr>
          <a:xfrm>
            <a:off x="7269480" y="3401568"/>
            <a:ext cx="1417320" cy="0"/>
          </a:xfrm>
          <a:prstGeom prst="line">
            <a:avLst/>
          </a:prstGeom>
          <a:noFill/>
          <a:ln w="25400">
            <a:solidFill>
              <a:srgbClr val="595959"/>
            </a:solidFill>
            <a:prstDash val="solid"/>
            <a:tailEnd type="triangle"/>
          </a:ln>
        </p:spPr>
      </p:sp>
      <p:sp>
        <p:nvSpPr>
          <p:cNvPr id="30" name="Shape 28"/>
          <p:cNvSpPr/>
          <p:nvPr/>
        </p:nvSpPr>
        <p:spPr>
          <a:xfrm>
            <a:off x="7498080" y="3072384"/>
            <a:ext cx="960120" cy="320040"/>
          </a:xfrm>
          <a:prstGeom prst="rect">
            <a:avLst/>
          </a:prstGeom>
          <a:solidFill>
            <a:srgbClr val="FFFFFF"/>
          </a:solidFill>
          <a:ln w="9525">
            <a:solidFill>
              <a:srgbClr val="D4D4D4"/>
            </a:solidFill>
            <a:prstDash val="solid"/>
          </a:ln>
        </p:spPr>
      </p:sp>
      <p:sp>
        <p:nvSpPr>
          <p:cNvPr id="31" name="Text 29"/>
          <p:cNvSpPr/>
          <p:nvPr/>
        </p:nvSpPr>
        <p:spPr>
          <a:xfrm>
            <a:off x="7498080" y="3072384"/>
            <a:ext cx="960120" cy="320040"/>
          </a:xfrm>
          <a:prstGeom prst="rect">
            <a:avLst/>
          </a:prstGeom>
          <a:noFill/>
          <a:ln/>
        </p:spPr>
        <p:txBody>
          <a:bodyPr wrap="square" rtlCol="0" anchor="ctr"/>
          <a:lstStyle/>
          <a:p>
            <a:pPr marL="0" indent="0" algn="ctr">
              <a:buNone/>
            </a:pPr>
            <a:r>
              <a:rPr lang="en-US" sz="1000" dirty="0">
                <a:solidFill>
                  <a:srgbClr val="262626"/>
                </a:solidFill>
                <a:latin typeface="Consolas" pitchFamily="34" charset="0"/>
                <a:ea typeface="Consolas" pitchFamily="34" charset="-122"/>
                <a:cs typeface="Consolas" pitchFamily="34" charset="-120"/>
              </a:rPr>
              <a:t>LOG</a:t>
            </a:r>
            <a:endParaRPr lang="en-US" sz="1000" dirty="0"/>
          </a:p>
        </p:txBody>
      </p:sp>
      <p:sp>
        <p:nvSpPr>
          <p:cNvPr id="32" name="Shape 30"/>
          <p:cNvSpPr/>
          <p:nvPr/>
        </p:nvSpPr>
        <p:spPr>
          <a:xfrm>
            <a:off x="640080" y="3401568"/>
            <a:ext cx="457200" cy="0"/>
          </a:xfrm>
          <a:prstGeom prst="line">
            <a:avLst/>
          </a:prstGeom>
          <a:noFill/>
          <a:ln w="25400">
            <a:solidFill>
              <a:srgbClr val="1F4E79"/>
            </a:solidFill>
            <a:prstDash val="solid"/>
            <a:tailEnd type="triangle"/>
          </a:ln>
        </p:spPr>
      </p:sp>
      <p:sp>
        <p:nvSpPr>
          <p:cNvPr id="33" name="Text 31"/>
          <p:cNvSpPr/>
          <p:nvPr/>
        </p:nvSpPr>
        <p:spPr>
          <a:xfrm>
            <a:off x="182880" y="3072384"/>
            <a:ext cx="868680" cy="320040"/>
          </a:xfrm>
          <a:prstGeom prst="rect">
            <a:avLst/>
          </a:prstGeom>
          <a:noFill/>
          <a:ln/>
        </p:spPr>
        <p:txBody>
          <a:bodyPr wrap="square" rtlCol="0" anchor="ctr"/>
          <a:lstStyle/>
          <a:p>
            <a:pPr marL="0" indent="0" algn="ctr">
              <a:buNone/>
            </a:pPr>
            <a:r>
              <a:rPr lang="en-US" sz="1000" b="1" dirty="0">
                <a:solidFill>
                  <a:srgbClr val="1F4E79"/>
                </a:solidFill>
                <a:latin typeface="Consolas" pitchFamily="34" charset="0"/>
                <a:ea typeface="Consolas" pitchFamily="34" charset="-122"/>
                <a:cs typeface="Consolas" pitchFamily="34" charset="-120"/>
              </a:rPr>
              <a:t>START</a:t>
            </a:r>
            <a:endParaRPr lang="en-US" sz="1000" dirty="0"/>
          </a:p>
        </p:txBody>
      </p:sp>
      <p:sp>
        <p:nvSpPr>
          <p:cNvPr id="34" name="Shape 32"/>
          <p:cNvSpPr/>
          <p:nvPr/>
        </p:nvSpPr>
        <p:spPr>
          <a:xfrm>
            <a:off x="1097280" y="5166360"/>
            <a:ext cx="9966960" cy="960120"/>
          </a:xfrm>
          <a:prstGeom prst="rect">
            <a:avLst/>
          </a:prstGeom>
          <a:solidFill>
            <a:srgbClr val="F3F4F6"/>
          </a:solidFill>
          <a:ln w="9525">
            <a:solidFill>
              <a:srgbClr val="D4D4D4"/>
            </a:solidFill>
            <a:prstDash val="solid"/>
          </a:ln>
        </p:spPr>
      </p:sp>
      <p:sp>
        <p:nvSpPr>
          <p:cNvPr id="35" name="Text 33"/>
          <p:cNvSpPr/>
          <p:nvPr/>
        </p:nvSpPr>
        <p:spPr>
          <a:xfrm>
            <a:off x="1371600" y="5166360"/>
            <a:ext cx="9418320" cy="960120"/>
          </a:xfrm>
          <a:prstGeom prst="rect">
            <a:avLst/>
          </a:prstGeom>
          <a:noFill/>
          <a:ln/>
        </p:spPr>
        <p:txBody>
          <a:bodyPr wrap="square" rtlCol="0" anchor="ctr"/>
          <a:lstStyle/>
          <a:p>
            <a:pPr marL="0" indent="0">
              <a:lnSpc>
                <a:spcPts val="1800"/>
              </a:lnSpc>
              <a:buNone/>
            </a:pPr>
            <a:r>
              <a:rPr lang="en-US" sz="1350" b="1" dirty="0">
                <a:solidFill>
                  <a:srgbClr val="1F4E79"/>
                </a:solidFill>
                <a:latin typeface="Calibri" pitchFamily="34" charset="0"/>
                <a:ea typeface="Calibri" pitchFamily="34" charset="-122"/>
                <a:cs typeface="Calibri" pitchFamily="34" charset="-120"/>
              </a:rPr>
              <a:t>Key point:  </a:t>
            </a:r>
            <a:r>
              <a:rPr lang="en-US" sz="1350" dirty="0">
                <a:solidFill>
                  <a:srgbClr val="262626"/>
                </a:solidFill>
                <a:latin typeface="Calibri" pitchFamily="34" charset="0"/>
                <a:ea typeface="Calibri" pitchFamily="34" charset="-122"/>
                <a:cs typeface="Calibri" pitchFamily="34" charset="-120"/>
              </a:rPr>
              <a:t>the arrows are the </a:t>
            </a:r>
            <a:r>
              <a:rPr lang="en-US" sz="1350" b="1" i="1" dirty="0">
                <a:solidFill>
                  <a:srgbClr val="262626"/>
                </a:solidFill>
                <a:latin typeface="Calibri" pitchFamily="34" charset="0"/>
                <a:ea typeface="Calibri" pitchFamily="34" charset="-122"/>
                <a:cs typeface="Calibri" pitchFamily="34" charset="-120"/>
              </a:rPr>
              <a:t>only</a:t>
            </a:r>
            <a:r>
              <a:rPr lang="en-US" sz="1350" dirty="0">
                <a:solidFill>
                  <a:srgbClr val="262626"/>
                </a:solidFill>
                <a:latin typeface="Calibri" pitchFamily="34" charset="0"/>
                <a:ea typeface="Calibri" pitchFamily="34" charset="-122"/>
                <a:cs typeface="Calibri" pitchFamily="34" charset="-120"/>
              </a:rPr>
              <a:t> connection between actors. No actor can see another's variables — it can only drop a message into a mailbox. That is what makes the whole system safe without a single lock.</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1 · IMPLEMENTATION</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The code — one base class does the work</a:t>
            </a:r>
            <a:endParaRPr lang="en-US" sz="2800" dirty="0"/>
          </a:p>
        </p:txBody>
      </p:sp>
      <p:sp>
        <p:nvSpPr>
          <p:cNvPr id="4" name="Shape 2"/>
          <p:cNvSpPr/>
          <p:nvPr/>
        </p:nvSpPr>
        <p:spPr>
          <a:xfrm>
            <a:off x="640080" y="1463040"/>
            <a:ext cx="6720840" cy="4709160"/>
          </a:xfrm>
          <a:prstGeom prst="rect">
            <a:avLst/>
          </a:prstGeom>
          <a:solidFill>
            <a:srgbClr val="F5F6F8"/>
          </a:solidFill>
          <a:ln w="12700">
            <a:solidFill>
              <a:srgbClr val="D4D4D4"/>
            </a:solidFill>
            <a:prstDash val="solid"/>
          </a:ln>
        </p:spPr>
      </p:sp>
      <p:sp>
        <p:nvSpPr>
          <p:cNvPr id="5" name="Text 3"/>
          <p:cNvSpPr/>
          <p:nvPr/>
        </p:nvSpPr>
        <p:spPr>
          <a:xfrm>
            <a:off x="868680" y="1691640"/>
            <a:ext cx="6309360" cy="4206240"/>
          </a:xfrm>
          <a:prstGeom prst="rect">
            <a:avLst/>
          </a:prstGeom>
          <a:noFill/>
          <a:ln/>
        </p:spPr>
        <p:txBody>
          <a:bodyPr wrap="square" rtlCol="0" anchor="t"/>
          <a:lstStyle/>
          <a:p>
            <a:pPr marL="0" indent="0">
              <a:lnSpc>
                <a:spcPts val="1700"/>
              </a:lnSpc>
              <a:buNone/>
            </a:pPr>
            <a:r>
              <a:rPr lang="en-US" sz="1250" dirty="0">
                <a:solidFill>
                  <a:srgbClr val="1F4E79"/>
                </a:solidFill>
                <a:latin typeface="Consolas" pitchFamily="34" charset="0"/>
                <a:ea typeface="Consolas" pitchFamily="34" charset="-122"/>
                <a:cs typeface="Consolas" pitchFamily="34" charset="-120"/>
              </a:rPr>
              <a:t>class </a:t>
            </a:r>
            <a:r>
              <a:rPr lang="en-US" sz="1250" dirty="0">
                <a:solidFill>
                  <a:srgbClr val="8A5A00"/>
                </a:solidFill>
                <a:latin typeface="Consolas" pitchFamily="34" charset="0"/>
                <a:ea typeface="Consolas" pitchFamily="34" charset="-122"/>
                <a:cs typeface="Consolas" pitchFamily="34" charset="-120"/>
              </a:rPr>
              <a:t>Actor</a:t>
            </a:r>
            <a:r>
              <a:rPr lang="en-US" sz="1250" dirty="0">
                <a:solidFill>
                  <a:srgbClr val="262626"/>
                </a:solidFill>
                <a:latin typeface="Consolas" pitchFamily="34" charset="0"/>
                <a:ea typeface="Consolas" pitchFamily="34" charset="-122"/>
                <a:cs typeface="Consolas" pitchFamily="34" charset="-120"/>
              </a:rPr>
              <a:t>(threading.Thread):
</a:t>
            </a:r>
            <a:r>
              <a:rPr lang="en-US" sz="1250" dirty="0">
                <a:solidFill>
                  <a:srgbClr val="1F4E79"/>
                </a:solidFill>
                <a:latin typeface="Consolas" pitchFamily="34" charset="0"/>
                <a:ea typeface="Consolas" pitchFamily="34" charset="-122"/>
                <a:cs typeface="Consolas" pitchFamily="34" charset="-120"/>
              </a:rPr>
              <a:t>    def </a:t>
            </a:r>
            <a:r>
              <a:rPr lang="en-US" sz="1250" dirty="0">
                <a:solidFill>
                  <a:srgbClr val="262626"/>
                </a:solidFill>
                <a:latin typeface="Consolas" pitchFamily="34" charset="0"/>
                <a:ea typeface="Consolas" pitchFamily="34" charset="-122"/>
                <a:cs typeface="Consolas" pitchFamily="34" charset="-120"/>
              </a:rPr>
              <a:t>__init__(self, name):
        self.mailbox = queue.Queue()</a:t>
            </a:r>
            <a:r>
              <a:rPr lang="en-US" sz="1250" dirty="0">
                <a:solidFill>
                  <a:srgbClr val="8C8C8C"/>
                </a:solidFill>
                <a:latin typeface="Consolas" pitchFamily="34" charset="0"/>
                <a:ea typeface="Consolas" pitchFamily="34" charset="-122"/>
                <a:cs typeface="Consolas" pitchFamily="34" charset="-120"/>
              </a:rPr>
              <a:t>  # private</a:t>
            </a:r>
            <a:r>
              <a:rPr lang="en-US" sz="1250" dirty="0">
                <a:solidFill>
                  <a:srgbClr val="262626"/>
                </a:solidFill>
                <a:latin typeface="Consolas" pitchFamily="34" charset="0"/>
                <a:ea typeface="Consolas" pitchFamily="34" charset="-122"/>
                <a:cs typeface="Consolas" pitchFamily="34" charset="-120"/>
              </a:rPr>
              <a:t>
</a:t>
            </a:r>
            <a:r>
              <a:rPr lang="en-US" sz="1250" dirty="0">
                <a:solidFill>
                  <a:srgbClr val="1F4E79"/>
                </a:solidFill>
                <a:latin typeface="Consolas" pitchFamily="34" charset="0"/>
                <a:ea typeface="Consolas" pitchFamily="34" charset="-122"/>
                <a:cs typeface="Consolas" pitchFamily="34" charset="-120"/>
              </a:rPr>
              <a:t>    def </a:t>
            </a:r>
            <a:r>
              <a:rPr lang="en-US" sz="1250" dirty="0">
                <a:solidFill>
                  <a:srgbClr val="262626"/>
                </a:solidFill>
                <a:latin typeface="Consolas" pitchFamily="34" charset="0"/>
                <a:ea typeface="Consolas" pitchFamily="34" charset="-122"/>
                <a:cs typeface="Consolas" pitchFamily="34" charset="-120"/>
              </a:rPr>
              <a:t>send(self, message):
        self.mailbox.put(message)
</a:t>
            </a:r>
            <a:r>
              <a:rPr lang="en-US" sz="1250" dirty="0">
                <a:solidFill>
                  <a:srgbClr val="1F4E79"/>
                </a:solidFill>
                <a:latin typeface="Consolas" pitchFamily="34" charset="0"/>
                <a:ea typeface="Consolas" pitchFamily="34" charset="-122"/>
                <a:cs typeface="Consolas" pitchFamily="34" charset="-120"/>
              </a:rPr>
              <a:t>    def </a:t>
            </a:r>
            <a:r>
              <a:rPr lang="en-US" sz="1250" dirty="0">
                <a:solidFill>
                  <a:srgbClr val="262626"/>
                </a:solidFill>
                <a:latin typeface="Consolas" pitchFamily="34" charset="0"/>
                <a:ea typeface="Consolas" pitchFamily="34" charset="-122"/>
                <a:cs typeface="Consolas" pitchFamily="34" charset="-120"/>
              </a:rPr>
              <a:t>run(self):
</a:t>
            </a:r>
            <a:r>
              <a:rPr lang="en-US" sz="1250" dirty="0">
                <a:solidFill>
                  <a:srgbClr val="1F4E79"/>
                </a:solidFill>
                <a:latin typeface="Consolas" pitchFamily="34" charset="0"/>
                <a:ea typeface="Consolas" pitchFamily="34" charset="-122"/>
                <a:cs typeface="Consolas" pitchFamily="34" charset="-120"/>
              </a:rPr>
              <a:t>        while </a:t>
            </a:r>
            <a:r>
              <a:rPr lang="en-US" sz="1250" dirty="0">
                <a:solidFill>
                  <a:srgbClr val="262626"/>
                </a:solidFill>
                <a:latin typeface="Consolas" pitchFamily="34" charset="0"/>
                <a:ea typeface="Consolas" pitchFamily="34" charset="-122"/>
                <a:cs typeface="Consolas" pitchFamily="34" charset="-120"/>
              </a:rPr>
              <a:t>self._running:
            msg = self.mailbox.get()
            self.on_receive(msg)</a:t>
            </a:r>
            <a:r>
              <a:rPr lang="en-US" sz="1250" dirty="0">
                <a:solidFill>
                  <a:srgbClr val="8C8C8C"/>
                </a:solidFill>
                <a:latin typeface="Consolas" pitchFamily="34" charset="0"/>
                <a:ea typeface="Consolas" pitchFamily="34" charset="-122"/>
                <a:cs typeface="Consolas" pitchFamily="34" charset="-120"/>
              </a:rPr>
              <a:t>  # 1 at a time</a:t>
            </a:r>
            <a:r>
              <a:rPr lang="en-US" sz="1250" dirty="0">
                <a:solidFill>
                  <a:srgbClr val="262626"/>
                </a:solidFill>
                <a:latin typeface="Consolas" pitchFamily="34" charset="0"/>
                <a:ea typeface="Consolas" pitchFamily="34" charset="-122"/>
                <a:cs typeface="Consolas" pitchFamily="34" charset="-120"/>
              </a:rPr>
              <a:t>
</a:t>
            </a:r>
            <a:r>
              <a:rPr lang="en-US" sz="1250" dirty="0">
                <a:solidFill>
                  <a:srgbClr val="1F4E79"/>
                </a:solidFill>
                <a:latin typeface="Consolas" pitchFamily="34" charset="0"/>
                <a:ea typeface="Consolas" pitchFamily="34" charset="-122"/>
                <a:cs typeface="Consolas" pitchFamily="34" charset="-120"/>
              </a:rPr>
              <a:t>class </a:t>
            </a:r>
            <a:r>
              <a:rPr lang="en-US" sz="1250" dirty="0">
                <a:solidFill>
                  <a:srgbClr val="8A5A00"/>
                </a:solidFill>
                <a:latin typeface="Consolas" pitchFamily="34" charset="0"/>
                <a:ea typeface="Consolas" pitchFamily="34" charset="-122"/>
                <a:cs typeface="Consolas" pitchFamily="34" charset="-120"/>
              </a:rPr>
              <a:t>Calculator</a:t>
            </a:r>
            <a:r>
              <a:rPr lang="en-US" sz="1250" dirty="0">
                <a:solidFill>
                  <a:srgbClr val="262626"/>
                </a:solidFill>
                <a:latin typeface="Consolas" pitchFamily="34" charset="0"/>
                <a:ea typeface="Consolas" pitchFamily="34" charset="-122"/>
                <a:cs typeface="Consolas" pitchFamily="34" charset="-120"/>
              </a:rPr>
              <a:t>(Actor):
</a:t>
            </a:r>
            <a:r>
              <a:rPr lang="en-US" sz="1250" dirty="0">
                <a:solidFill>
                  <a:srgbClr val="1F4E79"/>
                </a:solidFill>
                <a:latin typeface="Consolas" pitchFamily="34" charset="0"/>
                <a:ea typeface="Consolas" pitchFamily="34" charset="-122"/>
                <a:cs typeface="Consolas" pitchFamily="34" charset="-120"/>
              </a:rPr>
              <a:t>    def </a:t>
            </a:r>
            <a:r>
              <a:rPr lang="en-US" sz="1250" dirty="0">
                <a:solidFill>
                  <a:srgbClr val="262626"/>
                </a:solidFill>
                <a:latin typeface="Consolas" pitchFamily="34" charset="0"/>
                <a:ea typeface="Consolas" pitchFamily="34" charset="-122"/>
                <a:cs typeface="Consolas" pitchFamily="34" charset="-120"/>
              </a:rPr>
              <a:t>on_receive(self, msg):
        n = msg[</a:t>
            </a:r>
            <a:r>
              <a:rPr lang="en-US" sz="1250" dirty="0">
                <a:solidFill>
                  <a:srgbClr val="2E7D32"/>
                </a:solidFill>
                <a:latin typeface="Consolas" pitchFamily="34" charset="0"/>
                <a:ea typeface="Consolas" pitchFamily="34" charset="-122"/>
                <a:cs typeface="Consolas" pitchFamily="34" charset="-120"/>
              </a:rPr>
              <a:t>"value"</a:t>
            </a:r>
            <a:r>
              <a:rPr lang="en-US" sz="1250" dirty="0">
                <a:solidFill>
                  <a:srgbClr val="262626"/>
                </a:solidFill>
                <a:latin typeface="Consolas" pitchFamily="34" charset="0"/>
                <a:ea typeface="Consolas" pitchFamily="34" charset="-122"/>
                <a:cs typeface="Consolas" pitchFamily="34" charset="-120"/>
              </a:rPr>
              <a:t>]
        self.logger.send(
            {</a:t>
            </a:r>
            <a:r>
              <a:rPr lang="en-US" sz="1250" dirty="0">
                <a:solidFill>
                  <a:srgbClr val="2E7D32"/>
                </a:solidFill>
                <a:latin typeface="Consolas" pitchFamily="34" charset="0"/>
                <a:ea typeface="Consolas" pitchFamily="34" charset="-122"/>
                <a:cs typeface="Consolas" pitchFamily="34" charset="-120"/>
              </a:rPr>
              <a:t>"result"</a:t>
            </a:r>
            <a:r>
              <a:rPr lang="en-US" sz="1250" dirty="0">
                <a:solidFill>
                  <a:srgbClr val="262626"/>
                </a:solidFill>
                <a:latin typeface="Consolas" pitchFamily="34" charset="0"/>
                <a:ea typeface="Consolas" pitchFamily="34" charset="-122"/>
                <a:cs typeface="Consolas" pitchFamily="34" charset="-120"/>
              </a:rPr>
              <a:t>: n*n})</a:t>
            </a:r>
            <a:endParaRPr lang="en-US" sz="1250" dirty="0"/>
          </a:p>
        </p:txBody>
      </p:sp>
      <p:pic>
        <p:nvPicPr>
          <p:cNvPr id="6" name="Image 0" descr="preencoded.png"/>
          <p:cNvPicPr>
            <a:picLocks noChangeAspect="1"/>
          </p:cNvPicPr>
          <p:nvPr/>
        </p:nvPicPr>
        <p:blipFill>
          <a:blip r:embed="rId3"/>
          <a:stretch>
            <a:fillRect/>
          </a:stretch>
        </p:blipFill>
        <p:spPr>
          <a:xfrm>
            <a:off x="7635240" y="1581912"/>
            <a:ext cx="310896" cy="310896"/>
          </a:xfrm>
          <a:prstGeom prst="rect">
            <a:avLst/>
          </a:prstGeom>
        </p:spPr>
      </p:pic>
      <p:sp>
        <p:nvSpPr>
          <p:cNvPr id="7" name="Text 4"/>
          <p:cNvSpPr/>
          <p:nvPr/>
        </p:nvSpPr>
        <p:spPr>
          <a:xfrm>
            <a:off x="8138160" y="1508760"/>
            <a:ext cx="3474720" cy="347472"/>
          </a:xfrm>
          <a:prstGeom prst="rect">
            <a:avLst/>
          </a:prstGeom>
          <a:noFill/>
          <a:ln/>
        </p:spPr>
        <p:txBody>
          <a:bodyPr wrap="square"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One private queue</a:t>
            </a:r>
            <a:endParaRPr lang="en-US" sz="1450" dirty="0"/>
          </a:p>
        </p:txBody>
      </p:sp>
      <p:sp>
        <p:nvSpPr>
          <p:cNvPr id="8" name="Text 5"/>
          <p:cNvSpPr/>
          <p:nvPr/>
        </p:nvSpPr>
        <p:spPr>
          <a:xfrm>
            <a:off x="8138160" y="1856232"/>
            <a:ext cx="3611880" cy="731520"/>
          </a:xfrm>
          <a:prstGeom prst="rect">
            <a:avLst/>
          </a:prstGeom>
          <a:noFill/>
          <a:ln/>
        </p:spPr>
        <p:txBody>
          <a:bodyPr wrap="square" rtlCol="0" anchor="ctr"/>
          <a:lstStyle/>
          <a:p>
            <a:pPr marL="0" indent="0">
              <a:lnSpc>
                <a:spcPts val="1500"/>
              </a:lnSpc>
              <a:buNone/>
            </a:pPr>
            <a:r>
              <a:rPr lang="en-US" sz="1200" dirty="0">
                <a:solidFill>
                  <a:srgbClr val="595959"/>
                </a:solidFill>
                <a:latin typeface="Calibri" pitchFamily="34" charset="0"/>
                <a:ea typeface="Calibri" pitchFamily="34" charset="-122"/>
                <a:cs typeface="Calibri" pitchFamily="34" charset="-120"/>
              </a:rPr>
              <a:t>Created per actor in __init__ — nothing is shared.</a:t>
            </a:r>
            <a:endParaRPr lang="en-US" sz="1200" dirty="0"/>
          </a:p>
        </p:txBody>
      </p:sp>
      <p:pic>
        <p:nvPicPr>
          <p:cNvPr id="9" name="Image 1" descr="preencoded.png"/>
          <p:cNvPicPr>
            <a:picLocks noChangeAspect="1"/>
          </p:cNvPicPr>
          <p:nvPr/>
        </p:nvPicPr>
        <p:blipFill>
          <a:blip r:embed="rId4"/>
          <a:stretch>
            <a:fillRect/>
          </a:stretch>
        </p:blipFill>
        <p:spPr>
          <a:xfrm>
            <a:off x="7635240" y="2752344"/>
            <a:ext cx="310896" cy="310896"/>
          </a:xfrm>
          <a:prstGeom prst="rect">
            <a:avLst/>
          </a:prstGeom>
        </p:spPr>
      </p:pic>
      <p:sp>
        <p:nvSpPr>
          <p:cNvPr id="10" name="Text 6"/>
          <p:cNvSpPr/>
          <p:nvPr/>
        </p:nvSpPr>
        <p:spPr>
          <a:xfrm>
            <a:off x="8138160" y="2679192"/>
            <a:ext cx="3474720" cy="347472"/>
          </a:xfrm>
          <a:prstGeom prst="rect">
            <a:avLst/>
          </a:prstGeom>
          <a:noFill/>
          <a:ln/>
        </p:spPr>
        <p:txBody>
          <a:bodyPr wrap="square"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send() = the mailbox</a:t>
            </a:r>
            <a:endParaRPr lang="en-US" sz="1450" dirty="0"/>
          </a:p>
        </p:txBody>
      </p:sp>
      <p:sp>
        <p:nvSpPr>
          <p:cNvPr id="11" name="Text 7"/>
          <p:cNvSpPr/>
          <p:nvPr/>
        </p:nvSpPr>
        <p:spPr>
          <a:xfrm>
            <a:off x="8138160" y="3026664"/>
            <a:ext cx="3611880" cy="731520"/>
          </a:xfrm>
          <a:prstGeom prst="rect">
            <a:avLst/>
          </a:prstGeom>
          <a:noFill/>
          <a:ln/>
        </p:spPr>
        <p:txBody>
          <a:bodyPr wrap="square" rtlCol="0" anchor="ctr"/>
          <a:lstStyle/>
          <a:p>
            <a:pPr marL="0" indent="0">
              <a:lnSpc>
                <a:spcPts val="1500"/>
              </a:lnSpc>
              <a:buNone/>
            </a:pPr>
            <a:r>
              <a:rPr lang="en-US" sz="1200" dirty="0">
                <a:solidFill>
                  <a:srgbClr val="595959"/>
                </a:solidFill>
                <a:latin typeface="Calibri" pitchFamily="34" charset="0"/>
                <a:ea typeface="Calibri" pitchFamily="34" charset="-122"/>
                <a:cs typeface="Calibri" pitchFamily="34" charset="-120"/>
              </a:rPr>
              <a:t>The only public way in: put a message on the queue.</a:t>
            </a:r>
            <a:endParaRPr lang="en-US" sz="1200" dirty="0"/>
          </a:p>
        </p:txBody>
      </p:sp>
      <p:pic>
        <p:nvPicPr>
          <p:cNvPr id="12" name="Image 2" descr="preencoded.png"/>
          <p:cNvPicPr>
            <a:picLocks noChangeAspect="1"/>
          </p:cNvPicPr>
          <p:nvPr/>
        </p:nvPicPr>
        <p:blipFill>
          <a:blip r:embed="rId5"/>
          <a:stretch>
            <a:fillRect/>
          </a:stretch>
        </p:blipFill>
        <p:spPr>
          <a:xfrm>
            <a:off x="7635240" y="3922776"/>
            <a:ext cx="310896" cy="310896"/>
          </a:xfrm>
          <a:prstGeom prst="rect">
            <a:avLst/>
          </a:prstGeom>
        </p:spPr>
      </p:pic>
      <p:sp>
        <p:nvSpPr>
          <p:cNvPr id="13" name="Text 8"/>
          <p:cNvSpPr/>
          <p:nvPr/>
        </p:nvSpPr>
        <p:spPr>
          <a:xfrm>
            <a:off x="8138160" y="3849624"/>
            <a:ext cx="3474720" cy="347472"/>
          </a:xfrm>
          <a:prstGeom prst="rect">
            <a:avLst/>
          </a:prstGeom>
          <a:noFill/>
          <a:ln/>
        </p:spPr>
        <p:txBody>
          <a:bodyPr wrap="square"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run() loops forever</a:t>
            </a:r>
            <a:endParaRPr lang="en-US" sz="1450" dirty="0"/>
          </a:p>
        </p:txBody>
      </p:sp>
      <p:sp>
        <p:nvSpPr>
          <p:cNvPr id="14" name="Text 9"/>
          <p:cNvSpPr/>
          <p:nvPr/>
        </p:nvSpPr>
        <p:spPr>
          <a:xfrm>
            <a:off x="8138160" y="4197096"/>
            <a:ext cx="3611880" cy="731520"/>
          </a:xfrm>
          <a:prstGeom prst="rect">
            <a:avLst/>
          </a:prstGeom>
          <a:noFill/>
          <a:ln/>
        </p:spPr>
        <p:txBody>
          <a:bodyPr wrap="square" rtlCol="0" anchor="ctr"/>
          <a:lstStyle/>
          <a:p>
            <a:pPr marL="0" indent="0">
              <a:lnSpc>
                <a:spcPts val="1500"/>
              </a:lnSpc>
              <a:buNone/>
            </a:pPr>
            <a:r>
              <a:rPr lang="en-US" sz="1200" dirty="0">
                <a:solidFill>
                  <a:srgbClr val="595959"/>
                </a:solidFill>
                <a:latin typeface="Calibri" pitchFamily="34" charset="0"/>
                <a:ea typeface="Calibri" pitchFamily="34" charset="-122"/>
                <a:cs typeface="Calibri" pitchFamily="34" charset="-120"/>
              </a:rPr>
              <a:t>get() blocks, then handles messages one at a time.</a:t>
            </a:r>
            <a:endParaRPr lang="en-US" sz="1200" dirty="0"/>
          </a:p>
        </p:txBody>
      </p:sp>
      <p:pic>
        <p:nvPicPr>
          <p:cNvPr id="15" name="Image 3" descr="preencoded.png"/>
          <p:cNvPicPr>
            <a:picLocks noChangeAspect="1"/>
          </p:cNvPicPr>
          <p:nvPr/>
        </p:nvPicPr>
        <p:blipFill>
          <a:blip r:embed="rId6"/>
          <a:stretch>
            <a:fillRect/>
          </a:stretch>
        </p:blipFill>
        <p:spPr>
          <a:xfrm>
            <a:off x="7635240" y="5093208"/>
            <a:ext cx="310896" cy="310896"/>
          </a:xfrm>
          <a:prstGeom prst="rect">
            <a:avLst/>
          </a:prstGeom>
        </p:spPr>
      </p:pic>
      <p:sp>
        <p:nvSpPr>
          <p:cNvPr id="16" name="Text 10"/>
          <p:cNvSpPr/>
          <p:nvPr/>
        </p:nvSpPr>
        <p:spPr>
          <a:xfrm>
            <a:off x="8138160" y="5020056"/>
            <a:ext cx="3474720" cy="347472"/>
          </a:xfrm>
          <a:prstGeom prst="rect">
            <a:avLst/>
          </a:prstGeom>
          <a:noFill/>
          <a:ln/>
        </p:spPr>
        <p:txBody>
          <a:bodyPr wrap="square"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Subclass = behaviour</a:t>
            </a:r>
            <a:endParaRPr lang="en-US" sz="1450" dirty="0"/>
          </a:p>
        </p:txBody>
      </p:sp>
      <p:sp>
        <p:nvSpPr>
          <p:cNvPr id="17" name="Text 11"/>
          <p:cNvSpPr/>
          <p:nvPr/>
        </p:nvSpPr>
        <p:spPr>
          <a:xfrm>
            <a:off x="8138160" y="5367528"/>
            <a:ext cx="3611880" cy="731520"/>
          </a:xfrm>
          <a:prstGeom prst="rect">
            <a:avLst/>
          </a:prstGeom>
          <a:noFill/>
          <a:ln/>
        </p:spPr>
        <p:txBody>
          <a:bodyPr wrap="square" rtlCol="0" anchor="ctr"/>
          <a:lstStyle/>
          <a:p>
            <a:pPr marL="0" indent="0">
              <a:lnSpc>
                <a:spcPts val="1500"/>
              </a:lnSpc>
              <a:buNone/>
            </a:pPr>
            <a:r>
              <a:rPr lang="en-US" sz="1200" dirty="0">
                <a:solidFill>
                  <a:srgbClr val="595959"/>
                </a:solidFill>
                <a:latin typeface="Calibri" pitchFamily="34" charset="0"/>
                <a:ea typeface="Calibri" pitchFamily="34" charset="-122"/>
                <a:cs typeface="Calibri" pitchFamily="34" charset="-120"/>
              </a:rPr>
              <a:t>Each actor overrides only on_receive().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1 · LIVE RUN</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What it prints when we run it</a:t>
            </a:r>
            <a:endParaRPr lang="en-US" sz="2800" dirty="0"/>
          </a:p>
        </p:txBody>
      </p:sp>
      <p:sp>
        <p:nvSpPr>
          <p:cNvPr id="4" name="Text 2"/>
          <p:cNvSpPr/>
          <p:nvPr/>
        </p:nvSpPr>
        <p:spPr>
          <a:xfrm>
            <a:off x="640080" y="1417320"/>
            <a:ext cx="10908792" cy="457200"/>
          </a:xfrm>
          <a:prstGeom prst="rect">
            <a:avLst/>
          </a:prstGeom>
          <a:noFill/>
          <a:ln/>
        </p:spPr>
        <p:txBody>
          <a:bodyPr wrap="square" rtlCol="0" anchor="ctr"/>
          <a:lstStyle/>
          <a:p>
            <a:pPr marL="0" indent="0">
              <a:buNone/>
            </a:pPr>
            <a:r>
              <a:rPr lang="en-US" sz="1500" dirty="0">
                <a:solidFill>
                  <a:srgbClr val="595959"/>
                </a:solidFill>
                <a:latin typeface="Calibri" pitchFamily="34" charset="0"/>
                <a:ea typeface="Calibri" pitchFamily="34" charset="-122"/>
                <a:cs typeface="Calibri" pitchFamily="34" charset="-120"/>
              </a:rPr>
              <a:t>Every actor prints what it receives and what it processed — so you can watch messages travel A → B → C.</a:t>
            </a:r>
            <a:endParaRPr lang="en-US" sz="1500" dirty="0"/>
          </a:p>
        </p:txBody>
      </p:sp>
      <p:sp>
        <p:nvSpPr>
          <p:cNvPr id="5" name="Shape 3"/>
          <p:cNvSpPr/>
          <p:nvPr/>
        </p:nvSpPr>
        <p:spPr>
          <a:xfrm>
            <a:off x="640080" y="2011680"/>
            <a:ext cx="7635240" cy="4160520"/>
          </a:xfrm>
          <a:prstGeom prst="rect">
            <a:avLst/>
          </a:prstGeom>
          <a:solidFill>
            <a:srgbClr val="222933"/>
          </a:solidFill>
          <a:ln/>
        </p:spPr>
      </p:sp>
      <p:sp>
        <p:nvSpPr>
          <p:cNvPr id="6" name="Text 4"/>
          <p:cNvSpPr/>
          <p:nvPr/>
        </p:nvSpPr>
        <p:spPr>
          <a:xfrm>
            <a:off x="868680" y="2176272"/>
            <a:ext cx="7315200" cy="320040"/>
          </a:xfrm>
          <a:prstGeom prst="rect">
            <a:avLst/>
          </a:prstGeom>
          <a:noFill/>
          <a:ln/>
        </p:spPr>
        <p:txBody>
          <a:bodyPr wrap="square" rtlCol="0" anchor="ctr"/>
          <a:lstStyle/>
          <a:p>
            <a:pPr marL="0" indent="0">
              <a:buNone/>
            </a:pPr>
            <a:r>
              <a:rPr lang="en-US" sz="1250" b="1" dirty="0">
                <a:solidFill>
                  <a:srgbClr val="CFE8D6"/>
                </a:solidFill>
                <a:latin typeface="Consolas" pitchFamily="34" charset="0"/>
                <a:ea typeface="Consolas" pitchFamily="34" charset="-122"/>
                <a:cs typeface="Consolas" pitchFamily="34" charset="-120"/>
              </a:rPr>
              <a:t>$ python actor_model.py</a:t>
            </a:r>
            <a:endParaRPr lang="en-US" sz="1250" dirty="0"/>
          </a:p>
        </p:txBody>
      </p:sp>
      <p:sp>
        <p:nvSpPr>
          <p:cNvPr id="7" name="Text 5"/>
          <p:cNvSpPr/>
          <p:nvPr/>
        </p:nvSpPr>
        <p:spPr>
          <a:xfrm>
            <a:off x="868680" y="2578608"/>
            <a:ext cx="7315200" cy="274320"/>
          </a:xfrm>
          <a:prstGeom prst="rect">
            <a:avLst/>
          </a:prstGeom>
          <a:noFill/>
          <a:ln/>
        </p:spPr>
        <p:txBody>
          <a:bodyPr wrap="square" rtlCol="0" anchor="ctr"/>
          <a:lstStyle/>
          <a:p>
            <a:pPr marL="0" indent="0">
              <a:buNone/>
            </a:pPr>
            <a:r>
              <a:rPr lang="en-US" sz="1100" dirty="0">
                <a:solidFill>
                  <a:srgbClr val="D9DEE6"/>
                </a:solidFill>
                <a:latin typeface="Consolas" pitchFamily="34" charset="0"/>
                <a:ea typeface="Consolas" pitchFamily="34" charset="-122"/>
                <a:cs typeface="Consolas" pitchFamily="34" charset="-120"/>
              </a:rPr>
              <a:t>[Coordinator-A] received : {'type': 'START', ...}</a:t>
            </a:r>
            <a:endParaRPr lang="en-US" sz="1100" dirty="0"/>
          </a:p>
        </p:txBody>
      </p:sp>
      <p:sp>
        <p:nvSpPr>
          <p:cNvPr id="8" name="Text 6"/>
          <p:cNvSpPr/>
          <p:nvPr/>
        </p:nvSpPr>
        <p:spPr>
          <a:xfrm>
            <a:off x="868680" y="2866644"/>
            <a:ext cx="7315200" cy="274320"/>
          </a:xfrm>
          <a:prstGeom prst="rect">
            <a:avLst/>
          </a:prstGeom>
          <a:noFill/>
          <a:ln/>
        </p:spPr>
        <p:txBody>
          <a:bodyPr wrap="square" rtlCol="0" anchor="ctr"/>
          <a:lstStyle/>
          <a:p>
            <a:pPr marL="0" indent="0">
              <a:buNone/>
            </a:pPr>
            <a:r>
              <a:rPr lang="en-US" sz="1100" dirty="0">
                <a:solidFill>
                  <a:srgbClr val="7B828C"/>
                </a:solidFill>
                <a:latin typeface="Consolas" pitchFamily="34" charset="0"/>
                <a:ea typeface="Consolas" pitchFamily="34" charset="-122"/>
                <a:cs typeface="Consolas" pitchFamily="34" charset="-120"/>
              </a:rPr>
              <a:t>[Coordinator-A] processed: dispatching job value=2</a:t>
            </a:r>
            <a:endParaRPr lang="en-US" sz="1100" dirty="0"/>
          </a:p>
        </p:txBody>
      </p:sp>
      <p:sp>
        <p:nvSpPr>
          <p:cNvPr id="9" name="Text 7"/>
          <p:cNvSpPr/>
          <p:nvPr/>
        </p:nvSpPr>
        <p:spPr>
          <a:xfrm>
            <a:off x="868680" y="3154680"/>
            <a:ext cx="7315200" cy="274320"/>
          </a:xfrm>
          <a:prstGeom prst="rect">
            <a:avLst/>
          </a:prstGeom>
          <a:noFill/>
          <a:ln/>
        </p:spPr>
        <p:txBody>
          <a:bodyPr wrap="square" rtlCol="0" anchor="ctr"/>
          <a:lstStyle/>
          <a:p>
            <a:pPr marL="0" indent="0">
              <a:buNone/>
            </a:pPr>
            <a:r>
              <a:rPr lang="en-US" sz="1100" dirty="0">
                <a:solidFill>
                  <a:srgbClr val="7B828C"/>
                </a:solidFill>
                <a:latin typeface="Consolas" pitchFamily="34" charset="0"/>
                <a:ea typeface="Consolas" pitchFamily="34" charset="-122"/>
                <a:cs typeface="Consolas" pitchFamily="34" charset="-120"/>
              </a:rPr>
              <a:t>[Coordinator-A] processed: dispatching job value=3</a:t>
            </a:r>
            <a:endParaRPr lang="en-US" sz="1100" dirty="0"/>
          </a:p>
        </p:txBody>
      </p:sp>
      <p:sp>
        <p:nvSpPr>
          <p:cNvPr id="10" name="Text 8"/>
          <p:cNvSpPr/>
          <p:nvPr/>
        </p:nvSpPr>
        <p:spPr>
          <a:xfrm>
            <a:off x="868680" y="3442716"/>
            <a:ext cx="7315200" cy="274320"/>
          </a:xfrm>
          <a:prstGeom prst="rect">
            <a:avLst/>
          </a:prstGeom>
          <a:noFill/>
          <a:ln/>
        </p:spPr>
        <p:txBody>
          <a:bodyPr wrap="square" rtlCol="0" anchor="ctr"/>
          <a:lstStyle/>
          <a:p>
            <a:pPr marL="0" indent="0">
              <a:buNone/>
            </a:pPr>
            <a:r>
              <a:rPr lang="en-US" sz="1100" dirty="0">
                <a:solidFill>
                  <a:srgbClr val="D9DEE6"/>
                </a:solidFill>
                <a:latin typeface="Consolas" pitchFamily="34" charset="0"/>
                <a:ea typeface="Consolas" pitchFamily="34" charset="-122"/>
                <a:cs typeface="Consolas" pitchFamily="34" charset="-120"/>
              </a:rPr>
              <a:t>[Calculator-B]  received : {'type':'COMPUTE','value':2}</a:t>
            </a:r>
            <a:endParaRPr lang="en-US" sz="1100" dirty="0"/>
          </a:p>
        </p:txBody>
      </p:sp>
      <p:sp>
        <p:nvSpPr>
          <p:cNvPr id="11" name="Text 9"/>
          <p:cNvSpPr/>
          <p:nvPr/>
        </p:nvSpPr>
        <p:spPr>
          <a:xfrm>
            <a:off x="868680" y="3730752"/>
            <a:ext cx="7315200" cy="274320"/>
          </a:xfrm>
          <a:prstGeom prst="rect">
            <a:avLst/>
          </a:prstGeom>
          <a:noFill/>
          <a:ln/>
        </p:spPr>
        <p:txBody>
          <a:bodyPr wrap="square" rtlCol="0" anchor="ctr"/>
          <a:lstStyle/>
          <a:p>
            <a:pPr marL="0" indent="0">
              <a:buNone/>
            </a:pPr>
            <a:r>
              <a:rPr lang="en-US" sz="1100" dirty="0">
                <a:solidFill>
                  <a:srgbClr val="9CD3AE"/>
                </a:solidFill>
                <a:latin typeface="Consolas" pitchFamily="34" charset="0"/>
                <a:ea typeface="Consolas" pitchFamily="34" charset="-122"/>
                <a:cs typeface="Consolas" pitchFamily="34" charset="-120"/>
              </a:rPr>
              <a:t>[Calculator-B]  processed: 2^2 = 4</a:t>
            </a:r>
            <a:endParaRPr lang="en-US" sz="1100" dirty="0"/>
          </a:p>
        </p:txBody>
      </p:sp>
      <p:sp>
        <p:nvSpPr>
          <p:cNvPr id="12" name="Text 10"/>
          <p:cNvSpPr/>
          <p:nvPr/>
        </p:nvSpPr>
        <p:spPr>
          <a:xfrm>
            <a:off x="868680" y="4018788"/>
            <a:ext cx="7315200" cy="274320"/>
          </a:xfrm>
          <a:prstGeom prst="rect">
            <a:avLst/>
          </a:prstGeom>
          <a:noFill/>
          <a:ln/>
        </p:spPr>
        <p:txBody>
          <a:bodyPr wrap="square" rtlCol="0" anchor="ctr"/>
          <a:lstStyle/>
          <a:p>
            <a:pPr marL="0" indent="0">
              <a:buNone/>
            </a:pPr>
            <a:r>
              <a:rPr lang="en-US" sz="1100" dirty="0">
                <a:solidFill>
                  <a:srgbClr val="D9DEE6"/>
                </a:solidFill>
                <a:latin typeface="Consolas" pitchFamily="34" charset="0"/>
                <a:ea typeface="Consolas" pitchFamily="34" charset="-122"/>
                <a:cs typeface="Consolas" pitchFamily="34" charset="-120"/>
              </a:rPr>
              <a:t>[Calculator-B]  received : {'type':'COMPUTE','value':3}</a:t>
            </a:r>
            <a:endParaRPr lang="en-US" sz="1100" dirty="0"/>
          </a:p>
        </p:txBody>
      </p:sp>
      <p:sp>
        <p:nvSpPr>
          <p:cNvPr id="13" name="Text 11"/>
          <p:cNvSpPr/>
          <p:nvPr/>
        </p:nvSpPr>
        <p:spPr>
          <a:xfrm>
            <a:off x="868680" y="4306824"/>
            <a:ext cx="7315200" cy="274320"/>
          </a:xfrm>
          <a:prstGeom prst="rect">
            <a:avLst/>
          </a:prstGeom>
          <a:noFill/>
          <a:ln/>
        </p:spPr>
        <p:txBody>
          <a:bodyPr wrap="square" rtlCol="0" anchor="ctr"/>
          <a:lstStyle/>
          <a:p>
            <a:pPr marL="0" indent="0">
              <a:buNone/>
            </a:pPr>
            <a:r>
              <a:rPr lang="en-US" sz="1100" dirty="0">
                <a:solidFill>
                  <a:srgbClr val="9CD3AE"/>
                </a:solidFill>
                <a:latin typeface="Consolas" pitchFamily="34" charset="0"/>
                <a:ea typeface="Consolas" pitchFamily="34" charset="-122"/>
                <a:cs typeface="Consolas" pitchFamily="34" charset="-120"/>
              </a:rPr>
              <a:t>[Calculator-B]  processed: 3^2 = 9</a:t>
            </a:r>
            <a:endParaRPr lang="en-US" sz="1100" dirty="0"/>
          </a:p>
        </p:txBody>
      </p:sp>
      <p:sp>
        <p:nvSpPr>
          <p:cNvPr id="14" name="Text 12"/>
          <p:cNvSpPr/>
          <p:nvPr/>
        </p:nvSpPr>
        <p:spPr>
          <a:xfrm>
            <a:off x="868680" y="4594860"/>
            <a:ext cx="7315200" cy="274320"/>
          </a:xfrm>
          <a:prstGeom prst="rect">
            <a:avLst/>
          </a:prstGeom>
          <a:noFill/>
          <a:ln/>
        </p:spPr>
        <p:txBody>
          <a:bodyPr wrap="square" rtlCol="0" anchor="ctr"/>
          <a:lstStyle/>
          <a:p>
            <a:pPr marL="0" indent="0">
              <a:buNone/>
            </a:pPr>
            <a:r>
              <a:rPr lang="en-US" sz="1100" dirty="0">
                <a:solidFill>
                  <a:srgbClr val="D9DEE6"/>
                </a:solidFill>
                <a:latin typeface="Consolas" pitchFamily="34" charset="0"/>
                <a:ea typeface="Consolas" pitchFamily="34" charset="-122"/>
                <a:cs typeface="Consolas" pitchFamily="34" charset="-120"/>
              </a:rPr>
              <a:t>[Logger-C]      received : {'type':'LOG','result':4}</a:t>
            </a:r>
            <a:endParaRPr lang="en-US" sz="1100" dirty="0"/>
          </a:p>
        </p:txBody>
      </p:sp>
      <p:sp>
        <p:nvSpPr>
          <p:cNvPr id="15" name="Text 13"/>
          <p:cNvSpPr/>
          <p:nvPr/>
        </p:nvSpPr>
        <p:spPr>
          <a:xfrm>
            <a:off x="868680" y="4882896"/>
            <a:ext cx="7315200" cy="274320"/>
          </a:xfrm>
          <a:prstGeom prst="rect">
            <a:avLst/>
          </a:prstGeom>
          <a:noFill/>
          <a:ln/>
        </p:spPr>
        <p:txBody>
          <a:bodyPr wrap="square" rtlCol="0" anchor="ctr"/>
          <a:lstStyle/>
          <a:p>
            <a:pPr marL="0" indent="0">
              <a:buNone/>
            </a:pPr>
            <a:r>
              <a:rPr lang="en-US" sz="1100" dirty="0">
                <a:solidFill>
                  <a:srgbClr val="E0C79A"/>
                </a:solidFill>
                <a:latin typeface="Consolas" pitchFamily="34" charset="0"/>
                <a:ea typeface="Consolas" pitchFamily="34" charset="-122"/>
                <a:cs typeface="Consolas" pitchFamily="34" charset="-120"/>
              </a:rPr>
              <a:t>[Logger-C]      processed: LOG -&gt; 2^2 = 4</a:t>
            </a:r>
            <a:endParaRPr lang="en-US" sz="1100" dirty="0"/>
          </a:p>
        </p:txBody>
      </p:sp>
      <p:sp>
        <p:nvSpPr>
          <p:cNvPr id="16" name="Text 14"/>
          <p:cNvSpPr/>
          <p:nvPr/>
        </p:nvSpPr>
        <p:spPr>
          <a:xfrm>
            <a:off x="868680" y="5170932"/>
            <a:ext cx="7315200" cy="274320"/>
          </a:xfrm>
          <a:prstGeom prst="rect">
            <a:avLst/>
          </a:prstGeom>
          <a:noFill/>
          <a:ln/>
        </p:spPr>
        <p:txBody>
          <a:bodyPr wrap="square" rtlCol="0" anchor="ctr"/>
          <a:lstStyle/>
          <a:p>
            <a:pPr marL="0" indent="0">
              <a:buNone/>
            </a:pPr>
            <a:r>
              <a:rPr lang="en-US" sz="1100" dirty="0">
                <a:solidFill>
                  <a:srgbClr val="E0C79A"/>
                </a:solidFill>
                <a:latin typeface="Consolas" pitchFamily="34" charset="0"/>
                <a:ea typeface="Consolas" pitchFamily="34" charset="-122"/>
                <a:cs typeface="Consolas" pitchFamily="34" charset="-120"/>
              </a:rPr>
              <a:t>[Logger-C]      processed: LOG -&gt; 3^2 = 9</a:t>
            </a:r>
            <a:endParaRPr lang="en-US" sz="1100" dirty="0"/>
          </a:p>
        </p:txBody>
      </p:sp>
      <p:sp>
        <p:nvSpPr>
          <p:cNvPr id="17" name="Text 15"/>
          <p:cNvSpPr/>
          <p:nvPr/>
        </p:nvSpPr>
        <p:spPr>
          <a:xfrm>
            <a:off x="868680" y="5458968"/>
            <a:ext cx="7315200" cy="274320"/>
          </a:xfrm>
          <a:prstGeom prst="rect">
            <a:avLst/>
          </a:prstGeom>
          <a:noFill/>
          <a:ln/>
        </p:spPr>
        <p:txBody>
          <a:bodyPr wrap="square" rtlCol="0" anchor="ctr"/>
          <a:lstStyle/>
          <a:p>
            <a:pPr marL="0" indent="0">
              <a:buNone/>
            </a:pPr>
            <a:r>
              <a:rPr lang="en-US" sz="1100" dirty="0">
                <a:solidFill>
                  <a:srgbClr val="7B828C"/>
                </a:solidFill>
                <a:latin typeface="Consolas" pitchFamily="34" charset="0"/>
                <a:ea typeface="Consolas" pitchFamily="34" charset="-122"/>
                <a:cs typeface="Consolas" pitchFamily="34" charset="-120"/>
              </a:rPr>
              <a:t>...</a:t>
            </a:r>
            <a:endParaRPr lang="en-US" sz="1100" dirty="0"/>
          </a:p>
        </p:txBody>
      </p:sp>
      <p:sp>
        <p:nvSpPr>
          <p:cNvPr id="18" name="Text 16"/>
          <p:cNvSpPr/>
          <p:nvPr/>
        </p:nvSpPr>
        <p:spPr>
          <a:xfrm>
            <a:off x="868680" y="5747004"/>
            <a:ext cx="7315200" cy="274320"/>
          </a:xfrm>
          <a:prstGeom prst="rect">
            <a:avLst/>
          </a:prstGeom>
          <a:noFill/>
          <a:ln/>
        </p:spPr>
        <p:txBody>
          <a:bodyPr wrap="square" rtlCol="0" anchor="ctr"/>
          <a:lstStyle/>
          <a:p>
            <a:pPr marL="0" indent="0">
              <a:buNone/>
            </a:pPr>
            <a:r>
              <a:rPr lang="en-US" sz="1100" dirty="0">
                <a:solidFill>
                  <a:srgbClr val="9CD3AE"/>
                </a:solidFill>
                <a:latin typeface="Consolas" pitchFamily="34" charset="0"/>
                <a:ea typeface="Consolas" pitchFamily="34" charset="-122"/>
                <a:cs typeface="Consolas" pitchFamily="34" charset="-120"/>
              </a:rPr>
              <a:t>All actors stopped. Program finished cleanly.</a:t>
            </a:r>
            <a:endParaRPr lang="en-US" sz="1100" dirty="0"/>
          </a:p>
        </p:txBody>
      </p:sp>
      <p:sp>
        <p:nvSpPr>
          <p:cNvPr id="19" name="Shape 17"/>
          <p:cNvSpPr/>
          <p:nvPr/>
        </p:nvSpPr>
        <p:spPr>
          <a:xfrm>
            <a:off x="8503920" y="2011680"/>
            <a:ext cx="3044952" cy="4160520"/>
          </a:xfrm>
          <a:prstGeom prst="rect">
            <a:avLst/>
          </a:prstGeom>
          <a:solidFill>
            <a:srgbClr val="F3F4F6"/>
          </a:solidFill>
          <a:ln w="12700">
            <a:solidFill>
              <a:srgbClr val="D4D4D4"/>
            </a:solidFill>
            <a:prstDash val="solid"/>
          </a:ln>
        </p:spPr>
      </p:sp>
      <p:sp>
        <p:nvSpPr>
          <p:cNvPr id="20" name="Text 18"/>
          <p:cNvSpPr/>
          <p:nvPr/>
        </p:nvSpPr>
        <p:spPr>
          <a:xfrm>
            <a:off x="8732520" y="2212848"/>
            <a:ext cx="2606040" cy="274320"/>
          </a:xfrm>
          <a:prstGeom prst="rect">
            <a:avLst/>
          </a:prstGeom>
          <a:noFill/>
          <a:ln/>
        </p:spPr>
        <p:txBody>
          <a:bodyPr wrap="square" rtlCol="0" anchor="ctr"/>
          <a:lstStyle/>
          <a:p>
            <a:pPr marL="0" indent="0">
              <a:buNone/>
            </a:pPr>
            <a:r>
              <a:rPr lang="en-US" sz="1150" b="1" kern="0" spc="100" dirty="0">
                <a:solidFill>
                  <a:srgbClr val="1F4E79"/>
                </a:solidFill>
                <a:latin typeface="Calibri" pitchFamily="34" charset="0"/>
                <a:ea typeface="Calibri" pitchFamily="34" charset="-122"/>
                <a:cs typeface="Calibri" pitchFamily="34" charset="-120"/>
              </a:rPr>
              <a:t>READING THE OUTPUT</a:t>
            </a:r>
            <a:endParaRPr lang="en-US" sz="1150" dirty="0"/>
          </a:p>
        </p:txBody>
      </p:sp>
      <p:sp>
        <p:nvSpPr>
          <p:cNvPr id="21" name="Text 19"/>
          <p:cNvSpPr/>
          <p:nvPr/>
        </p:nvSpPr>
        <p:spPr>
          <a:xfrm>
            <a:off x="8732520" y="2697480"/>
            <a:ext cx="2606040" cy="822960"/>
          </a:xfrm>
          <a:prstGeom prst="rect">
            <a:avLst/>
          </a:prstGeom>
          <a:noFill/>
          <a:ln/>
        </p:spPr>
        <p:txBody>
          <a:bodyPr wrap="square" rtlCol="0" anchor="ctr"/>
          <a:lstStyle/>
          <a:p>
            <a:pPr marL="152400" indent="-152400">
              <a:lnSpc>
                <a:spcPts val="1500"/>
              </a:lnSpc>
              <a:buSzPct val="100000"/>
              <a:buChar char="•"/>
            </a:pPr>
            <a:r>
              <a:rPr lang="en-US" sz="1250" dirty="0">
                <a:solidFill>
                  <a:srgbClr val="262626"/>
                </a:solidFill>
                <a:latin typeface="Calibri" pitchFamily="34" charset="0"/>
                <a:ea typeface="Calibri" pitchFamily="34" charset="-122"/>
                <a:cs typeface="Calibri" pitchFamily="34" charset="-120"/>
              </a:rPr>
              <a:t>Each line is tagged with the actor that produced it.</a:t>
            </a:r>
            <a:endParaRPr lang="en-US" sz="1250" dirty="0"/>
          </a:p>
        </p:txBody>
      </p:sp>
      <p:sp>
        <p:nvSpPr>
          <p:cNvPr id="22" name="Text 20"/>
          <p:cNvSpPr/>
          <p:nvPr/>
        </p:nvSpPr>
        <p:spPr>
          <a:xfrm>
            <a:off x="8732520" y="3566160"/>
            <a:ext cx="2606040" cy="822960"/>
          </a:xfrm>
          <a:prstGeom prst="rect">
            <a:avLst/>
          </a:prstGeom>
          <a:noFill/>
          <a:ln/>
        </p:spPr>
        <p:txBody>
          <a:bodyPr wrap="square" rtlCol="0" anchor="ctr"/>
          <a:lstStyle/>
          <a:p>
            <a:pPr marL="152400" indent="-152400">
              <a:lnSpc>
                <a:spcPts val="1500"/>
              </a:lnSpc>
              <a:buSzPct val="100000"/>
              <a:buChar char="•"/>
            </a:pPr>
            <a:r>
              <a:rPr lang="en-US" sz="1250" dirty="0">
                <a:solidFill>
                  <a:srgbClr val="262626"/>
                </a:solidFill>
                <a:latin typeface="Calibri" pitchFamily="34" charset="0"/>
                <a:ea typeface="Calibri" pitchFamily="34" charset="-122"/>
                <a:cs typeface="Calibri" pitchFamily="34" charset="-120"/>
              </a:rPr>
              <a:t>'received' then 'processed' shows sequential handling.</a:t>
            </a:r>
            <a:endParaRPr lang="en-US" sz="1250" dirty="0"/>
          </a:p>
        </p:txBody>
      </p:sp>
      <p:sp>
        <p:nvSpPr>
          <p:cNvPr id="23" name="Text 21"/>
          <p:cNvSpPr/>
          <p:nvPr/>
        </p:nvSpPr>
        <p:spPr>
          <a:xfrm>
            <a:off x="8732520" y="4434840"/>
            <a:ext cx="2606040" cy="822960"/>
          </a:xfrm>
          <a:prstGeom prst="rect">
            <a:avLst/>
          </a:prstGeom>
          <a:noFill/>
          <a:ln/>
        </p:spPr>
        <p:txBody>
          <a:bodyPr wrap="square" rtlCol="0" anchor="ctr"/>
          <a:lstStyle/>
          <a:p>
            <a:pPr marL="152400" indent="-152400">
              <a:lnSpc>
                <a:spcPts val="1500"/>
              </a:lnSpc>
              <a:buSzPct val="100000"/>
              <a:buChar char="•"/>
            </a:pPr>
            <a:r>
              <a:rPr lang="en-US" sz="1250" dirty="0">
                <a:solidFill>
                  <a:srgbClr val="262626"/>
                </a:solidFill>
                <a:latin typeface="Calibri" pitchFamily="34" charset="0"/>
                <a:ea typeface="Calibri" pitchFamily="34" charset="-122"/>
                <a:cs typeface="Calibri" pitchFamily="34" charset="-120"/>
              </a:rPr>
              <a:t>Order within one actor is always preserved.</a:t>
            </a:r>
            <a:endParaRPr lang="en-US" sz="1250" dirty="0"/>
          </a:p>
        </p:txBody>
      </p:sp>
      <p:sp>
        <p:nvSpPr>
          <p:cNvPr id="24" name="Text 22"/>
          <p:cNvSpPr/>
          <p:nvPr/>
        </p:nvSpPr>
        <p:spPr>
          <a:xfrm>
            <a:off x="8732520" y="5303520"/>
            <a:ext cx="2606040" cy="822960"/>
          </a:xfrm>
          <a:prstGeom prst="rect">
            <a:avLst/>
          </a:prstGeom>
          <a:noFill/>
          <a:ln/>
        </p:spPr>
        <p:txBody>
          <a:bodyPr wrap="square" rtlCol="0" anchor="ctr"/>
          <a:lstStyle/>
          <a:p>
            <a:pPr marL="152400" indent="-152400">
              <a:lnSpc>
                <a:spcPts val="1500"/>
              </a:lnSpc>
              <a:buSzPct val="100000"/>
              <a:buChar char="•"/>
            </a:pPr>
            <a:r>
              <a:rPr lang="en-US" sz="1250" dirty="0">
                <a:solidFill>
                  <a:srgbClr val="262626"/>
                </a:solidFill>
                <a:latin typeface="Calibri" pitchFamily="34" charset="0"/>
                <a:ea typeface="Calibri" pitchFamily="34" charset="-122"/>
                <a:cs typeface="Calibri" pitchFamily="34" charset="-120"/>
              </a:rPr>
              <a:t>Actors run in parallel, yet never corrupt shared data — because there is none.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6"/>
        </a:solidFill>
        <a:effectLst/>
      </p:bgPr>
    </p:bg>
    <p:spTree>
      <p:nvGrpSpPr>
        <p:cNvPr id="1" name=""/>
        <p:cNvGrpSpPr/>
        <p:nvPr/>
      </p:nvGrpSpPr>
      <p:grpSpPr>
        <a:xfrm>
          <a:off x="0" y="0"/>
          <a:ext cx="0" cy="0"/>
          <a:chOff x="0" y="0"/>
          <a:chExt cx="0" cy="0"/>
        </a:xfrm>
      </p:grpSpPr>
      <p:sp>
        <p:nvSpPr>
          <p:cNvPr id="2" name="Text 0"/>
          <p:cNvSpPr/>
          <p:nvPr/>
        </p:nvSpPr>
        <p:spPr>
          <a:xfrm>
            <a:off x="640080" y="2331720"/>
            <a:ext cx="10908792" cy="320040"/>
          </a:xfrm>
          <a:prstGeom prst="rect">
            <a:avLst/>
          </a:prstGeom>
          <a:noFill/>
          <a:ln/>
        </p:spPr>
        <p:txBody>
          <a:bodyPr wrap="square" rtlCol="0" anchor="ctr"/>
          <a:lstStyle/>
          <a:p>
            <a:pPr marL="0" indent="0">
              <a:buNone/>
            </a:pPr>
            <a:r>
              <a:rPr lang="en-US" sz="1300" b="1" kern="0" spc="150" dirty="0">
                <a:solidFill>
                  <a:srgbClr val="1F4E79"/>
                </a:solidFill>
                <a:latin typeface="Calibri" pitchFamily="34" charset="0"/>
                <a:ea typeface="Calibri" pitchFamily="34" charset="-122"/>
                <a:cs typeface="Calibri" pitchFamily="34" charset="-120"/>
              </a:rPr>
              <a:t>PART 2  ·  ANALYSED</a:t>
            </a:r>
            <a:endParaRPr lang="en-US" sz="1300" dirty="0"/>
          </a:p>
        </p:txBody>
      </p:sp>
      <p:sp>
        <p:nvSpPr>
          <p:cNvPr id="3" name="Shape 1"/>
          <p:cNvSpPr/>
          <p:nvPr/>
        </p:nvSpPr>
        <p:spPr>
          <a:xfrm>
            <a:off x="640080" y="2743200"/>
            <a:ext cx="3291840" cy="0"/>
          </a:xfrm>
          <a:prstGeom prst="line">
            <a:avLst/>
          </a:prstGeom>
          <a:noFill/>
          <a:ln w="12700">
            <a:solidFill>
              <a:srgbClr val="D4D4D4"/>
            </a:solidFill>
            <a:prstDash val="solid"/>
          </a:ln>
        </p:spPr>
      </p:sp>
      <p:sp>
        <p:nvSpPr>
          <p:cNvPr id="4" name="Text 2"/>
          <p:cNvSpPr/>
          <p:nvPr/>
        </p:nvSpPr>
        <p:spPr>
          <a:xfrm>
            <a:off x="640080" y="2880360"/>
            <a:ext cx="9601200" cy="822960"/>
          </a:xfrm>
          <a:prstGeom prst="rect">
            <a:avLst/>
          </a:prstGeom>
          <a:noFill/>
          <a:ln/>
        </p:spPr>
        <p:txBody>
          <a:bodyPr wrap="square" rtlCol="0" anchor="ctr"/>
          <a:lstStyle/>
          <a:p>
            <a:pPr marL="0" indent="0">
              <a:buNone/>
            </a:pPr>
            <a:r>
              <a:rPr lang="en-US" sz="3600" b="1" dirty="0">
                <a:solidFill>
                  <a:srgbClr val="262626"/>
                </a:solidFill>
                <a:latin typeface="Calibri" pitchFamily="34" charset="0"/>
                <a:ea typeface="Calibri" pitchFamily="34" charset="-122"/>
                <a:cs typeface="Calibri" pitchFamily="34" charset="-120"/>
              </a:rPr>
              <a:t>Shared-Memory Threads</a:t>
            </a:r>
            <a:endParaRPr lang="en-US" sz="3600" dirty="0"/>
          </a:p>
        </p:txBody>
      </p:sp>
      <p:sp>
        <p:nvSpPr>
          <p:cNvPr id="5" name="Text 3"/>
          <p:cNvSpPr/>
          <p:nvPr/>
        </p:nvSpPr>
        <p:spPr>
          <a:xfrm>
            <a:off x="640080" y="3840480"/>
            <a:ext cx="8229600" cy="822960"/>
          </a:xfrm>
          <a:prstGeom prst="rect">
            <a:avLst/>
          </a:prstGeom>
          <a:noFill/>
          <a:ln/>
        </p:spPr>
        <p:txBody>
          <a:bodyPr wrap="square" rtlCol="0" anchor="ctr"/>
          <a:lstStyle/>
          <a:p>
            <a:pPr marL="0" indent="0">
              <a:lnSpc>
                <a:spcPts val="2300"/>
              </a:lnSpc>
              <a:buNone/>
            </a:pPr>
            <a:r>
              <a:rPr lang="en-US" sz="1600" dirty="0">
                <a:solidFill>
                  <a:srgbClr val="595959"/>
                </a:solidFill>
                <a:latin typeface="Calibri" pitchFamily="34" charset="0"/>
                <a:ea typeface="Calibri" pitchFamily="34" charset="-122"/>
                <a:cs typeface="Calibri" pitchFamily="34" charset="-120"/>
              </a:rPr>
              <a:t>The opposite approach: many threads share one memory space — fast, but it must be protected with careful synchronisation.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2 · CONCEPT</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What shared-memory concurrency means</a:t>
            </a:r>
            <a:endParaRPr lang="en-US" sz="2800" dirty="0"/>
          </a:p>
        </p:txBody>
      </p:sp>
      <p:sp>
        <p:nvSpPr>
          <p:cNvPr id="4" name="Text 2"/>
          <p:cNvSpPr/>
          <p:nvPr/>
        </p:nvSpPr>
        <p:spPr>
          <a:xfrm>
            <a:off x="640080" y="1417320"/>
            <a:ext cx="10908792" cy="548640"/>
          </a:xfrm>
          <a:prstGeom prst="rect">
            <a:avLst/>
          </a:prstGeom>
          <a:noFill/>
          <a:ln/>
        </p:spPr>
        <p:txBody>
          <a:bodyPr wrap="square" rtlCol="0" anchor="ctr"/>
          <a:lstStyle/>
          <a:p>
            <a:pPr marL="0" indent="0">
              <a:lnSpc>
                <a:spcPts val="2100"/>
              </a:lnSpc>
              <a:buNone/>
            </a:pPr>
            <a:r>
              <a:rPr lang="en-US" sz="1550" dirty="0">
                <a:solidFill>
                  <a:srgbClr val="595959"/>
                </a:solidFill>
                <a:latin typeface="Calibri" pitchFamily="34" charset="0"/>
                <a:ea typeface="Calibri" pitchFamily="34" charset="-122"/>
                <a:cs typeface="Calibri" pitchFamily="34" charset="-120"/>
              </a:rPr>
              <a:t>Multiple threads live in the same process and see the same variables. Communication happens by writing to and reading from that shared memory — not by messages.</a:t>
            </a:r>
            <a:endParaRPr lang="en-US" sz="1550" dirty="0"/>
          </a:p>
        </p:txBody>
      </p:sp>
      <p:sp>
        <p:nvSpPr>
          <p:cNvPr id="5" name="Shape 3"/>
          <p:cNvSpPr/>
          <p:nvPr/>
        </p:nvSpPr>
        <p:spPr>
          <a:xfrm>
            <a:off x="4709160" y="2743200"/>
            <a:ext cx="2743200" cy="1691640"/>
          </a:xfrm>
          <a:prstGeom prst="rect">
            <a:avLst/>
          </a:prstGeom>
          <a:solidFill>
            <a:srgbClr val="F3E4E2"/>
          </a:solidFill>
          <a:ln w="15875">
            <a:solidFill>
              <a:srgbClr val="A6342E"/>
            </a:solidFill>
            <a:prstDash val="solid"/>
          </a:ln>
        </p:spPr>
      </p:sp>
      <p:sp>
        <p:nvSpPr>
          <p:cNvPr id="6" name="Text 4"/>
          <p:cNvSpPr/>
          <p:nvPr/>
        </p:nvSpPr>
        <p:spPr>
          <a:xfrm>
            <a:off x="4709160" y="2926080"/>
            <a:ext cx="2743200" cy="457200"/>
          </a:xfrm>
          <a:prstGeom prst="rect">
            <a:avLst/>
          </a:prstGeom>
          <a:noFill/>
          <a:ln/>
        </p:spPr>
        <p:txBody>
          <a:bodyPr wrap="square"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SHARED MEMORY</a:t>
            </a:r>
            <a:endParaRPr lang="en-US" sz="1500" dirty="0"/>
          </a:p>
        </p:txBody>
      </p:sp>
      <p:sp>
        <p:nvSpPr>
          <p:cNvPr id="7" name="Text 5"/>
          <p:cNvSpPr/>
          <p:nvPr/>
        </p:nvSpPr>
        <p:spPr>
          <a:xfrm>
            <a:off x="4709160" y="3566160"/>
            <a:ext cx="2743200" cy="502920"/>
          </a:xfrm>
          <a:prstGeom prst="rect">
            <a:avLst/>
          </a:prstGeom>
          <a:noFill/>
          <a:ln/>
        </p:spPr>
        <p:txBody>
          <a:bodyPr wrap="square" rtlCol="0" anchor="ctr"/>
          <a:lstStyle/>
          <a:p>
            <a:pPr marL="0" indent="0" algn="ctr">
              <a:buNone/>
            </a:pPr>
            <a:r>
              <a:rPr lang="en-US" sz="1500" b="1" dirty="0">
                <a:solidFill>
                  <a:srgbClr val="A6342E"/>
                </a:solidFill>
                <a:latin typeface="Consolas" pitchFamily="34" charset="0"/>
                <a:ea typeface="Consolas" pitchFamily="34" charset="-122"/>
                <a:cs typeface="Consolas" pitchFamily="34" charset="-120"/>
              </a:rPr>
              <a:t>counter = 0</a:t>
            </a:r>
            <a:endParaRPr lang="en-US" sz="1500" dirty="0"/>
          </a:p>
        </p:txBody>
      </p:sp>
      <p:sp>
        <p:nvSpPr>
          <p:cNvPr id="8" name="Shape 6"/>
          <p:cNvSpPr/>
          <p:nvPr/>
        </p:nvSpPr>
        <p:spPr>
          <a:xfrm>
            <a:off x="1234440" y="2880360"/>
            <a:ext cx="2377440" cy="1417320"/>
          </a:xfrm>
          <a:prstGeom prst="rect">
            <a:avLst/>
          </a:prstGeom>
          <a:solidFill>
            <a:srgbClr val="FFFFFF"/>
          </a:solidFill>
          <a:ln w="15875">
            <a:solidFill>
              <a:srgbClr val="D4D4D4"/>
            </a:solidFill>
            <a:prstDash val="solid"/>
          </a:ln>
        </p:spPr>
      </p:sp>
      <p:sp>
        <p:nvSpPr>
          <p:cNvPr id="9" name="Text 7"/>
          <p:cNvSpPr/>
          <p:nvPr/>
        </p:nvSpPr>
        <p:spPr>
          <a:xfrm>
            <a:off x="1234440" y="3063240"/>
            <a:ext cx="2377440" cy="457200"/>
          </a:xfrm>
          <a:prstGeom prst="rect">
            <a:avLst/>
          </a:prstGeom>
          <a:noFill/>
          <a:ln/>
        </p:spPr>
        <p:txBody>
          <a:bodyPr wrap="square"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Thread A</a:t>
            </a:r>
            <a:endParaRPr lang="en-US" sz="1600" dirty="0"/>
          </a:p>
        </p:txBody>
      </p:sp>
      <p:sp>
        <p:nvSpPr>
          <p:cNvPr id="10" name="Text 8"/>
          <p:cNvSpPr/>
          <p:nvPr/>
        </p:nvSpPr>
        <p:spPr>
          <a:xfrm>
            <a:off x="1234440" y="3520440"/>
            <a:ext cx="2377440" cy="640080"/>
          </a:xfrm>
          <a:prstGeom prst="rect">
            <a:avLst/>
          </a:prstGeom>
          <a:noFill/>
          <a:ln/>
        </p:spPr>
        <p:txBody>
          <a:bodyPr wrap="square" rtlCol="0" anchor="ctr"/>
          <a:lstStyle/>
          <a:p>
            <a:pPr marL="0" indent="0" algn="ctr">
              <a:lnSpc>
                <a:spcPts val="1500"/>
              </a:lnSpc>
              <a:buNone/>
            </a:pPr>
            <a:r>
              <a:rPr lang="en-US" sz="1200" dirty="0">
                <a:solidFill>
                  <a:srgbClr val="595959"/>
                </a:solidFill>
                <a:latin typeface="Calibri" pitchFamily="34" charset="0"/>
                <a:ea typeface="Calibri" pitchFamily="34" charset="-122"/>
                <a:cs typeface="Calibri" pitchFamily="34" charset="-120"/>
              </a:rPr>
              <a:t>reads &amp; writes</a:t>
            </a:r>
            <a:endParaRPr lang="en-US" sz="1200" dirty="0"/>
          </a:p>
          <a:p>
            <a:pPr marL="0" indent="0" algn="ctr">
              <a:lnSpc>
                <a:spcPts val="1500"/>
              </a:lnSpc>
              <a:buNone/>
            </a:pPr>
            <a:r>
              <a:rPr lang="en-US" sz="1200" dirty="0">
                <a:solidFill>
                  <a:srgbClr val="595959"/>
                </a:solidFill>
                <a:latin typeface="Calibri" pitchFamily="34" charset="0"/>
                <a:ea typeface="Calibri" pitchFamily="34" charset="-122"/>
                <a:cs typeface="Calibri" pitchFamily="34" charset="-120"/>
              </a:rPr>
              <a:t>the counter</a:t>
            </a:r>
            <a:endParaRPr lang="en-US" sz="1200" dirty="0"/>
          </a:p>
        </p:txBody>
      </p:sp>
      <p:sp>
        <p:nvSpPr>
          <p:cNvPr id="11" name="Shape 9"/>
          <p:cNvSpPr/>
          <p:nvPr/>
        </p:nvSpPr>
        <p:spPr>
          <a:xfrm>
            <a:off x="8229600" y="2880360"/>
            <a:ext cx="2377440" cy="1417320"/>
          </a:xfrm>
          <a:prstGeom prst="rect">
            <a:avLst/>
          </a:prstGeom>
          <a:solidFill>
            <a:srgbClr val="FFFFFF"/>
          </a:solidFill>
          <a:ln w="15875">
            <a:solidFill>
              <a:srgbClr val="D4D4D4"/>
            </a:solidFill>
            <a:prstDash val="solid"/>
          </a:ln>
        </p:spPr>
      </p:sp>
      <p:sp>
        <p:nvSpPr>
          <p:cNvPr id="12" name="Text 10"/>
          <p:cNvSpPr/>
          <p:nvPr/>
        </p:nvSpPr>
        <p:spPr>
          <a:xfrm>
            <a:off x="8229600" y="3063240"/>
            <a:ext cx="2377440" cy="457200"/>
          </a:xfrm>
          <a:prstGeom prst="rect">
            <a:avLst/>
          </a:prstGeom>
          <a:noFill/>
          <a:ln/>
        </p:spPr>
        <p:txBody>
          <a:bodyPr wrap="square"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Thread B</a:t>
            </a:r>
            <a:endParaRPr lang="en-US" sz="1600" dirty="0"/>
          </a:p>
        </p:txBody>
      </p:sp>
      <p:sp>
        <p:nvSpPr>
          <p:cNvPr id="13" name="Text 11"/>
          <p:cNvSpPr/>
          <p:nvPr/>
        </p:nvSpPr>
        <p:spPr>
          <a:xfrm>
            <a:off x="8229600" y="3520440"/>
            <a:ext cx="2377440" cy="640080"/>
          </a:xfrm>
          <a:prstGeom prst="rect">
            <a:avLst/>
          </a:prstGeom>
          <a:noFill/>
          <a:ln/>
        </p:spPr>
        <p:txBody>
          <a:bodyPr wrap="square" rtlCol="0" anchor="ctr"/>
          <a:lstStyle/>
          <a:p>
            <a:pPr marL="0" indent="0" algn="ctr">
              <a:lnSpc>
                <a:spcPts val="1500"/>
              </a:lnSpc>
              <a:buNone/>
            </a:pPr>
            <a:r>
              <a:rPr lang="en-US" sz="1200" dirty="0">
                <a:solidFill>
                  <a:srgbClr val="595959"/>
                </a:solidFill>
                <a:latin typeface="Calibri" pitchFamily="34" charset="0"/>
                <a:ea typeface="Calibri" pitchFamily="34" charset="-122"/>
                <a:cs typeface="Calibri" pitchFamily="34" charset="-120"/>
              </a:rPr>
              <a:t>reads &amp; writes</a:t>
            </a:r>
            <a:endParaRPr lang="en-US" sz="1200" dirty="0"/>
          </a:p>
          <a:p>
            <a:pPr marL="0" indent="0" algn="ctr">
              <a:lnSpc>
                <a:spcPts val="1500"/>
              </a:lnSpc>
              <a:buNone/>
            </a:pPr>
            <a:r>
              <a:rPr lang="en-US" sz="1200" dirty="0">
                <a:solidFill>
                  <a:srgbClr val="595959"/>
                </a:solidFill>
                <a:latin typeface="Calibri" pitchFamily="34" charset="0"/>
                <a:ea typeface="Calibri" pitchFamily="34" charset="-122"/>
                <a:cs typeface="Calibri" pitchFamily="34" charset="-120"/>
              </a:rPr>
              <a:t>the counter</a:t>
            </a:r>
            <a:endParaRPr lang="en-US" sz="1200" dirty="0"/>
          </a:p>
        </p:txBody>
      </p:sp>
      <p:sp>
        <p:nvSpPr>
          <p:cNvPr id="14" name="Shape 12"/>
          <p:cNvSpPr/>
          <p:nvPr/>
        </p:nvSpPr>
        <p:spPr>
          <a:xfrm>
            <a:off x="3611880" y="3584448"/>
            <a:ext cx="1097280" cy="0"/>
          </a:xfrm>
          <a:prstGeom prst="line">
            <a:avLst/>
          </a:prstGeom>
          <a:noFill/>
          <a:ln w="25400">
            <a:solidFill>
              <a:srgbClr val="595959"/>
            </a:solidFill>
            <a:prstDash val="solid"/>
            <a:headEnd type="triangle"/>
            <a:tailEnd type="triangle"/>
          </a:ln>
        </p:spPr>
      </p:sp>
      <p:sp>
        <p:nvSpPr>
          <p:cNvPr id="15" name="Shape 13"/>
          <p:cNvSpPr/>
          <p:nvPr/>
        </p:nvSpPr>
        <p:spPr>
          <a:xfrm>
            <a:off x="7452360" y="3584448"/>
            <a:ext cx="777240" cy="0"/>
          </a:xfrm>
          <a:prstGeom prst="line">
            <a:avLst/>
          </a:prstGeom>
          <a:noFill/>
          <a:ln w="25400">
            <a:solidFill>
              <a:srgbClr val="595959"/>
            </a:solidFill>
            <a:prstDash val="solid"/>
            <a:headEnd type="triangle"/>
            <a:tailEnd type="triangle"/>
          </a:ln>
        </p:spPr>
      </p:sp>
      <p:sp>
        <p:nvSpPr>
          <p:cNvPr id="16" name="Shape 14"/>
          <p:cNvSpPr/>
          <p:nvPr/>
        </p:nvSpPr>
        <p:spPr>
          <a:xfrm>
            <a:off x="640080" y="4937760"/>
            <a:ext cx="10908792" cy="1143000"/>
          </a:xfrm>
          <a:prstGeom prst="rect">
            <a:avLst/>
          </a:prstGeom>
          <a:solidFill>
            <a:srgbClr val="F3F4F6"/>
          </a:solidFill>
          <a:ln w="9525">
            <a:solidFill>
              <a:srgbClr val="D4D4D4"/>
            </a:solidFill>
            <a:prstDash val="solid"/>
          </a:ln>
        </p:spPr>
      </p:sp>
      <p:sp>
        <p:nvSpPr>
          <p:cNvPr id="17" name="Text 15"/>
          <p:cNvSpPr/>
          <p:nvPr/>
        </p:nvSpPr>
        <p:spPr>
          <a:xfrm>
            <a:off x="914400" y="4937760"/>
            <a:ext cx="10360152" cy="1143000"/>
          </a:xfrm>
          <a:prstGeom prst="rect">
            <a:avLst/>
          </a:prstGeom>
          <a:noFill/>
          <a:ln/>
        </p:spPr>
        <p:txBody>
          <a:bodyPr wrap="square" rtlCol="0" anchor="ctr"/>
          <a:lstStyle/>
          <a:p>
            <a:pPr marL="0" indent="0">
              <a:lnSpc>
                <a:spcPts val="2000"/>
              </a:lnSpc>
              <a:buNone/>
            </a:pPr>
            <a:r>
              <a:rPr lang="en-US" sz="1450" b="1" dirty="0">
                <a:solidFill>
                  <a:srgbClr val="A6342E"/>
                </a:solidFill>
                <a:latin typeface="Calibri" pitchFamily="34" charset="0"/>
                <a:ea typeface="Calibri" pitchFamily="34" charset="-122"/>
                <a:cs typeface="Calibri" pitchFamily="34" charset="-120"/>
              </a:rPr>
              <a:t>The trade-off:  </a:t>
            </a:r>
            <a:r>
              <a:rPr lang="en-US" sz="1450" dirty="0">
                <a:solidFill>
                  <a:srgbClr val="262626"/>
                </a:solidFill>
                <a:latin typeface="Calibri" pitchFamily="34" charset="0"/>
                <a:ea typeface="Calibri" pitchFamily="34" charset="-122"/>
                <a:cs typeface="Calibri" pitchFamily="34" charset="-120"/>
              </a:rPr>
              <a:t>sharing memory is fast and direct — no copying, no message overhead. But now two threads can touch the </a:t>
            </a:r>
            <a:r>
              <a:rPr lang="en-US" sz="1450" b="1" i="1" dirty="0">
                <a:solidFill>
                  <a:srgbClr val="262626"/>
                </a:solidFill>
                <a:latin typeface="Calibri" pitchFamily="34" charset="0"/>
                <a:ea typeface="Calibri" pitchFamily="34" charset="-122"/>
                <a:cs typeface="Calibri" pitchFamily="34" charset="-120"/>
              </a:rPr>
              <a:t>same</a:t>
            </a:r>
            <a:r>
              <a:rPr lang="en-US" sz="1450" dirty="0">
                <a:solidFill>
                  <a:srgbClr val="262626"/>
                </a:solidFill>
                <a:latin typeface="Calibri" pitchFamily="34" charset="0"/>
                <a:ea typeface="Calibri" pitchFamily="34" charset="-122"/>
                <a:cs typeface="Calibri" pitchFamily="34" charset="-120"/>
              </a:rPr>
              <a:t> variable at the </a:t>
            </a:r>
            <a:r>
              <a:rPr lang="en-US" sz="1450" b="1" i="1" dirty="0">
                <a:solidFill>
                  <a:srgbClr val="262626"/>
                </a:solidFill>
                <a:latin typeface="Calibri" pitchFamily="34" charset="0"/>
                <a:ea typeface="Calibri" pitchFamily="34" charset="-122"/>
                <a:cs typeface="Calibri" pitchFamily="34" charset="-120"/>
              </a:rPr>
              <a:t>same instant</a:t>
            </a:r>
            <a:r>
              <a:rPr lang="en-US" sz="1450" dirty="0">
                <a:solidFill>
                  <a:srgbClr val="262626"/>
                </a:solidFill>
                <a:latin typeface="Calibri" pitchFamily="34" charset="0"/>
                <a:ea typeface="Calibri" pitchFamily="34" charset="-122"/>
                <a:cs typeface="Calibri" pitchFamily="34" charset="-120"/>
              </a:rPr>
              <a:t>, and that is where things go wrong.</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2 · RISK #1</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Race conditions</a:t>
            </a:r>
            <a:endParaRPr lang="en-US" sz="2800" dirty="0"/>
          </a:p>
        </p:txBody>
      </p:sp>
      <p:sp>
        <p:nvSpPr>
          <p:cNvPr id="4" name="Text 2"/>
          <p:cNvSpPr/>
          <p:nvPr/>
        </p:nvSpPr>
        <p:spPr>
          <a:xfrm>
            <a:off x="640080" y="1417320"/>
            <a:ext cx="10908792" cy="548640"/>
          </a:xfrm>
          <a:prstGeom prst="rect">
            <a:avLst/>
          </a:prstGeom>
          <a:noFill/>
          <a:ln/>
        </p:spPr>
        <p:txBody>
          <a:bodyPr wrap="square" rtlCol="0" anchor="ctr"/>
          <a:lstStyle/>
          <a:p>
            <a:pPr marL="0" indent="0">
              <a:lnSpc>
                <a:spcPts val="2000"/>
              </a:lnSpc>
              <a:buNone/>
            </a:pPr>
            <a:r>
              <a:rPr lang="en-US" sz="1500" dirty="0">
                <a:solidFill>
                  <a:srgbClr val="595959"/>
                </a:solidFill>
                <a:latin typeface="Calibri" pitchFamily="34" charset="0"/>
                <a:ea typeface="Calibri" pitchFamily="34" charset="-122"/>
                <a:cs typeface="Calibri" pitchFamily="34" charset="-120"/>
              </a:rPr>
              <a:t>A race condition: the result depends on the unpredictable timing of threads. counter += 1 looks atomic, but it is really three steps — read, add, write.</a:t>
            </a:r>
            <a:endParaRPr lang="en-US" sz="1500" dirty="0"/>
          </a:p>
        </p:txBody>
      </p:sp>
      <p:sp>
        <p:nvSpPr>
          <p:cNvPr id="5" name="Shape 3"/>
          <p:cNvSpPr/>
          <p:nvPr/>
        </p:nvSpPr>
        <p:spPr>
          <a:xfrm>
            <a:off x="640080" y="2240280"/>
            <a:ext cx="822960" cy="502920"/>
          </a:xfrm>
          <a:prstGeom prst="rect">
            <a:avLst/>
          </a:prstGeom>
          <a:solidFill>
            <a:srgbClr val="1F4E79"/>
          </a:solidFill>
          <a:ln w="9525">
            <a:solidFill>
              <a:srgbClr val="D4D4D4"/>
            </a:solidFill>
            <a:prstDash val="solid"/>
          </a:ln>
        </p:spPr>
      </p:sp>
      <p:sp>
        <p:nvSpPr>
          <p:cNvPr id="6" name="Text 4"/>
          <p:cNvSpPr/>
          <p:nvPr/>
        </p:nvSpPr>
        <p:spPr>
          <a:xfrm>
            <a:off x="731520" y="2240280"/>
            <a:ext cx="64008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Time</a:t>
            </a:r>
            <a:endParaRPr lang="en-US" sz="1300" dirty="0"/>
          </a:p>
        </p:txBody>
      </p:sp>
      <p:sp>
        <p:nvSpPr>
          <p:cNvPr id="7" name="Shape 5"/>
          <p:cNvSpPr/>
          <p:nvPr/>
        </p:nvSpPr>
        <p:spPr>
          <a:xfrm>
            <a:off x="1463040" y="2240280"/>
            <a:ext cx="2880360" cy="502920"/>
          </a:xfrm>
          <a:prstGeom prst="rect">
            <a:avLst/>
          </a:prstGeom>
          <a:solidFill>
            <a:srgbClr val="1F4E79"/>
          </a:solidFill>
          <a:ln w="9525">
            <a:solidFill>
              <a:srgbClr val="D4D4D4"/>
            </a:solidFill>
            <a:prstDash val="solid"/>
          </a:ln>
        </p:spPr>
      </p:sp>
      <p:sp>
        <p:nvSpPr>
          <p:cNvPr id="8" name="Text 6"/>
          <p:cNvSpPr/>
          <p:nvPr/>
        </p:nvSpPr>
        <p:spPr>
          <a:xfrm>
            <a:off x="1554480" y="2240280"/>
            <a:ext cx="2697480" cy="502920"/>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Thread A</a:t>
            </a:r>
            <a:endParaRPr lang="en-US" sz="1300" dirty="0"/>
          </a:p>
        </p:txBody>
      </p:sp>
      <p:sp>
        <p:nvSpPr>
          <p:cNvPr id="9" name="Shape 7"/>
          <p:cNvSpPr/>
          <p:nvPr/>
        </p:nvSpPr>
        <p:spPr>
          <a:xfrm>
            <a:off x="4343400" y="2240280"/>
            <a:ext cx="2880360" cy="502920"/>
          </a:xfrm>
          <a:prstGeom prst="rect">
            <a:avLst/>
          </a:prstGeom>
          <a:solidFill>
            <a:srgbClr val="1F4E79"/>
          </a:solidFill>
          <a:ln w="9525">
            <a:solidFill>
              <a:srgbClr val="D4D4D4"/>
            </a:solidFill>
            <a:prstDash val="solid"/>
          </a:ln>
        </p:spPr>
      </p:sp>
      <p:sp>
        <p:nvSpPr>
          <p:cNvPr id="10" name="Text 8"/>
          <p:cNvSpPr/>
          <p:nvPr/>
        </p:nvSpPr>
        <p:spPr>
          <a:xfrm>
            <a:off x="4434840" y="2240280"/>
            <a:ext cx="2697480" cy="502920"/>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Thread B</a:t>
            </a:r>
            <a:endParaRPr lang="en-US" sz="1300" dirty="0"/>
          </a:p>
        </p:txBody>
      </p:sp>
      <p:sp>
        <p:nvSpPr>
          <p:cNvPr id="11" name="Shape 9"/>
          <p:cNvSpPr/>
          <p:nvPr/>
        </p:nvSpPr>
        <p:spPr>
          <a:xfrm>
            <a:off x="7223760" y="2240280"/>
            <a:ext cx="1188720" cy="502920"/>
          </a:xfrm>
          <a:prstGeom prst="rect">
            <a:avLst/>
          </a:prstGeom>
          <a:solidFill>
            <a:srgbClr val="1F4E79"/>
          </a:solidFill>
          <a:ln w="9525">
            <a:solidFill>
              <a:srgbClr val="D4D4D4"/>
            </a:solidFill>
            <a:prstDash val="solid"/>
          </a:ln>
        </p:spPr>
      </p:sp>
      <p:sp>
        <p:nvSpPr>
          <p:cNvPr id="12" name="Text 10"/>
          <p:cNvSpPr/>
          <p:nvPr/>
        </p:nvSpPr>
        <p:spPr>
          <a:xfrm>
            <a:off x="7315200" y="2240280"/>
            <a:ext cx="1005840" cy="50292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counter</a:t>
            </a:r>
            <a:endParaRPr lang="en-US" sz="1300" dirty="0"/>
          </a:p>
        </p:txBody>
      </p:sp>
      <p:sp>
        <p:nvSpPr>
          <p:cNvPr id="13" name="Shape 11"/>
          <p:cNvSpPr/>
          <p:nvPr/>
        </p:nvSpPr>
        <p:spPr>
          <a:xfrm>
            <a:off x="640080" y="2743200"/>
            <a:ext cx="822960" cy="502920"/>
          </a:xfrm>
          <a:prstGeom prst="rect">
            <a:avLst/>
          </a:prstGeom>
          <a:solidFill>
            <a:srgbClr val="FFFFFF"/>
          </a:solidFill>
          <a:ln w="9525">
            <a:solidFill>
              <a:srgbClr val="D4D4D4"/>
            </a:solidFill>
            <a:prstDash val="solid"/>
          </a:ln>
        </p:spPr>
      </p:sp>
      <p:sp>
        <p:nvSpPr>
          <p:cNvPr id="14" name="Text 12"/>
          <p:cNvSpPr/>
          <p:nvPr/>
        </p:nvSpPr>
        <p:spPr>
          <a:xfrm>
            <a:off x="731520" y="2743200"/>
            <a:ext cx="640080" cy="502920"/>
          </a:xfrm>
          <a:prstGeom prst="rect">
            <a:avLst/>
          </a:prstGeom>
          <a:noFill/>
          <a:ln/>
        </p:spPr>
        <p:txBody>
          <a:bodyPr wrap="square" rtlCol="0" anchor="ctr"/>
          <a:lstStyle/>
          <a:p>
            <a:pPr marL="0" indent="0" algn="ctr">
              <a:buNone/>
            </a:pPr>
            <a:r>
              <a:rPr lang="en-US" sz="1250" dirty="0">
                <a:solidFill>
                  <a:srgbClr val="262626"/>
                </a:solidFill>
                <a:latin typeface="Calibri" pitchFamily="34" charset="0"/>
                <a:ea typeface="Calibri" pitchFamily="34" charset="-122"/>
                <a:cs typeface="Calibri" pitchFamily="34" charset="-120"/>
              </a:rPr>
              <a:t>1</a:t>
            </a:r>
            <a:endParaRPr lang="en-US" sz="1250" dirty="0"/>
          </a:p>
        </p:txBody>
      </p:sp>
      <p:sp>
        <p:nvSpPr>
          <p:cNvPr id="15" name="Shape 13"/>
          <p:cNvSpPr/>
          <p:nvPr/>
        </p:nvSpPr>
        <p:spPr>
          <a:xfrm>
            <a:off x="1463040" y="2743200"/>
            <a:ext cx="2880360" cy="502920"/>
          </a:xfrm>
          <a:prstGeom prst="rect">
            <a:avLst/>
          </a:prstGeom>
          <a:solidFill>
            <a:srgbClr val="FFFFFF"/>
          </a:solidFill>
          <a:ln w="9525">
            <a:solidFill>
              <a:srgbClr val="D4D4D4"/>
            </a:solidFill>
            <a:prstDash val="solid"/>
          </a:ln>
        </p:spPr>
      </p:sp>
      <p:sp>
        <p:nvSpPr>
          <p:cNvPr id="16" name="Text 14"/>
          <p:cNvSpPr/>
          <p:nvPr/>
        </p:nvSpPr>
        <p:spPr>
          <a:xfrm>
            <a:off x="1554480" y="2743200"/>
            <a:ext cx="2697480" cy="502920"/>
          </a:xfrm>
          <a:prstGeom prst="rect">
            <a:avLst/>
          </a:prstGeom>
          <a:noFill/>
          <a:ln/>
        </p:spPr>
        <p:txBody>
          <a:bodyPr wrap="square" rtlCol="0" anchor="ctr"/>
          <a:lstStyle/>
          <a:p>
            <a:pPr marL="0" indent="0" algn="l">
              <a:buNone/>
            </a:pPr>
            <a:r>
              <a:rPr lang="en-US" sz="1250" dirty="0">
                <a:solidFill>
                  <a:srgbClr val="262626"/>
                </a:solidFill>
                <a:latin typeface="Calibri" pitchFamily="34" charset="0"/>
                <a:ea typeface="Calibri" pitchFamily="34" charset="-122"/>
                <a:cs typeface="Calibri" pitchFamily="34" charset="-120"/>
              </a:rPr>
              <a:t>read counter → 0</a:t>
            </a:r>
            <a:endParaRPr lang="en-US" sz="1250" dirty="0"/>
          </a:p>
        </p:txBody>
      </p:sp>
      <p:sp>
        <p:nvSpPr>
          <p:cNvPr id="17" name="Shape 15"/>
          <p:cNvSpPr/>
          <p:nvPr/>
        </p:nvSpPr>
        <p:spPr>
          <a:xfrm>
            <a:off x="4343400" y="2743200"/>
            <a:ext cx="2880360" cy="502920"/>
          </a:xfrm>
          <a:prstGeom prst="rect">
            <a:avLst/>
          </a:prstGeom>
          <a:solidFill>
            <a:srgbClr val="FFFFFF"/>
          </a:solidFill>
          <a:ln w="9525">
            <a:solidFill>
              <a:srgbClr val="D4D4D4"/>
            </a:solidFill>
            <a:prstDash val="solid"/>
          </a:ln>
        </p:spPr>
      </p:sp>
      <p:sp>
        <p:nvSpPr>
          <p:cNvPr id="18" name="Text 16"/>
          <p:cNvSpPr/>
          <p:nvPr/>
        </p:nvSpPr>
        <p:spPr>
          <a:xfrm>
            <a:off x="4434840" y="2743200"/>
            <a:ext cx="2697480" cy="502920"/>
          </a:xfrm>
          <a:prstGeom prst="rect">
            <a:avLst/>
          </a:prstGeom>
          <a:noFill/>
          <a:ln/>
        </p:spPr>
        <p:txBody>
          <a:bodyPr wrap="square" rtlCol="0" anchor="ctr"/>
          <a:lstStyle/>
          <a:p>
            <a:pPr marL="0" indent="0" algn="l">
              <a:buNone/>
            </a:pPr>
            <a:endParaRPr lang="en-US" sz="1250" dirty="0"/>
          </a:p>
        </p:txBody>
      </p:sp>
      <p:sp>
        <p:nvSpPr>
          <p:cNvPr id="19" name="Shape 17"/>
          <p:cNvSpPr/>
          <p:nvPr/>
        </p:nvSpPr>
        <p:spPr>
          <a:xfrm>
            <a:off x="7223760" y="2743200"/>
            <a:ext cx="1188720" cy="502920"/>
          </a:xfrm>
          <a:prstGeom prst="rect">
            <a:avLst/>
          </a:prstGeom>
          <a:solidFill>
            <a:srgbClr val="FFFFFF"/>
          </a:solidFill>
          <a:ln w="9525">
            <a:solidFill>
              <a:srgbClr val="D4D4D4"/>
            </a:solidFill>
            <a:prstDash val="solid"/>
          </a:ln>
        </p:spPr>
      </p:sp>
      <p:sp>
        <p:nvSpPr>
          <p:cNvPr id="20" name="Text 18"/>
          <p:cNvSpPr/>
          <p:nvPr/>
        </p:nvSpPr>
        <p:spPr>
          <a:xfrm>
            <a:off x="7315200" y="2743200"/>
            <a:ext cx="1005840" cy="502920"/>
          </a:xfrm>
          <a:prstGeom prst="rect">
            <a:avLst/>
          </a:prstGeom>
          <a:noFill/>
          <a:ln/>
        </p:spPr>
        <p:txBody>
          <a:bodyPr wrap="square" rtlCol="0" anchor="ctr"/>
          <a:lstStyle/>
          <a:p>
            <a:pPr marL="0" indent="0" algn="ctr">
              <a:buNone/>
            </a:pPr>
            <a:r>
              <a:rPr lang="en-US" sz="1250" dirty="0">
                <a:solidFill>
                  <a:srgbClr val="262626"/>
                </a:solidFill>
                <a:latin typeface="Consolas" pitchFamily="34" charset="0"/>
                <a:ea typeface="Consolas" pitchFamily="34" charset="-122"/>
                <a:cs typeface="Consolas" pitchFamily="34" charset="-120"/>
              </a:rPr>
              <a:t>0</a:t>
            </a:r>
            <a:endParaRPr lang="en-US" sz="1250" dirty="0"/>
          </a:p>
        </p:txBody>
      </p:sp>
      <p:sp>
        <p:nvSpPr>
          <p:cNvPr id="21" name="Shape 19"/>
          <p:cNvSpPr/>
          <p:nvPr/>
        </p:nvSpPr>
        <p:spPr>
          <a:xfrm>
            <a:off x="640080" y="3246120"/>
            <a:ext cx="822960" cy="502920"/>
          </a:xfrm>
          <a:prstGeom prst="rect">
            <a:avLst/>
          </a:prstGeom>
          <a:solidFill>
            <a:srgbClr val="F3F4F6"/>
          </a:solidFill>
          <a:ln w="9525">
            <a:solidFill>
              <a:srgbClr val="D4D4D4"/>
            </a:solidFill>
            <a:prstDash val="solid"/>
          </a:ln>
        </p:spPr>
      </p:sp>
      <p:sp>
        <p:nvSpPr>
          <p:cNvPr id="22" name="Text 20"/>
          <p:cNvSpPr/>
          <p:nvPr/>
        </p:nvSpPr>
        <p:spPr>
          <a:xfrm>
            <a:off x="731520" y="3246120"/>
            <a:ext cx="640080" cy="502920"/>
          </a:xfrm>
          <a:prstGeom prst="rect">
            <a:avLst/>
          </a:prstGeom>
          <a:noFill/>
          <a:ln/>
        </p:spPr>
        <p:txBody>
          <a:bodyPr wrap="square" rtlCol="0" anchor="ctr"/>
          <a:lstStyle/>
          <a:p>
            <a:pPr marL="0" indent="0" algn="ctr">
              <a:buNone/>
            </a:pPr>
            <a:r>
              <a:rPr lang="en-US" sz="1250" dirty="0">
                <a:solidFill>
                  <a:srgbClr val="262626"/>
                </a:solidFill>
                <a:latin typeface="Calibri" pitchFamily="34" charset="0"/>
                <a:ea typeface="Calibri" pitchFamily="34" charset="-122"/>
                <a:cs typeface="Calibri" pitchFamily="34" charset="-120"/>
              </a:rPr>
              <a:t>2</a:t>
            </a:r>
            <a:endParaRPr lang="en-US" sz="1250" dirty="0"/>
          </a:p>
        </p:txBody>
      </p:sp>
      <p:sp>
        <p:nvSpPr>
          <p:cNvPr id="23" name="Shape 21"/>
          <p:cNvSpPr/>
          <p:nvPr/>
        </p:nvSpPr>
        <p:spPr>
          <a:xfrm>
            <a:off x="1463040" y="3246120"/>
            <a:ext cx="2880360" cy="502920"/>
          </a:xfrm>
          <a:prstGeom prst="rect">
            <a:avLst/>
          </a:prstGeom>
          <a:solidFill>
            <a:srgbClr val="F3F4F6"/>
          </a:solidFill>
          <a:ln w="9525">
            <a:solidFill>
              <a:srgbClr val="D4D4D4"/>
            </a:solidFill>
            <a:prstDash val="solid"/>
          </a:ln>
        </p:spPr>
      </p:sp>
      <p:sp>
        <p:nvSpPr>
          <p:cNvPr id="24" name="Text 22"/>
          <p:cNvSpPr/>
          <p:nvPr/>
        </p:nvSpPr>
        <p:spPr>
          <a:xfrm>
            <a:off x="1554480" y="3246120"/>
            <a:ext cx="2697480" cy="502920"/>
          </a:xfrm>
          <a:prstGeom prst="rect">
            <a:avLst/>
          </a:prstGeom>
          <a:noFill/>
          <a:ln/>
        </p:spPr>
        <p:txBody>
          <a:bodyPr wrap="square" rtlCol="0" anchor="ctr"/>
          <a:lstStyle/>
          <a:p>
            <a:pPr marL="0" indent="0" algn="l">
              <a:buNone/>
            </a:pPr>
            <a:endParaRPr lang="en-US" sz="1250" dirty="0"/>
          </a:p>
        </p:txBody>
      </p:sp>
      <p:sp>
        <p:nvSpPr>
          <p:cNvPr id="25" name="Shape 23"/>
          <p:cNvSpPr/>
          <p:nvPr/>
        </p:nvSpPr>
        <p:spPr>
          <a:xfrm>
            <a:off x="4343400" y="3246120"/>
            <a:ext cx="2880360" cy="502920"/>
          </a:xfrm>
          <a:prstGeom prst="rect">
            <a:avLst/>
          </a:prstGeom>
          <a:solidFill>
            <a:srgbClr val="F3F4F6"/>
          </a:solidFill>
          <a:ln w="9525">
            <a:solidFill>
              <a:srgbClr val="D4D4D4"/>
            </a:solidFill>
            <a:prstDash val="solid"/>
          </a:ln>
        </p:spPr>
      </p:sp>
      <p:sp>
        <p:nvSpPr>
          <p:cNvPr id="26" name="Text 24"/>
          <p:cNvSpPr/>
          <p:nvPr/>
        </p:nvSpPr>
        <p:spPr>
          <a:xfrm>
            <a:off x="4434840" y="3246120"/>
            <a:ext cx="2697480" cy="502920"/>
          </a:xfrm>
          <a:prstGeom prst="rect">
            <a:avLst/>
          </a:prstGeom>
          <a:noFill/>
          <a:ln/>
        </p:spPr>
        <p:txBody>
          <a:bodyPr wrap="square" rtlCol="0" anchor="ctr"/>
          <a:lstStyle/>
          <a:p>
            <a:pPr marL="0" indent="0" algn="l">
              <a:buNone/>
            </a:pPr>
            <a:r>
              <a:rPr lang="en-US" sz="1250" dirty="0">
                <a:solidFill>
                  <a:srgbClr val="262626"/>
                </a:solidFill>
                <a:latin typeface="Calibri" pitchFamily="34" charset="0"/>
                <a:ea typeface="Calibri" pitchFamily="34" charset="-122"/>
                <a:cs typeface="Calibri" pitchFamily="34" charset="-120"/>
              </a:rPr>
              <a:t>read counter → 0</a:t>
            </a:r>
            <a:endParaRPr lang="en-US" sz="1250" dirty="0"/>
          </a:p>
        </p:txBody>
      </p:sp>
      <p:sp>
        <p:nvSpPr>
          <p:cNvPr id="27" name="Shape 25"/>
          <p:cNvSpPr/>
          <p:nvPr/>
        </p:nvSpPr>
        <p:spPr>
          <a:xfrm>
            <a:off x="7223760" y="3246120"/>
            <a:ext cx="1188720" cy="502920"/>
          </a:xfrm>
          <a:prstGeom prst="rect">
            <a:avLst/>
          </a:prstGeom>
          <a:solidFill>
            <a:srgbClr val="F3F4F6"/>
          </a:solidFill>
          <a:ln w="9525">
            <a:solidFill>
              <a:srgbClr val="D4D4D4"/>
            </a:solidFill>
            <a:prstDash val="solid"/>
          </a:ln>
        </p:spPr>
      </p:sp>
      <p:sp>
        <p:nvSpPr>
          <p:cNvPr id="28" name="Text 26"/>
          <p:cNvSpPr/>
          <p:nvPr/>
        </p:nvSpPr>
        <p:spPr>
          <a:xfrm>
            <a:off x="7315200" y="3246120"/>
            <a:ext cx="1005840" cy="502920"/>
          </a:xfrm>
          <a:prstGeom prst="rect">
            <a:avLst/>
          </a:prstGeom>
          <a:noFill/>
          <a:ln/>
        </p:spPr>
        <p:txBody>
          <a:bodyPr wrap="square" rtlCol="0" anchor="ctr"/>
          <a:lstStyle/>
          <a:p>
            <a:pPr marL="0" indent="0" algn="ctr">
              <a:buNone/>
            </a:pPr>
            <a:r>
              <a:rPr lang="en-US" sz="1250" dirty="0">
                <a:solidFill>
                  <a:srgbClr val="262626"/>
                </a:solidFill>
                <a:latin typeface="Consolas" pitchFamily="34" charset="0"/>
                <a:ea typeface="Consolas" pitchFamily="34" charset="-122"/>
                <a:cs typeface="Consolas" pitchFamily="34" charset="-120"/>
              </a:rPr>
              <a:t>0</a:t>
            </a:r>
            <a:endParaRPr lang="en-US" sz="1250" dirty="0"/>
          </a:p>
        </p:txBody>
      </p:sp>
      <p:sp>
        <p:nvSpPr>
          <p:cNvPr id="29" name="Shape 27"/>
          <p:cNvSpPr/>
          <p:nvPr/>
        </p:nvSpPr>
        <p:spPr>
          <a:xfrm>
            <a:off x="640080" y="3749040"/>
            <a:ext cx="822960" cy="502920"/>
          </a:xfrm>
          <a:prstGeom prst="rect">
            <a:avLst/>
          </a:prstGeom>
          <a:solidFill>
            <a:srgbClr val="FFFFFF"/>
          </a:solidFill>
          <a:ln w="9525">
            <a:solidFill>
              <a:srgbClr val="D4D4D4"/>
            </a:solidFill>
            <a:prstDash val="solid"/>
          </a:ln>
        </p:spPr>
      </p:sp>
      <p:sp>
        <p:nvSpPr>
          <p:cNvPr id="30" name="Text 28"/>
          <p:cNvSpPr/>
          <p:nvPr/>
        </p:nvSpPr>
        <p:spPr>
          <a:xfrm>
            <a:off x="731520" y="3749040"/>
            <a:ext cx="640080" cy="502920"/>
          </a:xfrm>
          <a:prstGeom prst="rect">
            <a:avLst/>
          </a:prstGeom>
          <a:noFill/>
          <a:ln/>
        </p:spPr>
        <p:txBody>
          <a:bodyPr wrap="square" rtlCol="0" anchor="ctr"/>
          <a:lstStyle/>
          <a:p>
            <a:pPr marL="0" indent="0" algn="ctr">
              <a:buNone/>
            </a:pPr>
            <a:r>
              <a:rPr lang="en-US" sz="1250" dirty="0">
                <a:solidFill>
                  <a:srgbClr val="262626"/>
                </a:solidFill>
                <a:latin typeface="Calibri" pitchFamily="34" charset="0"/>
                <a:ea typeface="Calibri" pitchFamily="34" charset="-122"/>
                <a:cs typeface="Calibri" pitchFamily="34" charset="-120"/>
              </a:rPr>
              <a:t>3</a:t>
            </a:r>
            <a:endParaRPr lang="en-US" sz="1250" dirty="0"/>
          </a:p>
        </p:txBody>
      </p:sp>
      <p:sp>
        <p:nvSpPr>
          <p:cNvPr id="31" name="Shape 29"/>
          <p:cNvSpPr/>
          <p:nvPr/>
        </p:nvSpPr>
        <p:spPr>
          <a:xfrm>
            <a:off x="1463040" y="3749040"/>
            <a:ext cx="2880360" cy="502920"/>
          </a:xfrm>
          <a:prstGeom prst="rect">
            <a:avLst/>
          </a:prstGeom>
          <a:solidFill>
            <a:srgbClr val="FFFFFF"/>
          </a:solidFill>
          <a:ln w="9525">
            <a:solidFill>
              <a:srgbClr val="D4D4D4"/>
            </a:solidFill>
            <a:prstDash val="solid"/>
          </a:ln>
        </p:spPr>
      </p:sp>
      <p:sp>
        <p:nvSpPr>
          <p:cNvPr id="32" name="Text 30"/>
          <p:cNvSpPr/>
          <p:nvPr/>
        </p:nvSpPr>
        <p:spPr>
          <a:xfrm>
            <a:off x="1554480" y="3749040"/>
            <a:ext cx="2697480" cy="502920"/>
          </a:xfrm>
          <a:prstGeom prst="rect">
            <a:avLst/>
          </a:prstGeom>
          <a:noFill/>
          <a:ln/>
        </p:spPr>
        <p:txBody>
          <a:bodyPr wrap="square" rtlCol="0" anchor="ctr"/>
          <a:lstStyle/>
          <a:p>
            <a:pPr marL="0" indent="0" algn="l">
              <a:buNone/>
            </a:pPr>
            <a:r>
              <a:rPr lang="en-US" sz="1250" dirty="0">
                <a:solidFill>
                  <a:srgbClr val="262626"/>
                </a:solidFill>
                <a:latin typeface="Calibri" pitchFamily="34" charset="0"/>
                <a:ea typeface="Calibri" pitchFamily="34" charset="-122"/>
                <a:cs typeface="Calibri" pitchFamily="34" charset="-120"/>
              </a:rPr>
              <a:t>add 1 → 1</a:t>
            </a:r>
            <a:endParaRPr lang="en-US" sz="1250" dirty="0"/>
          </a:p>
        </p:txBody>
      </p:sp>
      <p:sp>
        <p:nvSpPr>
          <p:cNvPr id="33" name="Shape 31"/>
          <p:cNvSpPr/>
          <p:nvPr/>
        </p:nvSpPr>
        <p:spPr>
          <a:xfrm>
            <a:off x="4343400" y="3749040"/>
            <a:ext cx="2880360" cy="502920"/>
          </a:xfrm>
          <a:prstGeom prst="rect">
            <a:avLst/>
          </a:prstGeom>
          <a:solidFill>
            <a:srgbClr val="FFFFFF"/>
          </a:solidFill>
          <a:ln w="9525">
            <a:solidFill>
              <a:srgbClr val="D4D4D4"/>
            </a:solidFill>
            <a:prstDash val="solid"/>
          </a:ln>
        </p:spPr>
      </p:sp>
      <p:sp>
        <p:nvSpPr>
          <p:cNvPr id="34" name="Text 32"/>
          <p:cNvSpPr/>
          <p:nvPr/>
        </p:nvSpPr>
        <p:spPr>
          <a:xfrm>
            <a:off x="4434840" y="3749040"/>
            <a:ext cx="2697480" cy="502920"/>
          </a:xfrm>
          <a:prstGeom prst="rect">
            <a:avLst/>
          </a:prstGeom>
          <a:noFill/>
          <a:ln/>
        </p:spPr>
        <p:txBody>
          <a:bodyPr wrap="square" rtlCol="0" anchor="ctr"/>
          <a:lstStyle/>
          <a:p>
            <a:pPr marL="0" indent="0" algn="l">
              <a:buNone/>
            </a:pPr>
            <a:endParaRPr lang="en-US" sz="1250" dirty="0"/>
          </a:p>
        </p:txBody>
      </p:sp>
      <p:sp>
        <p:nvSpPr>
          <p:cNvPr id="35" name="Shape 33"/>
          <p:cNvSpPr/>
          <p:nvPr/>
        </p:nvSpPr>
        <p:spPr>
          <a:xfrm>
            <a:off x="7223760" y="3749040"/>
            <a:ext cx="1188720" cy="502920"/>
          </a:xfrm>
          <a:prstGeom prst="rect">
            <a:avLst/>
          </a:prstGeom>
          <a:solidFill>
            <a:srgbClr val="FFFFFF"/>
          </a:solidFill>
          <a:ln w="9525">
            <a:solidFill>
              <a:srgbClr val="D4D4D4"/>
            </a:solidFill>
            <a:prstDash val="solid"/>
          </a:ln>
        </p:spPr>
      </p:sp>
      <p:sp>
        <p:nvSpPr>
          <p:cNvPr id="36" name="Text 34"/>
          <p:cNvSpPr/>
          <p:nvPr/>
        </p:nvSpPr>
        <p:spPr>
          <a:xfrm>
            <a:off x="7315200" y="3749040"/>
            <a:ext cx="1005840" cy="502920"/>
          </a:xfrm>
          <a:prstGeom prst="rect">
            <a:avLst/>
          </a:prstGeom>
          <a:noFill/>
          <a:ln/>
        </p:spPr>
        <p:txBody>
          <a:bodyPr wrap="square" rtlCol="0" anchor="ctr"/>
          <a:lstStyle/>
          <a:p>
            <a:pPr marL="0" indent="0" algn="ctr">
              <a:buNone/>
            </a:pPr>
            <a:r>
              <a:rPr lang="en-US" sz="1250" dirty="0">
                <a:solidFill>
                  <a:srgbClr val="262626"/>
                </a:solidFill>
                <a:latin typeface="Consolas" pitchFamily="34" charset="0"/>
                <a:ea typeface="Consolas" pitchFamily="34" charset="-122"/>
                <a:cs typeface="Consolas" pitchFamily="34" charset="-120"/>
              </a:rPr>
              <a:t>0</a:t>
            </a:r>
            <a:endParaRPr lang="en-US" sz="1250" dirty="0"/>
          </a:p>
        </p:txBody>
      </p:sp>
      <p:sp>
        <p:nvSpPr>
          <p:cNvPr id="37" name="Shape 35"/>
          <p:cNvSpPr/>
          <p:nvPr/>
        </p:nvSpPr>
        <p:spPr>
          <a:xfrm>
            <a:off x="640080" y="4251960"/>
            <a:ext cx="822960" cy="502920"/>
          </a:xfrm>
          <a:prstGeom prst="rect">
            <a:avLst/>
          </a:prstGeom>
          <a:solidFill>
            <a:srgbClr val="F3F4F6"/>
          </a:solidFill>
          <a:ln w="9525">
            <a:solidFill>
              <a:srgbClr val="D4D4D4"/>
            </a:solidFill>
            <a:prstDash val="solid"/>
          </a:ln>
        </p:spPr>
      </p:sp>
      <p:sp>
        <p:nvSpPr>
          <p:cNvPr id="38" name="Text 36"/>
          <p:cNvSpPr/>
          <p:nvPr/>
        </p:nvSpPr>
        <p:spPr>
          <a:xfrm>
            <a:off x="731520" y="4251960"/>
            <a:ext cx="640080" cy="502920"/>
          </a:xfrm>
          <a:prstGeom prst="rect">
            <a:avLst/>
          </a:prstGeom>
          <a:noFill/>
          <a:ln/>
        </p:spPr>
        <p:txBody>
          <a:bodyPr wrap="square" rtlCol="0" anchor="ctr"/>
          <a:lstStyle/>
          <a:p>
            <a:pPr marL="0" indent="0" algn="ctr">
              <a:buNone/>
            </a:pPr>
            <a:r>
              <a:rPr lang="en-US" sz="1250" dirty="0">
                <a:solidFill>
                  <a:srgbClr val="262626"/>
                </a:solidFill>
                <a:latin typeface="Calibri" pitchFamily="34" charset="0"/>
                <a:ea typeface="Calibri" pitchFamily="34" charset="-122"/>
                <a:cs typeface="Calibri" pitchFamily="34" charset="-120"/>
              </a:rPr>
              <a:t>4</a:t>
            </a:r>
            <a:endParaRPr lang="en-US" sz="1250" dirty="0"/>
          </a:p>
        </p:txBody>
      </p:sp>
      <p:sp>
        <p:nvSpPr>
          <p:cNvPr id="39" name="Shape 37"/>
          <p:cNvSpPr/>
          <p:nvPr/>
        </p:nvSpPr>
        <p:spPr>
          <a:xfrm>
            <a:off x="1463040" y="4251960"/>
            <a:ext cx="2880360" cy="502920"/>
          </a:xfrm>
          <a:prstGeom prst="rect">
            <a:avLst/>
          </a:prstGeom>
          <a:solidFill>
            <a:srgbClr val="F3F4F6"/>
          </a:solidFill>
          <a:ln w="9525">
            <a:solidFill>
              <a:srgbClr val="D4D4D4"/>
            </a:solidFill>
            <a:prstDash val="solid"/>
          </a:ln>
        </p:spPr>
      </p:sp>
      <p:sp>
        <p:nvSpPr>
          <p:cNvPr id="40" name="Text 38"/>
          <p:cNvSpPr/>
          <p:nvPr/>
        </p:nvSpPr>
        <p:spPr>
          <a:xfrm>
            <a:off x="1554480" y="4251960"/>
            <a:ext cx="2697480" cy="502920"/>
          </a:xfrm>
          <a:prstGeom prst="rect">
            <a:avLst/>
          </a:prstGeom>
          <a:noFill/>
          <a:ln/>
        </p:spPr>
        <p:txBody>
          <a:bodyPr wrap="square" rtlCol="0" anchor="ctr"/>
          <a:lstStyle/>
          <a:p>
            <a:pPr marL="0" indent="0" algn="l">
              <a:buNone/>
            </a:pPr>
            <a:r>
              <a:rPr lang="en-US" sz="1250" dirty="0">
                <a:solidFill>
                  <a:srgbClr val="262626"/>
                </a:solidFill>
                <a:latin typeface="Calibri" pitchFamily="34" charset="0"/>
                <a:ea typeface="Calibri" pitchFamily="34" charset="-122"/>
                <a:cs typeface="Calibri" pitchFamily="34" charset="-120"/>
              </a:rPr>
              <a:t>write 1</a:t>
            </a:r>
            <a:endParaRPr lang="en-US" sz="1250" dirty="0"/>
          </a:p>
        </p:txBody>
      </p:sp>
      <p:sp>
        <p:nvSpPr>
          <p:cNvPr id="41" name="Shape 39"/>
          <p:cNvSpPr/>
          <p:nvPr/>
        </p:nvSpPr>
        <p:spPr>
          <a:xfrm>
            <a:off x="4343400" y="4251960"/>
            <a:ext cx="2880360" cy="502920"/>
          </a:xfrm>
          <a:prstGeom prst="rect">
            <a:avLst/>
          </a:prstGeom>
          <a:solidFill>
            <a:srgbClr val="F3F4F6"/>
          </a:solidFill>
          <a:ln w="9525">
            <a:solidFill>
              <a:srgbClr val="D4D4D4"/>
            </a:solidFill>
            <a:prstDash val="solid"/>
          </a:ln>
        </p:spPr>
      </p:sp>
      <p:sp>
        <p:nvSpPr>
          <p:cNvPr id="42" name="Text 40"/>
          <p:cNvSpPr/>
          <p:nvPr/>
        </p:nvSpPr>
        <p:spPr>
          <a:xfrm>
            <a:off x="4434840" y="4251960"/>
            <a:ext cx="2697480" cy="502920"/>
          </a:xfrm>
          <a:prstGeom prst="rect">
            <a:avLst/>
          </a:prstGeom>
          <a:noFill/>
          <a:ln/>
        </p:spPr>
        <p:txBody>
          <a:bodyPr wrap="square" rtlCol="0" anchor="ctr"/>
          <a:lstStyle/>
          <a:p>
            <a:pPr marL="0" indent="0" algn="l">
              <a:buNone/>
            </a:pPr>
            <a:r>
              <a:rPr lang="en-US" sz="1250" dirty="0">
                <a:solidFill>
                  <a:srgbClr val="262626"/>
                </a:solidFill>
                <a:latin typeface="Calibri" pitchFamily="34" charset="0"/>
                <a:ea typeface="Calibri" pitchFamily="34" charset="-122"/>
                <a:cs typeface="Calibri" pitchFamily="34" charset="-120"/>
              </a:rPr>
              <a:t>add 1 → 1</a:t>
            </a:r>
            <a:endParaRPr lang="en-US" sz="1250" dirty="0"/>
          </a:p>
        </p:txBody>
      </p:sp>
      <p:sp>
        <p:nvSpPr>
          <p:cNvPr id="43" name="Shape 41"/>
          <p:cNvSpPr/>
          <p:nvPr/>
        </p:nvSpPr>
        <p:spPr>
          <a:xfrm>
            <a:off x="7223760" y="4251960"/>
            <a:ext cx="1188720" cy="502920"/>
          </a:xfrm>
          <a:prstGeom prst="rect">
            <a:avLst/>
          </a:prstGeom>
          <a:solidFill>
            <a:srgbClr val="F3F4F6"/>
          </a:solidFill>
          <a:ln w="9525">
            <a:solidFill>
              <a:srgbClr val="D4D4D4"/>
            </a:solidFill>
            <a:prstDash val="solid"/>
          </a:ln>
        </p:spPr>
      </p:sp>
      <p:sp>
        <p:nvSpPr>
          <p:cNvPr id="44" name="Text 42"/>
          <p:cNvSpPr/>
          <p:nvPr/>
        </p:nvSpPr>
        <p:spPr>
          <a:xfrm>
            <a:off x="7315200" y="4251960"/>
            <a:ext cx="1005840" cy="502920"/>
          </a:xfrm>
          <a:prstGeom prst="rect">
            <a:avLst/>
          </a:prstGeom>
          <a:noFill/>
          <a:ln/>
        </p:spPr>
        <p:txBody>
          <a:bodyPr wrap="square" rtlCol="0" anchor="ctr"/>
          <a:lstStyle/>
          <a:p>
            <a:pPr marL="0" indent="0" algn="ctr">
              <a:buNone/>
            </a:pPr>
            <a:r>
              <a:rPr lang="en-US" sz="1250" dirty="0">
                <a:solidFill>
                  <a:srgbClr val="262626"/>
                </a:solidFill>
                <a:latin typeface="Consolas" pitchFamily="34" charset="0"/>
                <a:ea typeface="Consolas" pitchFamily="34" charset="-122"/>
                <a:cs typeface="Consolas" pitchFamily="34" charset="-120"/>
              </a:rPr>
              <a:t>1</a:t>
            </a:r>
            <a:endParaRPr lang="en-US" sz="1250" dirty="0"/>
          </a:p>
        </p:txBody>
      </p:sp>
      <p:sp>
        <p:nvSpPr>
          <p:cNvPr id="45" name="Shape 43"/>
          <p:cNvSpPr/>
          <p:nvPr/>
        </p:nvSpPr>
        <p:spPr>
          <a:xfrm>
            <a:off x="640080" y="4754880"/>
            <a:ext cx="822960" cy="502920"/>
          </a:xfrm>
          <a:prstGeom prst="rect">
            <a:avLst/>
          </a:prstGeom>
          <a:solidFill>
            <a:srgbClr val="FFFFFF"/>
          </a:solidFill>
          <a:ln w="9525">
            <a:solidFill>
              <a:srgbClr val="D4D4D4"/>
            </a:solidFill>
            <a:prstDash val="solid"/>
          </a:ln>
        </p:spPr>
      </p:sp>
      <p:sp>
        <p:nvSpPr>
          <p:cNvPr id="46" name="Text 44"/>
          <p:cNvSpPr/>
          <p:nvPr/>
        </p:nvSpPr>
        <p:spPr>
          <a:xfrm>
            <a:off x="731520" y="4754880"/>
            <a:ext cx="640080" cy="502920"/>
          </a:xfrm>
          <a:prstGeom prst="rect">
            <a:avLst/>
          </a:prstGeom>
          <a:noFill/>
          <a:ln/>
        </p:spPr>
        <p:txBody>
          <a:bodyPr wrap="square" rtlCol="0" anchor="ctr"/>
          <a:lstStyle/>
          <a:p>
            <a:pPr marL="0" indent="0" algn="ctr">
              <a:buNone/>
            </a:pPr>
            <a:r>
              <a:rPr lang="en-US" sz="1250" dirty="0">
                <a:solidFill>
                  <a:srgbClr val="262626"/>
                </a:solidFill>
                <a:latin typeface="Calibri" pitchFamily="34" charset="0"/>
                <a:ea typeface="Calibri" pitchFamily="34" charset="-122"/>
                <a:cs typeface="Calibri" pitchFamily="34" charset="-120"/>
              </a:rPr>
              <a:t>5</a:t>
            </a:r>
            <a:endParaRPr lang="en-US" sz="1250" dirty="0"/>
          </a:p>
        </p:txBody>
      </p:sp>
      <p:sp>
        <p:nvSpPr>
          <p:cNvPr id="47" name="Shape 45"/>
          <p:cNvSpPr/>
          <p:nvPr/>
        </p:nvSpPr>
        <p:spPr>
          <a:xfrm>
            <a:off x="1463040" y="4754880"/>
            <a:ext cx="2880360" cy="502920"/>
          </a:xfrm>
          <a:prstGeom prst="rect">
            <a:avLst/>
          </a:prstGeom>
          <a:solidFill>
            <a:srgbClr val="FFFFFF"/>
          </a:solidFill>
          <a:ln w="9525">
            <a:solidFill>
              <a:srgbClr val="D4D4D4"/>
            </a:solidFill>
            <a:prstDash val="solid"/>
          </a:ln>
        </p:spPr>
      </p:sp>
      <p:sp>
        <p:nvSpPr>
          <p:cNvPr id="48" name="Text 46"/>
          <p:cNvSpPr/>
          <p:nvPr/>
        </p:nvSpPr>
        <p:spPr>
          <a:xfrm>
            <a:off x="1554480" y="4754880"/>
            <a:ext cx="2697480" cy="502920"/>
          </a:xfrm>
          <a:prstGeom prst="rect">
            <a:avLst/>
          </a:prstGeom>
          <a:noFill/>
          <a:ln/>
        </p:spPr>
        <p:txBody>
          <a:bodyPr wrap="square" rtlCol="0" anchor="ctr"/>
          <a:lstStyle/>
          <a:p>
            <a:pPr marL="0" indent="0" algn="l">
              <a:buNone/>
            </a:pPr>
            <a:endParaRPr lang="en-US" sz="1250" dirty="0"/>
          </a:p>
        </p:txBody>
      </p:sp>
      <p:sp>
        <p:nvSpPr>
          <p:cNvPr id="49" name="Shape 47"/>
          <p:cNvSpPr/>
          <p:nvPr/>
        </p:nvSpPr>
        <p:spPr>
          <a:xfrm>
            <a:off x="4343400" y="4754880"/>
            <a:ext cx="2880360" cy="502920"/>
          </a:xfrm>
          <a:prstGeom prst="rect">
            <a:avLst/>
          </a:prstGeom>
          <a:solidFill>
            <a:srgbClr val="FFFFFF"/>
          </a:solidFill>
          <a:ln w="9525">
            <a:solidFill>
              <a:srgbClr val="D4D4D4"/>
            </a:solidFill>
            <a:prstDash val="solid"/>
          </a:ln>
        </p:spPr>
      </p:sp>
      <p:sp>
        <p:nvSpPr>
          <p:cNvPr id="50" name="Text 48"/>
          <p:cNvSpPr/>
          <p:nvPr/>
        </p:nvSpPr>
        <p:spPr>
          <a:xfrm>
            <a:off x="4434840" y="4754880"/>
            <a:ext cx="2697480" cy="502920"/>
          </a:xfrm>
          <a:prstGeom prst="rect">
            <a:avLst/>
          </a:prstGeom>
          <a:noFill/>
          <a:ln/>
        </p:spPr>
        <p:txBody>
          <a:bodyPr wrap="square" rtlCol="0" anchor="ctr"/>
          <a:lstStyle/>
          <a:p>
            <a:pPr marL="0" indent="0" algn="l">
              <a:buNone/>
            </a:pPr>
            <a:r>
              <a:rPr lang="en-US" sz="1250" dirty="0">
                <a:solidFill>
                  <a:srgbClr val="262626"/>
                </a:solidFill>
                <a:latin typeface="Calibri" pitchFamily="34" charset="0"/>
                <a:ea typeface="Calibri" pitchFamily="34" charset="-122"/>
                <a:cs typeface="Calibri" pitchFamily="34" charset="-120"/>
              </a:rPr>
              <a:t>write 1</a:t>
            </a:r>
            <a:endParaRPr lang="en-US" sz="1250" dirty="0"/>
          </a:p>
        </p:txBody>
      </p:sp>
      <p:sp>
        <p:nvSpPr>
          <p:cNvPr id="51" name="Shape 49"/>
          <p:cNvSpPr/>
          <p:nvPr/>
        </p:nvSpPr>
        <p:spPr>
          <a:xfrm>
            <a:off x="7223760" y="4754880"/>
            <a:ext cx="1188720" cy="502920"/>
          </a:xfrm>
          <a:prstGeom prst="rect">
            <a:avLst/>
          </a:prstGeom>
          <a:solidFill>
            <a:srgbClr val="FFFFFF"/>
          </a:solidFill>
          <a:ln w="9525">
            <a:solidFill>
              <a:srgbClr val="D4D4D4"/>
            </a:solidFill>
            <a:prstDash val="solid"/>
          </a:ln>
        </p:spPr>
      </p:sp>
      <p:sp>
        <p:nvSpPr>
          <p:cNvPr id="52" name="Text 50"/>
          <p:cNvSpPr/>
          <p:nvPr/>
        </p:nvSpPr>
        <p:spPr>
          <a:xfrm>
            <a:off x="7315200" y="4754880"/>
            <a:ext cx="1005840" cy="502920"/>
          </a:xfrm>
          <a:prstGeom prst="rect">
            <a:avLst/>
          </a:prstGeom>
          <a:noFill/>
          <a:ln/>
        </p:spPr>
        <p:txBody>
          <a:bodyPr wrap="square" rtlCol="0" anchor="ctr"/>
          <a:lstStyle/>
          <a:p>
            <a:pPr marL="0" indent="0" algn="ctr">
              <a:buNone/>
            </a:pPr>
            <a:r>
              <a:rPr lang="en-US" sz="1250" b="1" dirty="0">
                <a:solidFill>
                  <a:srgbClr val="A6342E"/>
                </a:solidFill>
                <a:latin typeface="Consolas" pitchFamily="34" charset="0"/>
                <a:ea typeface="Consolas" pitchFamily="34" charset="-122"/>
                <a:cs typeface="Consolas" pitchFamily="34" charset="-120"/>
              </a:rPr>
              <a:t>1  ✗</a:t>
            </a:r>
            <a:endParaRPr lang="en-US" sz="1250" dirty="0"/>
          </a:p>
        </p:txBody>
      </p:sp>
      <p:sp>
        <p:nvSpPr>
          <p:cNvPr id="53" name="Shape 51"/>
          <p:cNvSpPr/>
          <p:nvPr/>
        </p:nvSpPr>
        <p:spPr>
          <a:xfrm>
            <a:off x="8686800" y="2240280"/>
            <a:ext cx="2862072" cy="3017520"/>
          </a:xfrm>
          <a:prstGeom prst="rect">
            <a:avLst/>
          </a:prstGeom>
          <a:solidFill>
            <a:srgbClr val="F3F4F6"/>
          </a:solidFill>
          <a:ln w="12700">
            <a:solidFill>
              <a:srgbClr val="D4D4D4"/>
            </a:solidFill>
            <a:prstDash val="solid"/>
          </a:ln>
        </p:spPr>
      </p:sp>
      <p:pic>
        <p:nvPicPr>
          <p:cNvPr id="54" name="Image 0" descr="preencoded.png"/>
          <p:cNvPicPr>
            <a:picLocks noChangeAspect="1"/>
          </p:cNvPicPr>
          <p:nvPr/>
        </p:nvPicPr>
        <p:blipFill>
          <a:blip r:embed="rId3"/>
          <a:stretch>
            <a:fillRect/>
          </a:stretch>
        </p:blipFill>
        <p:spPr>
          <a:xfrm>
            <a:off x="8942832" y="2468880"/>
            <a:ext cx="310896" cy="310896"/>
          </a:xfrm>
          <a:prstGeom prst="rect">
            <a:avLst/>
          </a:prstGeom>
        </p:spPr>
      </p:pic>
      <p:sp>
        <p:nvSpPr>
          <p:cNvPr id="55" name="Text 52"/>
          <p:cNvSpPr/>
          <p:nvPr/>
        </p:nvSpPr>
        <p:spPr>
          <a:xfrm>
            <a:off x="9372600" y="2450592"/>
            <a:ext cx="2039112" cy="365760"/>
          </a:xfrm>
          <a:prstGeom prst="rect">
            <a:avLst/>
          </a:prstGeom>
          <a:noFill/>
          <a:ln/>
        </p:spPr>
        <p:txBody>
          <a:bodyPr wrap="square" rtlCol="0" anchor="ctr"/>
          <a:lstStyle/>
          <a:p>
            <a:pPr marL="0" indent="0">
              <a:buNone/>
            </a:pPr>
            <a:r>
              <a:rPr lang="en-US" sz="1500" b="1" dirty="0">
                <a:solidFill>
                  <a:srgbClr val="262626"/>
                </a:solidFill>
                <a:latin typeface="Calibri" pitchFamily="34" charset="0"/>
                <a:ea typeface="Calibri" pitchFamily="34" charset="-122"/>
                <a:cs typeface="Calibri" pitchFamily="34" charset="-120"/>
              </a:rPr>
              <a:t>Expected 2, got 1</a:t>
            </a:r>
            <a:endParaRPr lang="en-US" sz="1500" dirty="0"/>
          </a:p>
        </p:txBody>
      </p:sp>
      <p:sp>
        <p:nvSpPr>
          <p:cNvPr id="56" name="Text 53"/>
          <p:cNvSpPr/>
          <p:nvPr/>
        </p:nvSpPr>
        <p:spPr>
          <a:xfrm>
            <a:off x="8942832" y="3063240"/>
            <a:ext cx="2359152" cy="1005840"/>
          </a:xfrm>
          <a:prstGeom prst="rect">
            <a:avLst/>
          </a:prstGeom>
          <a:noFill/>
          <a:ln/>
        </p:spPr>
        <p:txBody>
          <a:bodyPr wrap="square" rtlCol="0" anchor="ctr"/>
          <a:lstStyle/>
          <a:p>
            <a:pPr marL="0" indent="0">
              <a:lnSpc>
                <a:spcPts val="1600"/>
              </a:lnSpc>
              <a:buNone/>
            </a:pPr>
            <a:r>
              <a:rPr lang="en-US" sz="1250" dirty="0">
                <a:solidFill>
                  <a:srgbClr val="262626"/>
                </a:solidFill>
                <a:latin typeface="Calibri" pitchFamily="34" charset="0"/>
                <a:ea typeface="Calibri" pitchFamily="34" charset="-122"/>
                <a:cs typeface="Calibri" pitchFamily="34" charset="-120"/>
              </a:rPr>
              <a:t>Both threads read 0 before either wrote back. One update is silently lost — a 'lost update'.</a:t>
            </a:r>
            <a:endParaRPr lang="en-US" sz="1250" dirty="0"/>
          </a:p>
        </p:txBody>
      </p:sp>
      <p:sp>
        <p:nvSpPr>
          <p:cNvPr id="57" name="Text 54"/>
          <p:cNvSpPr/>
          <p:nvPr/>
        </p:nvSpPr>
        <p:spPr>
          <a:xfrm>
            <a:off x="8942832" y="4206240"/>
            <a:ext cx="2359152" cy="914400"/>
          </a:xfrm>
          <a:prstGeom prst="rect">
            <a:avLst/>
          </a:prstGeom>
          <a:noFill/>
          <a:ln/>
        </p:spPr>
        <p:txBody>
          <a:bodyPr wrap="square" rtlCol="0" anchor="ctr"/>
          <a:lstStyle/>
          <a:p>
            <a:pPr marL="0" indent="0">
              <a:lnSpc>
                <a:spcPts val="1600"/>
              </a:lnSpc>
              <a:buNone/>
            </a:pPr>
            <a:r>
              <a:rPr lang="en-US" sz="1250" i="1" dirty="0">
                <a:solidFill>
                  <a:srgbClr val="A6342E"/>
                </a:solidFill>
                <a:latin typeface="Calibri" pitchFamily="34" charset="0"/>
                <a:ea typeface="Calibri" pitchFamily="34" charset="-122"/>
                <a:cs typeface="Calibri" pitchFamily="34" charset="-120"/>
              </a:rPr>
              <a:t>Worst part: it only fails sometimes, so the bug is hard to reproduce.</a:t>
            </a:r>
            <a:endParaRPr lang="en-US" sz="1250" dirty="0"/>
          </a:p>
        </p:txBody>
      </p:sp>
      <p:sp>
        <p:nvSpPr>
          <p:cNvPr id="58" name="Text 55"/>
          <p:cNvSpPr/>
          <p:nvPr/>
        </p:nvSpPr>
        <p:spPr>
          <a:xfrm>
            <a:off x="640080" y="5532120"/>
            <a:ext cx="7315200" cy="548640"/>
          </a:xfrm>
          <a:prstGeom prst="rect">
            <a:avLst/>
          </a:prstGeom>
          <a:noFill/>
          <a:ln/>
        </p:spPr>
        <p:txBody>
          <a:bodyPr wrap="square" rtlCol="0" anchor="ctr"/>
          <a:lstStyle/>
          <a:p>
            <a:pPr marL="0" indent="0">
              <a:lnSpc>
                <a:spcPts val="1800"/>
              </a:lnSpc>
              <a:buNone/>
            </a:pPr>
            <a:r>
              <a:rPr lang="en-US" sz="1350" dirty="0">
                <a:solidFill>
                  <a:srgbClr val="262626"/>
                </a:solidFill>
                <a:latin typeface="Calibri" pitchFamily="34" charset="0"/>
                <a:ea typeface="Calibri" pitchFamily="34" charset="-122"/>
                <a:cs typeface="Calibri" pitchFamily="34" charset="-120"/>
              </a:rPr>
              <a:t>Two threads each add 1 to counter=0. The correct answer is 2 — but with unlucky timing we get 1.</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2 · THE FIX</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Why locks are required</a:t>
            </a:r>
            <a:endParaRPr lang="en-US" sz="2800" dirty="0"/>
          </a:p>
        </p:txBody>
      </p:sp>
      <p:sp>
        <p:nvSpPr>
          <p:cNvPr id="4" name="Text 2"/>
          <p:cNvSpPr/>
          <p:nvPr/>
        </p:nvSpPr>
        <p:spPr>
          <a:xfrm>
            <a:off x="640080" y="1417320"/>
            <a:ext cx="10908792" cy="548640"/>
          </a:xfrm>
          <a:prstGeom prst="rect">
            <a:avLst/>
          </a:prstGeom>
          <a:noFill/>
          <a:ln/>
        </p:spPr>
        <p:txBody>
          <a:bodyPr wrap="square" rtlCol="0" anchor="ctr"/>
          <a:lstStyle/>
          <a:p>
            <a:pPr marL="0" indent="0">
              <a:lnSpc>
                <a:spcPts val="2100"/>
              </a:lnSpc>
              <a:buNone/>
            </a:pPr>
            <a:r>
              <a:rPr lang="en-US" sz="1550" dirty="0">
                <a:solidFill>
                  <a:srgbClr val="595959"/>
                </a:solidFill>
                <a:latin typeface="Calibri" pitchFamily="34" charset="0"/>
                <a:ea typeface="Calibri" pitchFamily="34" charset="-122"/>
                <a:cs typeface="Calibri" pitchFamily="34" charset="-120"/>
              </a:rPr>
              <a:t>A lock (mutex) forces threads to take turns. Only the thread holding the lock may touch the shared data — everyone else waits.</a:t>
            </a:r>
            <a:endParaRPr lang="en-US" sz="1550" dirty="0"/>
          </a:p>
        </p:txBody>
      </p:sp>
      <p:sp>
        <p:nvSpPr>
          <p:cNvPr id="5" name="Shape 3"/>
          <p:cNvSpPr/>
          <p:nvPr/>
        </p:nvSpPr>
        <p:spPr>
          <a:xfrm>
            <a:off x="640080" y="2148840"/>
            <a:ext cx="5852160" cy="2788920"/>
          </a:xfrm>
          <a:prstGeom prst="rect">
            <a:avLst/>
          </a:prstGeom>
          <a:solidFill>
            <a:srgbClr val="F5F6F8"/>
          </a:solidFill>
          <a:ln w="12700">
            <a:solidFill>
              <a:srgbClr val="D4D4D4"/>
            </a:solidFill>
            <a:prstDash val="solid"/>
          </a:ln>
        </p:spPr>
      </p:sp>
      <p:sp>
        <p:nvSpPr>
          <p:cNvPr id="6" name="Text 4"/>
          <p:cNvSpPr/>
          <p:nvPr/>
        </p:nvSpPr>
        <p:spPr>
          <a:xfrm>
            <a:off x="868680" y="2377440"/>
            <a:ext cx="5486400" cy="2377440"/>
          </a:xfrm>
          <a:prstGeom prst="rect">
            <a:avLst/>
          </a:prstGeom>
          <a:noFill/>
          <a:ln/>
        </p:spPr>
        <p:txBody>
          <a:bodyPr wrap="square" rtlCol="0" anchor="t"/>
          <a:lstStyle/>
          <a:p>
            <a:pPr marL="0" indent="0">
              <a:lnSpc>
                <a:spcPts val="2200"/>
              </a:lnSpc>
              <a:buNone/>
            </a:pPr>
            <a:r>
              <a:rPr lang="en-US" sz="1400" dirty="0">
                <a:solidFill>
                  <a:srgbClr val="262626"/>
                </a:solidFill>
                <a:latin typeface="Consolas" pitchFamily="34" charset="0"/>
                <a:ea typeface="Consolas" pitchFamily="34" charset="-122"/>
                <a:cs typeface="Consolas" pitchFamily="34" charset="-120"/>
              </a:rPr>
              <a:t>lock = threading.Lock()
</a:t>
            </a:r>
            <a:r>
              <a:rPr lang="en-US" sz="1400" dirty="0">
                <a:solidFill>
                  <a:srgbClr val="1F4E79"/>
                </a:solidFill>
                <a:latin typeface="Consolas" pitchFamily="34" charset="0"/>
                <a:ea typeface="Consolas" pitchFamily="34" charset="-122"/>
                <a:cs typeface="Consolas" pitchFamily="34" charset="-120"/>
              </a:rPr>
              <a:t>with</a:t>
            </a:r>
            <a:r>
              <a:rPr lang="en-US" sz="1400" dirty="0">
                <a:solidFill>
                  <a:srgbClr val="262626"/>
                </a:solidFill>
                <a:latin typeface="Consolas" pitchFamily="34" charset="0"/>
                <a:ea typeface="Consolas" pitchFamily="34" charset="-122"/>
                <a:cs typeface="Consolas" pitchFamily="34" charset="-120"/>
              </a:rPr>
              <a:t> lock:</a:t>
            </a:r>
            <a:r>
              <a:rPr lang="en-US" sz="1400" dirty="0">
                <a:solidFill>
                  <a:srgbClr val="8C8C8C"/>
                </a:solidFill>
                <a:latin typeface="Consolas" pitchFamily="34" charset="0"/>
                <a:ea typeface="Consolas" pitchFamily="34" charset="-122"/>
                <a:cs typeface="Consolas" pitchFamily="34" charset="-120"/>
              </a:rPr>
              <a:t>                # acquire
</a:t>
            </a:r>
            <a:r>
              <a:rPr lang="en-US" sz="1400" dirty="0">
                <a:solidFill>
                  <a:srgbClr val="262626"/>
                </a:solidFill>
                <a:latin typeface="Consolas" pitchFamily="34" charset="0"/>
                <a:ea typeface="Consolas" pitchFamily="34" charset="-122"/>
                <a:cs typeface="Consolas" pitchFamily="34" charset="-120"/>
              </a:rPr>
              <a:t>    counter += </a:t>
            </a:r>
            <a:r>
              <a:rPr lang="en-US" sz="1400" dirty="0">
                <a:solidFill>
                  <a:srgbClr val="2E7D32"/>
                </a:solidFill>
                <a:latin typeface="Consolas" pitchFamily="34" charset="0"/>
                <a:ea typeface="Consolas" pitchFamily="34" charset="-122"/>
                <a:cs typeface="Consolas" pitchFamily="34" charset="-120"/>
              </a:rPr>
              <a:t>1</a:t>
            </a:r>
            <a:r>
              <a:rPr lang="en-US" sz="1400" dirty="0">
                <a:solidFill>
                  <a:srgbClr val="8C8C8C"/>
                </a:solidFill>
                <a:latin typeface="Consolas" pitchFamily="34" charset="0"/>
                <a:ea typeface="Consolas" pitchFamily="34" charset="-122"/>
                <a:cs typeface="Consolas" pitchFamily="34" charset="-120"/>
              </a:rPr>
              <a:t>         # critical
                     # section
# lock released automatically</a:t>
            </a:r>
            <a:endParaRPr lang="en-US" sz="1400" dirty="0"/>
          </a:p>
        </p:txBody>
      </p:sp>
      <p:sp>
        <p:nvSpPr>
          <p:cNvPr id="7" name="Text 5"/>
          <p:cNvSpPr/>
          <p:nvPr/>
        </p:nvSpPr>
        <p:spPr>
          <a:xfrm>
            <a:off x="640080" y="5074920"/>
            <a:ext cx="5852160" cy="457200"/>
          </a:xfrm>
          <a:prstGeom prst="rect">
            <a:avLst/>
          </a:prstGeom>
          <a:noFill/>
          <a:ln/>
        </p:spPr>
        <p:txBody>
          <a:bodyPr wrap="square" rtlCol="0" anchor="ctr"/>
          <a:lstStyle/>
          <a:p>
            <a:pPr marL="0" indent="0">
              <a:buNone/>
            </a:pPr>
            <a:r>
              <a:rPr lang="en-US" sz="1250" i="1" dirty="0">
                <a:solidFill>
                  <a:srgbClr val="595959"/>
                </a:solidFill>
                <a:latin typeface="Calibri" pitchFamily="34" charset="0"/>
                <a:ea typeface="Calibri" pitchFamily="34" charset="-122"/>
                <a:cs typeface="Calibri" pitchFamily="34" charset="-120"/>
              </a:rPr>
              <a:t>The block guarded by the lock is the "critical section".</a:t>
            </a:r>
            <a:endParaRPr lang="en-US" sz="1250" dirty="0"/>
          </a:p>
        </p:txBody>
      </p:sp>
      <p:pic>
        <p:nvPicPr>
          <p:cNvPr id="8" name="Image 0" descr="preencoded.png"/>
          <p:cNvPicPr>
            <a:picLocks noChangeAspect="1"/>
          </p:cNvPicPr>
          <p:nvPr/>
        </p:nvPicPr>
        <p:blipFill>
          <a:blip r:embed="rId3"/>
          <a:stretch>
            <a:fillRect/>
          </a:stretch>
        </p:blipFill>
        <p:spPr>
          <a:xfrm>
            <a:off x="6903720" y="2212848"/>
            <a:ext cx="310896" cy="310896"/>
          </a:xfrm>
          <a:prstGeom prst="rect">
            <a:avLst/>
          </a:prstGeom>
        </p:spPr>
      </p:pic>
      <p:sp>
        <p:nvSpPr>
          <p:cNvPr id="9" name="Text 6"/>
          <p:cNvSpPr/>
          <p:nvPr/>
        </p:nvSpPr>
        <p:spPr>
          <a:xfrm>
            <a:off x="7406640" y="2157984"/>
            <a:ext cx="4114800" cy="365760"/>
          </a:xfrm>
          <a:prstGeom prst="rect">
            <a:avLst/>
          </a:prstGeom>
          <a:noFill/>
          <a:ln/>
        </p:spPr>
        <p:txBody>
          <a:bodyPr wrap="square" rtlCol="0" anchor="ctr"/>
          <a:lstStyle/>
          <a:p>
            <a:pPr marL="0" indent="0">
              <a:buNone/>
            </a:pPr>
            <a:r>
              <a:rPr lang="en-US" sz="1550" b="1" dirty="0">
                <a:solidFill>
                  <a:srgbClr val="262626"/>
                </a:solidFill>
                <a:latin typeface="Calibri" pitchFamily="34" charset="0"/>
                <a:ea typeface="Calibri" pitchFamily="34" charset="-122"/>
                <a:cs typeface="Calibri" pitchFamily="34" charset="-120"/>
              </a:rPr>
              <a:t>Mutual exclusion</a:t>
            </a:r>
            <a:endParaRPr lang="en-US" sz="1550" dirty="0"/>
          </a:p>
        </p:txBody>
      </p:sp>
      <p:sp>
        <p:nvSpPr>
          <p:cNvPr id="10" name="Text 7"/>
          <p:cNvSpPr/>
          <p:nvPr/>
        </p:nvSpPr>
        <p:spPr>
          <a:xfrm>
            <a:off x="7406640" y="2523744"/>
            <a:ext cx="4160520" cy="502920"/>
          </a:xfrm>
          <a:prstGeom prst="rect">
            <a:avLst/>
          </a:prstGeom>
          <a:noFill/>
          <a:ln/>
        </p:spPr>
        <p:txBody>
          <a:bodyPr wrap="square" rtlCol="0" anchor="ctr"/>
          <a:lstStyle/>
          <a:p>
            <a:pPr marL="0" indent="0">
              <a:lnSpc>
                <a:spcPts val="1500"/>
              </a:lnSpc>
              <a:buNone/>
            </a:pPr>
            <a:r>
              <a:rPr lang="en-US" sz="1250" dirty="0">
                <a:solidFill>
                  <a:srgbClr val="595959"/>
                </a:solidFill>
                <a:latin typeface="Calibri" pitchFamily="34" charset="0"/>
                <a:ea typeface="Calibri" pitchFamily="34" charset="-122"/>
                <a:cs typeface="Calibri" pitchFamily="34" charset="-120"/>
              </a:rPr>
              <a:t>One thread in the critical section at a time.</a:t>
            </a:r>
            <a:endParaRPr lang="en-US" sz="1250" dirty="0"/>
          </a:p>
        </p:txBody>
      </p:sp>
      <p:pic>
        <p:nvPicPr>
          <p:cNvPr id="11" name="Image 1" descr="preencoded.png"/>
          <p:cNvPicPr>
            <a:picLocks noChangeAspect="1"/>
          </p:cNvPicPr>
          <p:nvPr/>
        </p:nvPicPr>
        <p:blipFill>
          <a:blip r:embed="rId4"/>
          <a:stretch>
            <a:fillRect/>
          </a:stretch>
        </p:blipFill>
        <p:spPr>
          <a:xfrm>
            <a:off x="6903720" y="3145536"/>
            <a:ext cx="310896" cy="310896"/>
          </a:xfrm>
          <a:prstGeom prst="rect">
            <a:avLst/>
          </a:prstGeom>
        </p:spPr>
      </p:pic>
      <p:sp>
        <p:nvSpPr>
          <p:cNvPr id="12" name="Text 8"/>
          <p:cNvSpPr/>
          <p:nvPr/>
        </p:nvSpPr>
        <p:spPr>
          <a:xfrm>
            <a:off x="7406640" y="3090672"/>
            <a:ext cx="4114800" cy="365760"/>
          </a:xfrm>
          <a:prstGeom prst="rect">
            <a:avLst/>
          </a:prstGeom>
          <a:noFill/>
          <a:ln/>
        </p:spPr>
        <p:txBody>
          <a:bodyPr wrap="square" rtlCol="0" anchor="ctr"/>
          <a:lstStyle/>
          <a:p>
            <a:pPr marL="0" indent="0">
              <a:buNone/>
            </a:pPr>
            <a:r>
              <a:rPr lang="en-US" sz="1550" b="1" dirty="0">
                <a:solidFill>
                  <a:srgbClr val="262626"/>
                </a:solidFill>
                <a:latin typeface="Calibri" pitchFamily="34" charset="0"/>
                <a:ea typeface="Calibri" pitchFamily="34" charset="-122"/>
                <a:cs typeface="Calibri" pitchFamily="34" charset="-120"/>
              </a:rPr>
              <a:t>Turn-taking</a:t>
            </a:r>
            <a:endParaRPr lang="en-US" sz="1550" dirty="0"/>
          </a:p>
        </p:txBody>
      </p:sp>
      <p:sp>
        <p:nvSpPr>
          <p:cNvPr id="13" name="Text 9"/>
          <p:cNvSpPr/>
          <p:nvPr/>
        </p:nvSpPr>
        <p:spPr>
          <a:xfrm>
            <a:off x="7406640" y="3456432"/>
            <a:ext cx="4160520" cy="502920"/>
          </a:xfrm>
          <a:prstGeom prst="rect">
            <a:avLst/>
          </a:prstGeom>
          <a:noFill/>
          <a:ln/>
        </p:spPr>
        <p:txBody>
          <a:bodyPr wrap="square" rtlCol="0" anchor="ctr"/>
          <a:lstStyle/>
          <a:p>
            <a:pPr marL="0" indent="0">
              <a:lnSpc>
                <a:spcPts val="1500"/>
              </a:lnSpc>
              <a:buNone/>
            </a:pPr>
            <a:r>
              <a:rPr lang="en-US" sz="1250" dirty="0">
                <a:solidFill>
                  <a:srgbClr val="595959"/>
                </a:solidFill>
                <a:latin typeface="Calibri" pitchFamily="34" charset="0"/>
                <a:ea typeface="Calibri" pitchFamily="34" charset="-122"/>
                <a:cs typeface="Calibri" pitchFamily="34" charset="-120"/>
              </a:rPr>
              <a:t>Others block on acquire() until it's free.</a:t>
            </a:r>
            <a:endParaRPr lang="en-US" sz="1250" dirty="0"/>
          </a:p>
        </p:txBody>
      </p:sp>
      <p:pic>
        <p:nvPicPr>
          <p:cNvPr id="14" name="Image 2" descr="preencoded.png"/>
          <p:cNvPicPr>
            <a:picLocks noChangeAspect="1"/>
          </p:cNvPicPr>
          <p:nvPr/>
        </p:nvPicPr>
        <p:blipFill>
          <a:blip r:embed="rId5"/>
          <a:stretch>
            <a:fillRect/>
          </a:stretch>
        </p:blipFill>
        <p:spPr>
          <a:xfrm>
            <a:off x="6903720" y="4078224"/>
            <a:ext cx="310896" cy="310896"/>
          </a:xfrm>
          <a:prstGeom prst="rect">
            <a:avLst/>
          </a:prstGeom>
        </p:spPr>
      </p:pic>
      <p:sp>
        <p:nvSpPr>
          <p:cNvPr id="15" name="Text 10"/>
          <p:cNvSpPr/>
          <p:nvPr/>
        </p:nvSpPr>
        <p:spPr>
          <a:xfrm>
            <a:off x="7406640" y="4023360"/>
            <a:ext cx="4114800" cy="365760"/>
          </a:xfrm>
          <a:prstGeom prst="rect">
            <a:avLst/>
          </a:prstGeom>
          <a:noFill/>
          <a:ln/>
        </p:spPr>
        <p:txBody>
          <a:bodyPr wrap="square" rtlCol="0" anchor="ctr"/>
          <a:lstStyle/>
          <a:p>
            <a:pPr marL="0" indent="0">
              <a:buNone/>
            </a:pPr>
            <a:r>
              <a:rPr lang="en-US" sz="1550" b="1" dirty="0">
                <a:solidFill>
                  <a:srgbClr val="262626"/>
                </a:solidFill>
                <a:latin typeface="Calibri" pitchFamily="34" charset="0"/>
                <a:ea typeface="Calibri" pitchFamily="34" charset="-122"/>
                <a:cs typeface="Calibri" pitchFamily="34" charset="-120"/>
              </a:rPr>
              <a:t>Correct result</a:t>
            </a:r>
            <a:endParaRPr lang="en-US" sz="1550" dirty="0"/>
          </a:p>
        </p:txBody>
      </p:sp>
      <p:sp>
        <p:nvSpPr>
          <p:cNvPr id="16" name="Text 11"/>
          <p:cNvSpPr/>
          <p:nvPr/>
        </p:nvSpPr>
        <p:spPr>
          <a:xfrm>
            <a:off x="7406640" y="4389120"/>
            <a:ext cx="4160520" cy="502920"/>
          </a:xfrm>
          <a:prstGeom prst="rect">
            <a:avLst/>
          </a:prstGeom>
          <a:noFill/>
          <a:ln/>
        </p:spPr>
        <p:txBody>
          <a:bodyPr wrap="square" rtlCol="0" anchor="ctr"/>
          <a:lstStyle/>
          <a:p>
            <a:pPr marL="0" indent="0">
              <a:lnSpc>
                <a:spcPts val="1500"/>
              </a:lnSpc>
              <a:buNone/>
            </a:pPr>
            <a:r>
              <a:rPr lang="en-US" sz="1250" dirty="0">
                <a:solidFill>
                  <a:srgbClr val="595959"/>
                </a:solidFill>
                <a:latin typeface="Calibri" pitchFamily="34" charset="0"/>
                <a:ea typeface="Calibri" pitchFamily="34" charset="-122"/>
                <a:cs typeface="Calibri" pitchFamily="34" charset="-120"/>
              </a:rPr>
              <a:t>read-add-write can no longer interleave.</a:t>
            </a:r>
            <a:endParaRPr lang="en-US" sz="1250" dirty="0"/>
          </a:p>
        </p:txBody>
      </p:sp>
      <p:sp>
        <p:nvSpPr>
          <p:cNvPr id="17" name="Shape 12"/>
          <p:cNvSpPr/>
          <p:nvPr/>
        </p:nvSpPr>
        <p:spPr>
          <a:xfrm>
            <a:off x="6903720" y="5074920"/>
            <a:ext cx="4645152" cy="1005840"/>
          </a:xfrm>
          <a:prstGeom prst="rect">
            <a:avLst/>
          </a:prstGeom>
          <a:solidFill>
            <a:srgbClr val="F3F4F6"/>
          </a:solidFill>
          <a:ln w="9525">
            <a:solidFill>
              <a:srgbClr val="D4D4D4"/>
            </a:solidFill>
            <a:prstDash val="solid"/>
          </a:ln>
        </p:spPr>
      </p:sp>
      <p:sp>
        <p:nvSpPr>
          <p:cNvPr id="18" name="Text 13"/>
          <p:cNvSpPr/>
          <p:nvPr/>
        </p:nvSpPr>
        <p:spPr>
          <a:xfrm>
            <a:off x="7178040" y="5074920"/>
            <a:ext cx="4114800" cy="1005840"/>
          </a:xfrm>
          <a:prstGeom prst="rect">
            <a:avLst/>
          </a:prstGeom>
          <a:noFill/>
          <a:ln/>
        </p:spPr>
        <p:txBody>
          <a:bodyPr wrap="square" rtlCol="0" anchor="ctr"/>
          <a:lstStyle/>
          <a:p>
            <a:pPr marL="0" indent="0">
              <a:lnSpc>
                <a:spcPts val="1800"/>
              </a:lnSpc>
              <a:buNone/>
            </a:pPr>
            <a:r>
              <a:rPr lang="en-US" sz="1300" b="1" dirty="0">
                <a:solidFill>
                  <a:srgbClr val="A6342E"/>
                </a:solidFill>
                <a:latin typeface="Calibri" pitchFamily="34" charset="0"/>
                <a:ea typeface="Calibri" pitchFamily="34" charset="-122"/>
                <a:cs typeface="Calibri" pitchFamily="34" charset="-120"/>
              </a:rPr>
              <a:t>But locks add cost:  </a:t>
            </a:r>
            <a:r>
              <a:rPr lang="en-US" sz="1300" dirty="0">
                <a:solidFill>
                  <a:srgbClr val="262626"/>
                </a:solidFill>
                <a:latin typeface="Calibri" pitchFamily="34" charset="0"/>
                <a:ea typeface="Calibri" pitchFamily="34" charset="-122"/>
                <a:cs typeface="Calibri" pitchFamily="34" charset="-120"/>
              </a:rPr>
              <a:t>they slow things down, and used carelessly they create the next problem — deadlock.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2 · RISK #2 &amp; #3</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Deadlocks &amp; inconsistency</a:t>
            </a:r>
            <a:endParaRPr lang="en-US" sz="2800" dirty="0"/>
          </a:p>
        </p:txBody>
      </p:sp>
      <p:sp>
        <p:nvSpPr>
          <p:cNvPr id="4" name="Shape 2"/>
          <p:cNvSpPr/>
          <p:nvPr/>
        </p:nvSpPr>
        <p:spPr>
          <a:xfrm>
            <a:off x="640080" y="1554480"/>
            <a:ext cx="5271516" cy="4617720"/>
          </a:xfrm>
          <a:prstGeom prst="rect">
            <a:avLst/>
          </a:prstGeom>
          <a:solidFill>
            <a:srgbClr val="FFFFFF"/>
          </a:solidFill>
          <a:ln w="12700">
            <a:solidFill>
              <a:srgbClr val="D4D4D4"/>
            </a:solidFill>
            <a:prstDash val="solid"/>
          </a:ln>
        </p:spPr>
      </p:sp>
      <p:pic>
        <p:nvPicPr>
          <p:cNvPr id="5" name="Image 0" descr="preencoded.png"/>
          <p:cNvPicPr>
            <a:picLocks noChangeAspect="1"/>
          </p:cNvPicPr>
          <p:nvPr/>
        </p:nvPicPr>
        <p:blipFill>
          <a:blip r:embed="rId3"/>
          <a:stretch>
            <a:fillRect/>
          </a:stretch>
        </p:blipFill>
        <p:spPr>
          <a:xfrm>
            <a:off x="960120" y="1847088"/>
            <a:ext cx="347472" cy="347472"/>
          </a:xfrm>
          <a:prstGeom prst="rect">
            <a:avLst/>
          </a:prstGeom>
        </p:spPr>
      </p:pic>
      <p:sp>
        <p:nvSpPr>
          <p:cNvPr id="6" name="Text 3"/>
          <p:cNvSpPr/>
          <p:nvPr/>
        </p:nvSpPr>
        <p:spPr>
          <a:xfrm>
            <a:off x="1463040" y="1810512"/>
            <a:ext cx="3657600" cy="457200"/>
          </a:xfrm>
          <a:prstGeom prst="rect">
            <a:avLst/>
          </a:prstGeom>
          <a:noFill/>
          <a:ln/>
        </p:spPr>
        <p:txBody>
          <a:bodyPr wrap="square"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Deadlock</a:t>
            </a:r>
            <a:endParaRPr lang="en-US" sz="1800" dirty="0"/>
          </a:p>
        </p:txBody>
      </p:sp>
      <p:sp>
        <p:nvSpPr>
          <p:cNvPr id="7" name="Text 4"/>
          <p:cNvSpPr/>
          <p:nvPr/>
        </p:nvSpPr>
        <p:spPr>
          <a:xfrm>
            <a:off x="960120" y="2514600"/>
            <a:ext cx="4631436" cy="548640"/>
          </a:xfrm>
          <a:prstGeom prst="rect">
            <a:avLst/>
          </a:prstGeom>
          <a:noFill/>
          <a:ln/>
        </p:spPr>
        <p:txBody>
          <a:bodyPr wrap="square" rtlCol="0" anchor="ctr"/>
          <a:lstStyle/>
          <a:p>
            <a:pPr marL="0" indent="0">
              <a:lnSpc>
                <a:spcPts val="1800"/>
              </a:lnSpc>
              <a:buNone/>
            </a:pPr>
            <a:r>
              <a:rPr lang="en-US" sz="1350" dirty="0">
                <a:solidFill>
                  <a:srgbClr val="595959"/>
                </a:solidFill>
                <a:latin typeface="Calibri" pitchFamily="34" charset="0"/>
                <a:ea typeface="Calibri" pitchFamily="34" charset="-122"/>
                <a:cs typeface="Calibri" pitchFamily="34" charset="-120"/>
              </a:rPr>
              <a:t>Two threads each hold a lock the other needs — so both wait forever.</a:t>
            </a:r>
            <a:endParaRPr lang="en-US" sz="1350" dirty="0"/>
          </a:p>
        </p:txBody>
      </p:sp>
      <p:sp>
        <p:nvSpPr>
          <p:cNvPr id="8" name="Shape 5"/>
          <p:cNvSpPr/>
          <p:nvPr/>
        </p:nvSpPr>
        <p:spPr>
          <a:xfrm>
            <a:off x="960120" y="3337560"/>
            <a:ext cx="2011680" cy="777240"/>
          </a:xfrm>
          <a:prstGeom prst="rect">
            <a:avLst/>
          </a:prstGeom>
          <a:solidFill>
            <a:srgbClr val="F3F4F6"/>
          </a:solidFill>
          <a:ln w="12700">
            <a:solidFill>
              <a:srgbClr val="D4D4D4"/>
            </a:solidFill>
            <a:prstDash val="solid"/>
          </a:ln>
        </p:spPr>
      </p:sp>
      <p:sp>
        <p:nvSpPr>
          <p:cNvPr id="9" name="Text 6"/>
          <p:cNvSpPr/>
          <p:nvPr/>
        </p:nvSpPr>
        <p:spPr>
          <a:xfrm>
            <a:off x="960120" y="3337560"/>
            <a:ext cx="2011680" cy="777240"/>
          </a:xfrm>
          <a:prstGeom prst="rect">
            <a:avLst/>
          </a:prstGeom>
          <a:noFill/>
          <a:ln/>
        </p:spPr>
        <p:txBody>
          <a:bodyPr wrap="square" rtlCol="0" anchor="ctr"/>
          <a:lstStyle/>
          <a:p>
            <a:pPr marL="0" indent="0" algn="ctr">
              <a:lnSpc>
                <a:spcPts val="1400"/>
              </a:lnSpc>
              <a:buNone/>
            </a:pPr>
            <a:r>
              <a:rPr lang="en-US" sz="1200" b="1" dirty="0">
                <a:solidFill>
                  <a:srgbClr val="262626"/>
                </a:solidFill>
                <a:latin typeface="Calibri" pitchFamily="34" charset="0"/>
                <a:ea typeface="Calibri" pitchFamily="34" charset="-122"/>
                <a:cs typeface="Calibri" pitchFamily="34" charset="-120"/>
              </a:rPr>
              <a:t>Thread A</a:t>
            </a:r>
            <a:endParaRPr lang="en-US" sz="1200" dirty="0"/>
          </a:p>
          <a:p>
            <a:pPr marL="0" indent="0" algn="ctr">
              <a:lnSpc>
                <a:spcPts val="1400"/>
              </a:lnSpc>
              <a:buNone/>
            </a:pPr>
            <a:r>
              <a:rPr lang="en-US" sz="1200" b="1" dirty="0">
                <a:solidFill>
                  <a:srgbClr val="262626"/>
                </a:solidFill>
                <a:latin typeface="Calibri" pitchFamily="34" charset="0"/>
                <a:ea typeface="Calibri" pitchFamily="34" charset="-122"/>
                <a:cs typeface="Calibri" pitchFamily="34" charset="-120"/>
              </a:rPr>
              <a:t>holds Lock 1</a:t>
            </a:r>
            <a:endParaRPr lang="en-US" sz="1200" dirty="0"/>
          </a:p>
        </p:txBody>
      </p:sp>
      <p:sp>
        <p:nvSpPr>
          <p:cNvPr id="10" name="Shape 7"/>
          <p:cNvSpPr/>
          <p:nvPr/>
        </p:nvSpPr>
        <p:spPr>
          <a:xfrm>
            <a:off x="3749040" y="3337560"/>
            <a:ext cx="2011680" cy="777240"/>
          </a:xfrm>
          <a:prstGeom prst="rect">
            <a:avLst/>
          </a:prstGeom>
          <a:solidFill>
            <a:srgbClr val="F3F4F6"/>
          </a:solidFill>
          <a:ln w="12700">
            <a:solidFill>
              <a:srgbClr val="D4D4D4"/>
            </a:solidFill>
            <a:prstDash val="solid"/>
          </a:ln>
        </p:spPr>
      </p:sp>
      <p:sp>
        <p:nvSpPr>
          <p:cNvPr id="11" name="Text 8"/>
          <p:cNvSpPr/>
          <p:nvPr/>
        </p:nvSpPr>
        <p:spPr>
          <a:xfrm>
            <a:off x="3749040" y="3337560"/>
            <a:ext cx="2011680" cy="777240"/>
          </a:xfrm>
          <a:prstGeom prst="rect">
            <a:avLst/>
          </a:prstGeom>
          <a:noFill/>
          <a:ln/>
        </p:spPr>
        <p:txBody>
          <a:bodyPr wrap="square" rtlCol="0" anchor="ctr"/>
          <a:lstStyle/>
          <a:p>
            <a:pPr marL="0" indent="0" algn="ctr">
              <a:lnSpc>
                <a:spcPts val="1400"/>
              </a:lnSpc>
              <a:buNone/>
            </a:pPr>
            <a:r>
              <a:rPr lang="en-US" sz="1200" b="1" dirty="0">
                <a:solidFill>
                  <a:srgbClr val="262626"/>
                </a:solidFill>
                <a:latin typeface="Calibri" pitchFamily="34" charset="0"/>
                <a:ea typeface="Calibri" pitchFamily="34" charset="-122"/>
                <a:cs typeface="Calibri" pitchFamily="34" charset="-120"/>
              </a:rPr>
              <a:t>Thread B</a:t>
            </a:r>
            <a:endParaRPr lang="en-US" sz="1200" dirty="0"/>
          </a:p>
          <a:p>
            <a:pPr marL="0" indent="0" algn="ctr">
              <a:lnSpc>
                <a:spcPts val="1400"/>
              </a:lnSpc>
              <a:buNone/>
            </a:pPr>
            <a:r>
              <a:rPr lang="en-US" sz="1200" b="1" dirty="0">
                <a:solidFill>
                  <a:srgbClr val="262626"/>
                </a:solidFill>
                <a:latin typeface="Calibri" pitchFamily="34" charset="0"/>
                <a:ea typeface="Calibri" pitchFamily="34" charset="-122"/>
                <a:cs typeface="Calibri" pitchFamily="34" charset="-120"/>
              </a:rPr>
              <a:t>holds Lock 2</a:t>
            </a:r>
            <a:endParaRPr lang="en-US" sz="1200" dirty="0"/>
          </a:p>
        </p:txBody>
      </p:sp>
      <p:sp>
        <p:nvSpPr>
          <p:cNvPr id="12" name="Shape 9"/>
          <p:cNvSpPr/>
          <p:nvPr/>
        </p:nvSpPr>
        <p:spPr>
          <a:xfrm>
            <a:off x="2971800" y="3566160"/>
            <a:ext cx="777240" cy="0"/>
          </a:xfrm>
          <a:prstGeom prst="line">
            <a:avLst/>
          </a:prstGeom>
          <a:noFill/>
          <a:ln w="25400">
            <a:solidFill>
              <a:srgbClr val="A6342E"/>
            </a:solidFill>
            <a:prstDash val="solid"/>
            <a:tailEnd type="triangle"/>
          </a:ln>
        </p:spPr>
      </p:sp>
      <p:sp>
        <p:nvSpPr>
          <p:cNvPr id="13" name="Shape 10"/>
          <p:cNvSpPr/>
          <p:nvPr/>
        </p:nvSpPr>
        <p:spPr>
          <a:xfrm>
            <a:off x="2971800" y="3886200"/>
            <a:ext cx="777240" cy="0"/>
          </a:xfrm>
          <a:prstGeom prst="line">
            <a:avLst/>
          </a:prstGeom>
          <a:noFill/>
          <a:ln w="25400">
            <a:solidFill>
              <a:srgbClr val="A6342E"/>
            </a:solidFill>
            <a:prstDash val="solid"/>
            <a:headEnd type="triangle"/>
          </a:ln>
        </p:spPr>
      </p:sp>
      <p:sp>
        <p:nvSpPr>
          <p:cNvPr id="14" name="Text 11"/>
          <p:cNvSpPr/>
          <p:nvPr/>
        </p:nvSpPr>
        <p:spPr>
          <a:xfrm>
            <a:off x="960120" y="4206240"/>
            <a:ext cx="4631436" cy="320040"/>
          </a:xfrm>
          <a:prstGeom prst="rect">
            <a:avLst/>
          </a:prstGeom>
          <a:noFill/>
          <a:ln/>
        </p:spPr>
        <p:txBody>
          <a:bodyPr wrap="square" rtlCol="0" anchor="ctr"/>
          <a:lstStyle/>
          <a:p>
            <a:pPr marL="0" indent="0" algn="ctr">
              <a:buNone/>
            </a:pPr>
            <a:r>
              <a:rPr lang="en-US" sz="1100" i="1" dirty="0">
                <a:solidFill>
                  <a:srgbClr val="A6342E"/>
                </a:solidFill>
                <a:latin typeface="Calibri" pitchFamily="34" charset="0"/>
                <a:ea typeface="Calibri" pitchFamily="34" charset="-122"/>
                <a:cs typeface="Calibri" pitchFamily="34" charset="-120"/>
              </a:rPr>
              <a:t>wants Lock 2  /  wants Lock 1</a:t>
            </a:r>
            <a:endParaRPr lang="en-US" sz="1100" dirty="0"/>
          </a:p>
        </p:txBody>
      </p:sp>
      <p:sp>
        <p:nvSpPr>
          <p:cNvPr id="15" name="Text 12"/>
          <p:cNvSpPr/>
          <p:nvPr/>
        </p:nvSpPr>
        <p:spPr>
          <a:xfrm>
            <a:off x="960120" y="4709160"/>
            <a:ext cx="4631436" cy="457200"/>
          </a:xfrm>
          <a:prstGeom prst="rect">
            <a:avLst/>
          </a:prstGeom>
          <a:noFill/>
          <a:ln/>
        </p:spPr>
        <p:txBody>
          <a:bodyPr wrap="square" rtlCol="0" anchor="ctr"/>
          <a:lstStyle/>
          <a:p>
            <a:pPr marL="0" indent="0">
              <a:buNone/>
            </a:pPr>
            <a:r>
              <a:rPr lang="en-US" sz="1300" b="1" dirty="0">
                <a:solidFill>
                  <a:srgbClr val="262626"/>
                </a:solidFill>
                <a:latin typeface="Calibri" pitchFamily="34" charset="0"/>
                <a:ea typeface="Calibri" pitchFamily="34" charset="-122"/>
                <a:cs typeface="Calibri" pitchFamily="34" charset="-120"/>
              </a:rPr>
              <a:t>Neither can proceed. The program freezes.</a:t>
            </a:r>
            <a:endParaRPr lang="en-US" sz="1300" dirty="0"/>
          </a:p>
        </p:txBody>
      </p:sp>
      <p:sp>
        <p:nvSpPr>
          <p:cNvPr id="16" name="Text 13"/>
          <p:cNvSpPr/>
          <p:nvPr/>
        </p:nvSpPr>
        <p:spPr>
          <a:xfrm>
            <a:off x="960120" y="5257800"/>
            <a:ext cx="4631436" cy="731520"/>
          </a:xfrm>
          <a:prstGeom prst="rect">
            <a:avLst/>
          </a:prstGeom>
          <a:noFill/>
          <a:ln/>
        </p:spPr>
        <p:txBody>
          <a:bodyPr wrap="square" rtlCol="0" anchor="ctr"/>
          <a:lstStyle/>
          <a:p>
            <a:pPr marL="0" indent="0">
              <a:lnSpc>
                <a:spcPts val="1600"/>
              </a:lnSpc>
              <a:buNone/>
            </a:pPr>
            <a:r>
              <a:rPr lang="en-US" sz="1250" i="1" dirty="0">
                <a:solidFill>
                  <a:srgbClr val="595959"/>
                </a:solidFill>
                <a:latin typeface="Calibri" pitchFamily="34" charset="0"/>
                <a:ea typeface="Calibri" pitchFamily="34" charset="-122"/>
                <a:cs typeface="Calibri" pitchFamily="34" charset="-120"/>
              </a:rPr>
              <a:t>Avoid it: always acquire locks in the same order, or use timeouts.</a:t>
            </a:r>
            <a:endParaRPr lang="en-US" sz="1250" dirty="0"/>
          </a:p>
        </p:txBody>
      </p:sp>
      <p:sp>
        <p:nvSpPr>
          <p:cNvPr id="17" name="Shape 14"/>
          <p:cNvSpPr/>
          <p:nvPr/>
        </p:nvSpPr>
        <p:spPr>
          <a:xfrm>
            <a:off x="6277356" y="1554480"/>
            <a:ext cx="5271516" cy="4617720"/>
          </a:xfrm>
          <a:prstGeom prst="rect">
            <a:avLst/>
          </a:prstGeom>
          <a:solidFill>
            <a:srgbClr val="FFFFFF"/>
          </a:solidFill>
          <a:ln w="12700">
            <a:solidFill>
              <a:srgbClr val="D4D4D4"/>
            </a:solidFill>
            <a:prstDash val="solid"/>
          </a:ln>
        </p:spPr>
      </p:sp>
      <p:pic>
        <p:nvPicPr>
          <p:cNvPr id="18" name="Image 1" descr="preencoded.png"/>
          <p:cNvPicPr>
            <a:picLocks noChangeAspect="1"/>
          </p:cNvPicPr>
          <p:nvPr/>
        </p:nvPicPr>
        <p:blipFill>
          <a:blip r:embed="rId4"/>
          <a:stretch>
            <a:fillRect/>
          </a:stretch>
        </p:blipFill>
        <p:spPr>
          <a:xfrm>
            <a:off x="6597396" y="1847088"/>
            <a:ext cx="347472" cy="347472"/>
          </a:xfrm>
          <a:prstGeom prst="rect">
            <a:avLst/>
          </a:prstGeom>
        </p:spPr>
      </p:pic>
      <p:sp>
        <p:nvSpPr>
          <p:cNvPr id="19" name="Text 15"/>
          <p:cNvSpPr/>
          <p:nvPr/>
        </p:nvSpPr>
        <p:spPr>
          <a:xfrm>
            <a:off x="7100316" y="1810512"/>
            <a:ext cx="3657600" cy="457200"/>
          </a:xfrm>
          <a:prstGeom prst="rect">
            <a:avLst/>
          </a:prstGeom>
          <a:noFill/>
          <a:ln/>
        </p:spPr>
        <p:txBody>
          <a:bodyPr wrap="square"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Inconsistency</a:t>
            </a:r>
            <a:endParaRPr lang="en-US" sz="1800" dirty="0"/>
          </a:p>
        </p:txBody>
      </p:sp>
      <p:sp>
        <p:nvSpPr>
          <p:cNvPr id="20" name="Text 16"/>
          <p:cNvSpPr/>
          <p:nvPr/>
        </p:nvSpPr>
        <p:spPr>
          <a:xfrm>
            <a:off x="6597396" y="2514600"/>
            <a:ext cx="4631436" cy="548640"/>
          </a:xfrm>
          <a:prstGeom prst="rect">
            <a:avLst/>
          </a:prstGeom>
          <a:noFill/>
          <a:ln/>
        </p:spPr>
        <p:txBody>
          <a:bodyPr wrap="square" rtlCol="0" anchor="ctr"/>
          <a:lstStyle/>
          <a:p>
            <a:pPr marL="0" indent="0">
              <a:lnSpc>
                <a:spcPts val="1800"/>
              </a:lnSpc>
              <a:buNone/>
            </a:pPr>
            <a:r>
              <a:rPr lang="en-US" sz="1350" dirty="0">
                <a:solidFill>
                  <a:srgbClr val="595959"/>
                </a:solidFill>
                <a:latin typeface="Calibri" pitchFamily="34" charset="0"/>
                <a:ea typeface="Calibri" pitchFamily="34" charset="-122"/>
                <a:cs typeface="Calibri" pitchFamily="34" charset="-120"/>
              </a:rPr>
              <a:t>A thread reads shared data mid-update and sees a half-finished, invalid state.</a:t>
            </a:r>
            <a:endParaRPr lang="en-US" sz="1350" dirty="0"/>
          </a:p>
        </p:txBody>
      </p:sp>
      <p:sp>
        <p:nvSpPr>
          <p:cNvPr id="21" name="Text 17"/>
          <p:cNvSpPr/>
          <p:nvPr/>
        </p:nvSpPr>
        <p:spPr>
          <a:xfrm>
            <a:off x="6597396" y="3200400"/>
            <a:ext cx="4631436" cy="320040"/>
          </a:xfrm>
          <a:prstGeom prst="rect">
            <a:avLst/>
          </a:prstGeom>
          <a:noFill/>
          <a:ln/>
        </p:spPr>
        <p:txBody>
          <a:bodyPr wrap="square" rtlCol="0" anchor="ctr"/>
          <a:lstStyle/>
          <a:p>
            <a:pPr marL="0" indent="0">
              <a:buNone/>
            </a:pPr>
            <a:r>
              <a:rPr lang="en-US" sz="1300" b="1" dirty="0">
                <a:solidFill>
                  <a:srgbClr val="262626"/>
                </a:solidFill>
                <a:latin typeface="Calibri" pitchFamily="34" charset="0"/>
                <a:ea typeface="Calibri" pitchFamily="34" charset="-122"/>
                <a:cs typeface="Calibri" pitchFamily="34" charset="-120"/>
              </a:rPr>
              <a:t>Example — a bank transfer of €50:</a:t>
            </a:r>
            <a:endParaRPr lang="en-US" sz="1300" dirty="0"/>
          </a:p>
        </p:txBody>
      </p:sp>
      <p:sp>
        <p:nvSpPr>
          <p:cNvPr id="22" name="Shape 18"/>
          <p:cNvSpPr/>
          <p:nvPr/>
        </p:nvSpPr>
        <p:spPr>
          <a:xfrm>
            <a:off x="6597396" y="3566160"/>
            <a:ext cx="4631436" cy="475488"/>
          </a:xfrm>
          <a:prstGeom prst="rect">
            <a:avLst/>
          </a:prstGeom>
          <a:solidFill>
            <a:srgbClr val="F3F4F6"/>
          </a:solidFill>
          <a:ln w="9525">
            <a:solidFill>
              <a:srgbClr val="D4D4D4"/>
            </a:solidFill>
            <a:prstDash val="solid"/>
          </a:ln>
        </p:spPr>
      </p:sp>
      <p:sp>
        <p:nvSpPr>
          <p:cNvPr id="23" name="Text 19"/>
          <p:cNvSpPr/>
          <p:nvPr/>
        </p:nvSpPr>
        <p:spPr>
          <a:xfrm>
            <a:off x="6734556" y="3566160"/>
            <a:ext cx="4357116" cy="475488"/>
          </a:xfrm>
          <a:prstGeom prst="rect">
            <a:avLst/>
          </a:prstGeom>
          <a:noFill/>
          <a:ln/>
        </p:spPr>
        <p:txBody>
          <a:bodyPr wrap="square" rtlCol="0" anchor="ctr"/>
          <a:lstStyle/>
          <a:p>
            <a:pPr marL="0" indent="0">
              <a:buNone/>
            </a:pPr>
            <a:r>
              <a:rPr lang="en-US" sz="1250" dirty="0">
                <a:solidFill>
                  <a:srgbClr val="262626"/>
                </a:solidFill>
                <a:latin typeface="Calibri" pitchFamily="34" charset="0"/>
                <a:ea typeface="Calibri" pitchFamily="34" charset="-122"/>
                <a:cs typeface="Calibri" pitchFamily="34" charset="-120"/>
              </a:rPr>
              <a:t>Step 1: subtract €50 from account A</a:t>
            </a:r>
            <a:endParaRPr lang="en-US" sz="1250" dirty="0"/>
          </a:p>
        </p:txBody>
      </p:sp>
      <p:sp>
        <p:nvSpPr>
          <p:cNvPr id="24" name="Shape 20"/>
          <p:cNvSpPr/>
          <p:nvPr/>
        </p:nvSpPr>
        <p:spPr>
          <a:xfrm>
            <a:off x="6597396" y="4133088"/>
            <a:ext cx="4631436" cy="475488"/>
          </a:xfrm>
          <a:prstGeom prst="rect">
            <a:avLst/>
          </a:prstGeom>
          <a:solidFill>
            <a:srgbClr val="F3E4E2"/>
          </a:solidFill>
          <a:ln w="12700">
            <a:solidFill>
              <a:srgbClr val="A6342E"/>
            </a:solidFill>
            <a:prstDash val="solid"/>
          </a:ln>
        </p:spPr>
      </p:sp>
      <p:sp>
        <p:nvSpPr>
          <p:cNvPr id="25" name="Text 21"/>
          <p:cNvSpPr/>
          <p:nvPr/>
        </p:nvSpPr>
        <p:spPr>
          <a:xfrm>
            <a:off x="6734556" y="4133088"/>
            <a:ext cx="4357116" cy="475488"/>
          </a:xfrm>
          <a:prstGeom prst="rect">
            <a:avLst/>
          </a:prstGeom>
          <a:noFill/>
          <a:ln/>
        </p:spPr>
        <p:txBody>
          <a:bodyPr wrap="square" rtlCol="0" anchor="ctr"/>
          <a:lstStyle/>
          <a:p>
            <a:pPr marL="0" indent="0">
              <a:buNone/>
            </a:pPr>
            <a:r>
              <a:rPr lang="en-US" sz="1250" b="1" i="1" dirty="0">
                <a:solidFill>
                  <a:srgbClr val="A6342E"/>
                </a:solidFill>
                <a:latin typeface="Calibri" pitchFamily="34" charset="0"/>
                <a:ea typeface="Calibri" pitchFamily="34" charset="-122"/>
                <a:cs typeface="Calibri" pitchFamily="34" charset="-120"/>
              </a:rPr>
              <a:t>→ another thread reads the totals here ←</a:t>
            </a:r>
            <a:endParaRPr lang="en-US" sz="1250" dirty="0"/>
          </a:p>
        </p:txBody>
      </p:sp>
      <p:sp>
        <p:nvSpPr>
          <p:cNvPr id="26" name="Shape 22"/>
          <p:cNvSpPr/>
          <p:nvPr/>
        </p:nvSpPr>
        <p:spPr>
          <a:xfrm>
            <a:off x="6597396" y="4700016"/>
            <a:ext cx="4631436" cy="475488"/>
          </a:xfrm>
          <a:prstGeom prst="rect">
            <a:avLst/>
          </a:prstGeom>
          <a:solidFill>
            <a:srgbClr val="F3F4F6"/>
          </a:solidFill>
          <a:ln w="9525">
            <a:solidFill>
              <a:srgbClr val="D4D4D4"/>
            </a:solidFill>
            <a:prstDash val="solid"/>
          </a:ln>
        </p:spPr>
      </p:sp>
      <p:sp>
        <p:nvSpPr>
          <p:cNvPr id="27" name="Text 23"/>
          <p:cNvSpPr/>
          <p:nvPr/>
        </p:nvSpPr>
        <p:spPr>
          <a:xfrm>
            <a:off x="6734556" y="4700016"/>
            <a:ext cx="4357116" cy="475488"/>
          </a:xfrm>
          <a:prstGeom prst="rect">
            <a:avLst/>
          </a:prstGeom>
          <a:noFill/>
          <a:ln/>
        </p:spPr>
        <p:txBody>
          <a:bodyPr wrap="square" rtlCol="0" anchor="ctr"/>
          <a:lstStyle/>
          <a:p>
            <a:pPr marL="0" indent="0">
              <a:buNone/>
            </a:pPr>
            <a:r>
              <a:rPr lang="en-US" sz="1250" dirty="0">
                <a:solidFill>
                  <a:srgbClr val="262626"/>
                </a:solidFill>
                <a:latin typeface="Calibri" pitchFamily="34" charset="0"/>
                <a:ea typeface="Calibri" pitchFamily="34" charset="-122"/>
                <a:cs typeface="Calibri" pitchFamily="34" charset="-120"/>
              </a:rPr>
              <a:t>Step 2: add €50 to account B</a:t>
            </a:r>
            <a:endParaRPr lang="en-US" sz="1250" dirty="0"/>
          </a:p>
        </p:txBody>
      </p:sp>
      <p:sp>
        <p:nvSpPr>
          <p:cNvPr id="28" name="Text 24"/>
          <p:cNvSpPr/>
          <p:nvPr/>
        </p:nvSpPr>
        <p:spPr>
          <a:xfrm>
            <a:off x="6597396" y="5394960"/>
            <a:ext cx="4631436" cy="640080"/>
          </a:xfrm>
          <a:prstGeom prst="rect">
            <a:avLst/>
          </a:prstGeom>
          <a:noFill/>
          <a:ln/>
        </p:spPr>
        <p:txBody>
          <a:bodyPr wrap="square" rtlCol="0" anchor="ctr"/>
          <a:lstStyle/>
          <a:p>
            <a:pPr marL="0" indent="0">
              <a:lnSpc>
                <a:spcPts val="1600"/>
              </a:lnSpc>
              <a:buNone/>
            </a:pPr>
            <a:r>
              <a:rPr lang="en-US" sz="1250" i="1" dirty="0">
                <a:solidFill>
                  <a:srgbClr val="595959"/>
                </a:solidFill>
                <a:latin typeface="Calibri" pitchFamily="34" charset="0"/>
                <a:ea typeface="Calibri" pitchFamily="34" charset="-122"/>
                <a:cs typeface="Calibri" pitchFamily="34" charset="-120"/>
              </a:rPr>
              <a:t>Between the two steps €50 has simply vanished. The reader sees a total that was never meant to exist.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3 · COMPARISON</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Actor model vs. shared memory</a:t>
            </a:r>
            <a:endParaRPr lang="en-US" sz="2800" dirty="0"/>
          </a:p>
        </p:txBody>
      </p:sp>
      <p:sp>
        <p:nvSpPr>
          <p:cNvPr id="4" name="Text 2"/>
          <p:cNvSpPr/>
          <p:nvPr/>
        </p:nvSpPr>
        <p:spPr>
          <a:xfrm>
            <a:off x="640080" y="1417320"/>
            <a:ext cx="10908792" cy="457200"/>
          </a:xfrm>
          <a:prstGeom prst="rect">
            <a:avLst/>
          </a:prstGeom>
          <a:noFill/>
          <a:ln/>
        </p:spPr>
        <p:txBody>
          <a:bodyPr wrap="square" rtlCol="0" anchor="ctr"/>
          <a:lstStyle/>
          <a:p>
            <a:pPr marL="0" indent="0">
              <a:buNone/>
            </a:pPr>
            <a:r>
              <a:rPr lang="en-US" sz="1550" dirty="0">
                <a:solidFill>
                  <a:srgbClr val="595959"/>
                </a:solidFill>
                <a:latin typeface="Calibri" pitchFamily="34" charset="0"/>
                <a:ea typeface="Calibri" pitchFamily="34" charset="-122"/>
                <a:cs typeface="Calibri" pitchFamily="34" charset="-120"/>
              </a:rPr>
              <a:t>The real difference is in the design, not a feature checklist. Three dimensions tell the whole story.</a:t>
            </a:r>
            <a:endParaRPr lang="en-US" sz="1550" dirty="0"/>
          </a:p>
        </p:txBody>
      </p:sp>
      <p:sp>
        <p:nvSpPr>
          <p:cNvPr id="5" name="Shape 3"/>
          <p:cNvSpPr/>
          <p:nvPr/>
        </p:nvSpPr>
        <p:spPr>
          <a:xfrm>
            <a:off x="3840480" y="2057400"/>
            <a:ext cx="3858768" cy="548640"/>
          </a:xfrm>
          <a:prstGeom prst="rect">
            <a:avLst/>
          </a:prstGeom>
          <a:solidFill>
            <a:srgbClr val="1F4E79"/>
          </a:solidFill>
          <a:ln w="12700">
            <a:solidFill>
              <a:srgbClr val="FFFFFF"/>
            </a:solidFill>
            <a:prstDash val="solid"/>
          </a:ln>
        </p:spPr>
      </p:sp>
      <p:sp>
        <p:nvSpPr>
          <p:cNvPr id="6" name="Text 4"/>
          <p:cNvSpPr/>
          <p:nvPr/>
        </p:nvSpPr>
        <p:spPr>
          <a:xfrm>
            <a:off x="3840480" y="2057400"/>
            <a:ext cx="3858768"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Actor Model</a:t>
            </a:r>
            <a:endParaRPr lang="en-US" sz="1600" dirty="0"/>
          </a:p>
        </p:txBody>
      </p:sp>
      <p:sp>
        <p:nvSpPr>
          <p:cNvPr id="7" name="Shape 5"/>
          <p:cNvSpPr/>
          <p:nvPr/>
        </p:nvSpPr>
        <p:spPr>
          <a:xfrm>
            <a:off x="7699248" y="2057400"/>
            <a:ext cx="3849624" cy="548640"/>
          </a:xfrm>
          <a:prstGeom prst="rect">
            <a:avLst/>
          </a:prstGeom>
          <a:solidFill>
            <a:srgbClr val="A6342E"/>
          </a:solidFill>
          <a:ln w="12700">
            <a:solidFill>
              <a:srgbClr val="FFFFFF"/>
            </a:solidFill>
            <a:prstDash val="solid"/>
          </a:ln>
        </p:spPr>
      </p:sp>
      <p:sp>
        <p:nvSpPr>
          <p:cNvPr id="8" name="Text 6"/>
          <p:cNvSpPr/>
          <p:nvPr/>
        </p:nvSpPr>
        <p:spPr>
          <a:xfrm>
            <a:off x="7699248" y="2057400"/>
            <a:ext cx="3849624"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Shared Memory</a:t>
            </a:r>
            <a:endParaRPr lang="en-US" sz="1600" dirty="0"/>
          </a:p>
        </p:txBody>
      </p:sp>
      <p:sp>
        <p:nvSpPr>
          <p:cNvPr id="9" name="Shape 7"/>
          <p:cNvSpPr/>
          <p:nvPr/>
        </p:nvSpPr>
        <p:spPr>
          <a:xfrm>
            <a:off x="640080" y="2606040"/>
            <a:ext cx="3200400" cy="896112"/>
          </a:xfrm>
          <a:prstGeom prst="rect">
            <a:avLst/>
          </a:prstGeom>
          <a:solidFill>
            <a:srgbClr val="404040"/>
          </a:solidFill>
          <a:ln w="12700">
            <a:solidFill>
              <a:srgbClr val="FFFFFF"/>
            </a:solidFill>
            <a:prstDash val="solid"/>
          </a:ln>
        </p:spPr>
      </p:sp>
      <p:sp>
        <p:nvSpPr>
          <p:cNvPr id="10" name="Text 8"/>
          <p:cNvSpPr/>
          <p:nvPr/>
        </p:nvSpPr>
        <p:spPr>
          <a:xfrm>
            <a:off x="777240" y="2606040"/>
            <a:ext cx="2926080" cy="8961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State management</a:t>
            </a:r>
            <a:endParaRPr lang="en-US" sz="1400" dirty="0"/>
          </a:p>
        </p:txBody>
      </p:sp>
      <p:sp>
        <p:nvSpPr>
          <p:cNvPr id="11" name="Shape 9"/>
          <p:cNvSpPr/>
          <p:nvPr/>
        </p:nvSpPr>
        <p:spPr>
          <a:xfrm>
            <a:off x="3840480" y="2606040"/>
            <a:ext cx="3858768" cy="896112"/>
          </a:xfrm>
          <a:prstGeom prst="rect">
            <a:avLst/>
          </a:prstGeom>
          <a:solidFill>
            <a:srgbClr val="F7FAFC"/>
          </a:solidFill>
          <a:ln w="12700">
            <a:solidFill>
              <a:srgbClr val="D4D4D4"/>
            </a:solidFill>
            <a:prstDash val="solid"/>
          </a:ln>
        </p:spPr>
      </p:sp>
      <p:sp>
        <p:nvSpPr>
          <p:cNvPr id="12" name="Text 10"/>
          <p:cNvSpPr/>
          <p:nvPr/>
        </p:nvSpPr>
        <p:spPr>
          <a:xfrm>
            <a:off x="3977640" y="2606040"/>
            <a:ext cx="3584448"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Isolated — each actor owns its state. Nothing is shared.</a:t>
            </a:r>
            <a:endParaRPr lang="en-US" sz="1250" dirty="0"/>
          </a:p>
        </p:txBody>
      </p:sp>
      <p:sp>
        <p:nvSpPr>
          <p:cNvPr id="13" name="Shape 11"/>
          <p:cNvSpPr/>
          <p:nvPr/>
        </p:nvSpPr>
        <p:spPr>
          <a:xfrm>
            <a:off x="7699248" y="2606040"/>
            <a:ext cx="3849624" cy="896112"/>
          </a:xfrm>
          <a:prstGeom prst="rect">
            <a:avLst/>
          </a:prstGeom>
          <a:solidFill>
            <a:srgbClr val="FBF6F5"/>
          </a:solidFill>
          <a:ln w="12700">
            <a:solidFill>
              <a:srgbClr val="D4D4D4"/>
            </a:solidFill>
            <a:prstDash val="solid"/>
          </a:ln>
        </p:spPr>
      </p:sp>
      <p:sp>
        <p:nvSpPr>
          <p:cNvPr id="14" name="Text 12"/>
          <p:cNvSpPr/>
          <p:nvPr/>
        </p:nvSpPr>
        <p:spPr>
          <a:xfrm>
            <a:off x="7836408" y="2606040"/>
            <a:ext cx="3575304"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Shared — all threads see the same variables.</a:t>
            </a:r>
            <a:endParaRPr lang="en-US" sz="1250" dirty="0"/>
          </a:p>
        </p:txBody>
      </p:sp>
      <p:sp>
        <p:nvSpPr>
          <p:cNvPr id="15" name="Shape 13"/>
          <p:cNvSpPr/>
          <p:nvPr/>
        </p:nvSpPr>
        <p:spPr>
          <a:xfrm>
            <a:off x="640080" y="3502152"/>
            <a:ext cx="3200400" cy="896112"/>
          </a:xfrm>
          <a:prstGeom prst="rect">
            <a:avLst/>
          </a:prstGeom>
          <a:solidFill>
            <a:srgbClr val="404040"/>
          </a:solidFill>
          <a:ln w="12700">
            <a:solidFill>
              <a:srgbClr val="FFFFFF"/>
            </a:solidFill>
            <a:prstDash val="solid"/>
          </a:ln>
        </p:spPr>
      </p:sp>
      <p:sp>
        <p:nvSpPr>
          <p:cNvPr id="16" name="Text 14"/>
          <p:cNvSpPr/>
          <p:nvPr/>
        </p:nvSpPr>
        <p:spPr>
          <a:xfrm>
            <a:off x="777240" y="3502152"/>
            <a:ext cx="2926080" cy="8961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Synchronisation</a:t>
            </a:r>
            <a:endParaRPr lang="en-US" sz="1400" dirty="0"/>
          </a:p>
        </p:txBody>
      </p:sp>
      <p:sp>
        <p:nvSpPr>
          <p:cNvPr id="17" name="Shape 15"/>
          <p:cNvSpPr/>
          <p:nvPr/>
        </p:nvSpPr>
        <p:spPr>
          <a:xfrm>
            <a:off x="3840480" y="3502152"/>
            <a:ext cx="3858768" cy="896112"/>
          </a:xfrm>
          <a:prstGeom prst="rect">
            <a:avLst/>
          </a:prstGeom>
          <a:solidFill>
            <a:srgbClr val="F7FAFC"/>
          </a:solidFill>
          <a:ln w="12700">
            <a:solidFill>
              <a:srgbClr val="D4D4D4"/>
            </a:solidFill>
            <a:prstDash val="solid"/>
          </a:ln>
        </p:spPr>
      </p:sp>
      <p:sp>
        <p:nvSpPr>
          <p:cNvPr id="18" name="Text 16"/>
          <p:cNvSpPr/>
          <p:nvPr/>
        </p:nvSpPr>
        <p:spPr>
          <a:xfrm>
            <a:off x="3977640" y="3502152"/>
            <a:ext cx="3584448"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None needed. The mailbox serialises work for free.</a:t>
            </a:r>
            <a:endParaRPr lang="en-US" sz="1250" dirty="0"/>
          </a:p>
        </p:txBody>
      </p:sp>
      <p:sp>
        <p:nvSpPr>
          <p:cNvPr id="19" name="Shape 17"/>
          <p:cNvSpPr/>
          <p:nvPr/>
        </p:nvSpPr>
        <p:spPr>
          <a:xfrm>
            <a:off x="7699248" y="3502152"/>
            <a:ext cx="3849624" cy="896112"/>
          </a:xfrm>
          <a:prstGeom prst="rect">
            <a:avLst/>
          </a:prstGeom>
          <a:solidFill>
            <a:srgbClr val="FBF6F5"/>
          </a:solidFill>
          <a:ln w="12700">
            <a:solidFill>
              <a:srgbClr val="D4D4D4"/>
            </a:solidFill>
            <a:prstDash val="solid"/>
          </a:ln>
        </p:spPr>
      </p:sp>
      <p:sp>
        <p:nvSpPr>
          <p:cNvPr id="20" name="Text 18"/>
          <p:cNvSpPr/>
          <p:nvPr/>
        </p:nvSpPr>
        <p:spPr>
          <a:xfrm>
            <a:off x="7836408" y="3502152"/>
            <a:ext cx="3575304"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Manual locks everywhere data is shared. Easy to get wrong.</a:t>
            </a:r>
            <a:endParaRPr lang="en-US" sz="1250" dirty="0"/>
          </a:p>
        </p:txBody>
      </p:sp>
      <p:sp>
        <p:nvSpPr>
          <p:cNvPr id="21" name="Shape 19"/>
          <p:cNvSpPr/>
          <p:nvPr/>
        </p:nvSpPr>
        <p:spPr>
          <a:xfrm>
            <a:off x="640080" y="4398264"/>
            <a:ext cx="3200400" cy="896112"/>
          </a:xfrm>
          <a:prstGeom prst="rect">
            <a:avLst/>
          </a:prstGeom>
          <a:solidFill>
            <a:srgbClr val="404040"/>
          </a:solidFill>
          <a:ln w="12700">
            <a:solidFill>
              <a:srgbClr val="FFFFFF"/>
            </a:solidFill>
            <a:prstDash val="solid"/>
          </a:ln>
        </p:spPr>
      </p:sp>
      <p:sp>
        <p:nvSpPr>
          <p:cNvPr id="22" name="Text 20"/>
          <p:cNvSpPr/>
          <p:nvPr/>
        </p:nvSpPr>
        <p:spPr>
          <a:xfrm>
            <a:off x="777240" y="4398264"/>
            <a:ext cx="2926080" cy="8961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Safety &amp; predictability</a:t>
            </a:r>
            <a:endParaRPr lang="en-US" sz="1400" dirty="0"/>
          </a:p>
        </p:txBody>
      </p:sp>
      <p:sp>
        <p:nvSpPr>
          <p:cNvPr id="23" name="Shape 21"/>
          <p:cNvSpPr/>
          <p:nvPr/>
        </p:nvSpPr>
        <p:spPr>
          <a:xfrm>
            <a:off x="3840480" y="4398264"/>
            <a:ext cx="3858768" cy="896112"/>
          </a:xfrm>
          <a:prstGeom prst="rect">
            <a:avLst/>
          </a:prstGeom>
          <a:solidFill>
            <a:srgbClr val="F7FAFC"/>
          </a:solidFill>
          <a:ln w="12700">
            <a:solidFill>
              <a:srgbClr val="D4D4D4"/>
            </a:solidFill>
            <a:prstDash val="solid"/>
          </a:ln>
        </p:spPr>
      </p:sp>
      <p:sp>
        <p:nvSpPr>
          <p:cNvPr id="24" name="Text 22"/>
          <p:cNvSpPr/>
          <p:nvPr/>
        </p:nvSpPr>
        <p:spPr>
          <a:xfrm>
            <a:off x="3977640" y="4398264"/>
            <a:ext cx="3584448"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Safe by design; no data races. Easy to reason about.</a:t>
            </a:r>
            <a:endParaRPr lang="en-US" sz="1250" dirty="0"/>
          </a:p>
        </p:txBody>
      </p:sp>
      <p:sp>
        <p:nvSpPr>
          <p:cNvPr id="25" name="Shape 23"/>
          <p:cNvSpPr/>
          <p:nvPr/>
        </p:nvSpPr>
        <p:spPr>
          <a:xfrm>
            <a:off x="7699248" y="4398264"/>
            <a:ext cx="3849624" cy="896112"/>
          </a:xfrm>
          <a:prstGeom prst="rect">
            <a:avLst/>
          </a:prstGeom>
          <a:solidFill>
            <a:srgbClr val="FBF6F5"/>
          </a:solidFill>
          <a:ln w="12700">
            <a:solidFill>
              <a:srgbClr val="D4D4D4"/>
            </a:solidFill>
            <a:prstDash val="solid"/>
          </a:ln>
        </p:spPr>
      </p:sp>
      <p:sp>
        <p:nvSpPr>
          <p:cNvPr id="26" name="Text 24"/>
          <p:cNvSpPr/>
          <p:nvPr/>
        </p:nvSpPr>
        <p:spPr>
          <a:xfrm>
            <a:off x="7836408" y="4398264"/>
            <a:ext cx="3575304"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Powerful but fragile; races, deadlocks, timing bugs.</a:t>
            </a:r>
            <a:endParaRPr lang="en-US" sz="1250" dirty="0"/>
          </a:p>
        </p:txBody>
      </p:sp>
      <p:sp>
        <p:nvSpPr>
          <p:cNvPr id="27" name="Shape 25"/>
          <p:cNvSpPr/>
          <p:nvPr/>
        </p:nvSpPr>
        <p:spPr>
          <a:xfrm>
            <a:off x="640080" y="5294376"/>
            <a:ext cx="3200400" cy="896112"/>
          </a:xfrm>
          <a:prstGeom prst="rect">
            <a:avLst/>
          </a:prstGeom>
          <a:solidFill>
            <a:srgbClr val="404040"/>
          </a:solidFill>
          <a:ln w="12700">
            <a:solidFill>
              <a:srgbClr val="FFFFFF"/>
            </a:solidFill>
            <a:prstDash val="solid"/>
          </a:ln>
        </p:spPr>
      </p:sp>
      <p:sp>
        <p:nvSpPr>
          <p:cNvPr id="28" name="Text 26"/>
          <p:cNvSpPr/>
          <p:nvPr/>
        </p:nvSpPr>
        <p:spPr>
          <a:xfrm>
            <a:off x="777240" y="5294376"/>
            <a:ext cx="2926080" cy="8961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Communication</a:t>
            </a:r>
            <a:endParaRPr lang="en-US" sz="1400" dirty="0"/>
          </a:p>
        </p:txBody>
      </p:sp>
      <p:sp>
        <p:nvSpPr>
          <p:cNvPr id="29" name="Shape 27"/>
          <p:cNvSpPr/>
          <p:nvPr/>
        </p:nvSpPr>
        <p:spPr>
          <a:xfrm>
            <a:off x="3840480" y="5294376"/>
            <a:ext cx="3858768" cy="896112"/>
          </a:xfrm>
          <a:prstGeom prst="rect">
            <a:avLst/>
          </a:prstGeom>
          <a:solidFill>
            <a:srgbClr val="F7FAFC"/>
          </a:solidFill>
          <a:ln w="12700">
            <a:solidFill>
              <a:srgbClr val="D4D4D4"/>
            </a:solidFill>
            <a:prstDash val="solid"/>
          </a:ln>
        </p:spPr>
      </p:sp>
      <p:sp>
        <p:nvSpPr>
          <p:cNvPr id="30" name="Text 28"/>
          <p:cNvSpPr/>
          <p:nvPr/>
        </p:nvSpPr>
        <p:spPr>
          <a:xfrm>
            <a:off x="3977640" y="5294376"/>
            <a:ext cx="3584448"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Explicit messages between actors.</a:t>
            </a:r>
            <a:endParaRPr lang="en-US" sz="1250" dirty="0"/>
          </a:p>
        </p:txBody>
      </p:sp>
      <p:sp>
        <p:nvSpPr>
          <p:cNvPr id="31" name="Shape 29"/>
          <p:cNvSpPr/>
          <p:nvPr/>
        </p:nvSpPr>
        <p:spPr>
          <a:xfrm>
            <a:off x="7699248" y="5294376"/>
            <a:ext cx="3849624" cy="896112"/>
          </a:xfrm>
          <a:prstGeom prst="rect">
            <a:avLst/>
          </a:prstGeom>
          <a:solidFill>
            <a:srgbClr val="FBF6F5"/>
          </a:solidFill>
          <a:ln w="12700">
            <a:solidFill>
              <a:srgbClr val="D4D4D4"/>
            </a:solidFill>
            <a:prstDash val="solid"/>
          </a:ln>
        </p:spPr>
      </p:sp>
      <p:sp>
        <p:nvSpPr>
          <p:cNvPr id="32" name="Text 30"/>
          <p:cNvSpPr/>
          <p:nvPr/>
        </p:nvSpPr>
        <p:spPr>
          <a:xfrm>
            <a:off x="7836408" y="5294376"/>
            <a:ext cx="3575304" cy="896112"/>
          </a:xfrm>
          <a:prstGeom prst="rect">
            <a:avLst/>
          </a:prstGeom>
          <a:noFill/>
          <a:ln/>
        </p:spPr>
        <p:txBody>
          <a:bodyPr wrap="square" rtlCol="0" anchor="ctr"/>
          <a:lstStyle/>
          <a:p>
            <a:pPr marL="0" indent="0">
              <a:lnSpc>
                <a:spcPts val="1500"/>
              </a:lnSpc>
              <a:buNone/>
            </a:pPr>
            <a:r>
              <a:rPr lang="en-US" sz="1250" dirty="0">
                <a:solidFill>
                  <a:srgbClr val="262626"/>
                </a:solidFill>
                <a:latin typeface="Calibri" pitchFamily="34" charset="0"/>
                <a:ea typeface="Calibri" pitchFamily="34" charset="-122"/>
                <a:cs typeface="Calibri" pitchFamily="34" charset="-120"/>
              </a:rPr>
              <a:t>Implicit — via reads/writes to shared memory.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08792" cy="256032"/>
          </a:xfrm>
          <a:prstGeom prst="rect">
            <a:avLst/>
          </a:prstGeom>
          <a:noFill/>
          <a:ln/>
        </p:spPr>
        <p:txBody>
          <a:bodyPr wrap="square" rtlCol="0" anchor="ctr"/>
          <a:lstStyle/>
          <a:p>
            <a:pPr marL="0" indent="0">
              <a:buNone/>
            </a:pPr>
            <a:r>
              <a:rPr lang="en-US" sz="1150" b="1" kern="0" spc="150" dirty="0">
                <a:solidFill>
                  <a:srgbClr val="8C8C8C"/>
                </a:solidFill>
                <a:latin typeface="Calibri" pitchFamily="34" charset="0"/>
                <a:ea typeface="Calibri" pitchFamily="34" charset="-122"/>
                <a:cs typeface="Calibri" pitchFamily="34" charset="-120"/>
              </a:rPr>
              <a:t>PART 3 · TAKEAWAYS</a:t>
            </a:r>
            <a:endParaRPr lang="en-US" sz="1150" dirty="0"/>
          </a:p>
        </p:txBody>
      </p:sp>
      <p:sp>
        <p:nvSpPr>
          <p:cNvPr id="3" name="Text 1"/>
          <p:cNvSpPr/>
          <p:nvPr/>
        </p:nvSpPr>
        <p:spPr>
          <a:xfrm>
            <a:off x="640080" y="731520"/>
            <a:ext cx="10908792" cy="566928"/>
          </a:xfrm>
          <a:prstGeom prst="rect">
            <a:avLst/>
          </a:prstGeom>
          <a:noFill/>
          <a:ln/>
        </p:spPr>
        <p:txBody>
          <a:bodyPr wrap="square" rtlCol="0" anchor="ctr"/>
          <a:lstStyle/>
          <a:p>
            <a:pPr marL="0" indent="0">
              <a:buNone/>
            </a:pPr>
            <a:r>
              <a:rPr lang="en-US" sz="2800" b="1" dirty="0">
                <a:solidFill>
                  <a:srgbClr val="262626"/>
                </a:solidFill>
                <a:latin typeface="Calibri" pitchFamily="34" charset="0"/>
                <a:ea typeface="Calibri" pitchFamily="34" charset="-122"/>
                <a:cs typeface="Calibri" pitchFamily="34" charset="-120"/>
              </a:rPr>
              <a:t>So which should you use?</a:t>
            </a:r>
            <a:endParaRPr lang="en-US" sz="2800" dirty="0"/>
          </a:p>
        </p:txBody>
      </p:sp>
      <p:sp>
        <p:nvSpPr>
          <p:cNvPr id="4" name="Shape 2"/>
          <p:cNvSpPr/>
          <p:nvPr/>
        </p:nvSpPr>
        <p:spPr>
          <a:xfrm>
            <a:off x="640080" y="1554480"/>
            <a:ext cx="5271516" cy="3063240"/>
          </a:xfrm>
          <a:prstGeom prst="rect">
            <a:avLst/>
          </a:prstGeom>
          <a:solidFill>
            <a:srgbClr val="FFFFFF"/>
          </a:solidFill>
          <a:ln w="12700">
            <a:solidFill>
              <a:srgbClr val="D4D4D4"/>
            </a:solidFill>
            <a:prstDash val="solid"/>
          </a:ln>
        </p:spPr>
      </p:sp>
      <p:pic>
        <p:nvPicPr>
          <p:cNvPr id="5" name="Image 0" descr="preencoded.png"/>
          <p:cNvPicPr>
            <a:picLocks noChangeAspect="1"/>
          </p:cNvPicPr>
          <p:nvPr/>
        </p:nvPicPr>
        <p:blipFill>
          <a:blip r:embed="rId3"/>
          <a:stretch>
            <a:fillRect/>
          </a:stretch>
        </p:blipFill>
        <p:spPr>
          <a:xfrm>
            <a:off x="960120" y="1847088"/>
            <a:ext cx="310896" cy="310896"/>
          </a:xfrm>
          <a:prstGeom prst="rect">
            <a:avLst/>
          </a:prstGeom>
        </p:spPr>
      </p:pic>
      <p:sp>
        <p:nvSpPr>
          <p:cNvPr id="6" name="Text 3"/>
          <p:cNvSpPr/>
          <p:nvPr/>
        </p:nvSpPr>
        <p:spPr>
          <a:xfrm>
            <a:off x="1417320" y="1810512"/>
            <a:ext cx="4265676" cy="457200"/>
          </a:xfrm>
          <a:prstGeom prst="rect">
            <a:avLst/>
          </a:prstGeom>
          <a:noFill/>
          <a:ln/>
        </p:spPr>
        <p:txBody>
          <a:bodyPr wrap="square" rtlCol="0" anchor="ctr"/>
          <a:lstStyle/>
          <a:p>
            <a:pPr marL="0" indent="0">
              <a:buNone/>
            </a:pPr>
            <a:r>
              <a:rPr lang="en-US" sz="1650" b="1" dirty="0">
                <a:solidFill>
                  <a:srgbClr val="262626"/>
                </a:solidFill>
                <a:latin typeface="Calibri" pitchFamily="34" charset="0"/>
                <a:ea typeface="Calibri" pitchFamily="34" charset="-122"/>
                <a:cs typeface="Calibri" pitchFamily="34" charset="-120"/>
              </a:rPr>
              <a:t>Reach for actors when…</a:t>
            </a:r>
            <a:endParaRPr lang="en-US" sz="1650" dirty="0"/>
          </a:p>
        </p:txBody>
      </p:sp>
      <p:sp>
        <p:nvSpPr>
          <p:cNvPr id="7" name="Text 4"/>
          <p:cNvSpPr/>
          <p:nvPr/>
        </p:nvSpPr>
        <p:spPr>
          <a:xfrm>
            <a:off x="1097280" y="26060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safety and simplicity matter most</a:t>
            </a:r>
            <a:endParaRPr lang="en-US" sz="1350" dirty="0"/>
          </a:p>
        </p:txBody>
      </p:sp>
      <p:sp>
        <p:nvSpPr>
          <p:cNvPr id="8" name="Text 5"/>
          <p:cNvSpPr/>
          <p:nvPr/>
        </p:nvSpPr>
        <p:spPr>
          <a:xfrm>
            <a:off x="1097280" y="30632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tasks are naturally independent</a:t>
            </a:r>
            <a:endParaRPr lang="en-US" sz="1350" dirty="0"/>
          </a:p>
        </p:txBody>
      </p:sp>
      <p:sp>
        <p:nvSpPr>
          <p:cNvPr id="9" name="Text 6"/>
          <p:cNvSpPr/>
          <p:nvPr/>
        </p:nvSpPr>
        <p:spPr>
          <a:xfrm>
            <a:off x="1097280" y="35204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you want to avoid lock bugs entirely</a:t>
            </a:r>
            <a:endParaRPr lang="en-US" sz="1350" dirty="0"/>
          </a:p>
        </p:txBody>
      </p:sp>
      <p:sp>
        <p:nvSpPr>
          <p:cNvPr id="10" name="Text 7"/>
          <p:cNvSpPr/>
          <p:nvPr/>
        </p:nvSpPr>
        <p:spPr>
          <a:xfrm>
            <a:off x="1097280" y="39776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scaling across cores or machines</a:t>
            </a:r>
            <a:endParaRPr lang="en-US" sz="1350" dirty="0"/>
          </a:p>
        </p:txBody>
      </p:sp>
      <p:sp>
        <p:nvSpPr>
          <p:cNvPr id="11" name="Shape 8"/>
          <p:cNvSpPr/>
          <p:nvPr/>
        </p:nvSpPr>
        <p:spPr>
          <a:xfrm>
            <a:off x="6277356" y="1554480"/>
            <a:ext cx="5271516" cy="3063240"/>
          </a:xfrm>
          <a:prstGeom prst="rect">
            <a:avLst/>
          </a:prstGeom>
          <a:solidFill>
            <a:srgbClr val="FFFFFF"/>
          </a:solidFill>
          <a:ln w="12700">
            <a:solidFill>
              <a:srgbClr val="D4D4D4"/>
            </a:solidFill>
            <a:prstDash val="solid"/>
          </a:ln>
        </p:spPr>
      </p:sp>
      <p:pic>
        <p:nvPicPr>
          <p:cNvPr id="12" name="Image 1" descr="preencoded.png"/>
          <p:cNvPicPr>
            <a:picLocks noChangeAspect="1"/>
          </p:cNvPicPr>
          <p:nvPr/>
        </p:nvPicPr>
        <p:blipFill>
          <a:blip r:embed="rId4"/>
          <a:stretch>
            <a:fillRect/>
          </a:stretch>
        </p:blipFill>
        <p:spPr>
          <a:xfrm>
            <a:off x="6597396" y="1847088"/>
            <a:ext cx="310896" cy="310896"/>
          </a:xfrm>
          <a:prstGeom prst="rect">
            <a:avLst/>
          </a:prstGeom>
        </p:spPr>
      </p:pic>
      <p:sp>
        <p:nvSpPr>
          <p:cNvPr id="13" name="Text 9"/>
          <p:cNvSpPr/>
          <p:nvPr/>
        </p:nvSpPr>
        <p:spPr>
          <a:xfrm>
            <a:off x="7054596" y="1810512"/>
            <a:ext cx="4265676" cy="457200"/>
          </a:xfrm>
          <a:prstGeom prst="rect">
            <a:avLst/>
          </a:prstGeom>
          <a:noFill/>
          <a:ln/>
        </p:spPr>
        <p:txBody>
          <a:bodyPr wrap="square" rtlCol="0" anchor="ctr"/>
          <a:lstStyle/>
          <a:p>
            <a:pPr marL="0" indent="0">
              <a:buNone/>
            </a:pPr>
            <a:r>
              <a:rPr lang="en-US" sz="1650" b="1" dirty="0">
                <a:solidFill>
                  <a:srgbClr val="262626"/>
                </a:solidFill>
                <a:latin typeface="Calibri" pitchFamily="34" charset="0"/>
                <a:ea typeface="Calibri" pitchFamily="34" charset="-122"/>
                <a:cs typeface="Calibri" pitchFamily="34" charset="-120"/>
              </a:rPr>
              <a:t>Shared memory fits when…</a:t>
            </a:r>
            <a:endParaRPr lang="en-US" sz="1650" dirty="0"/>
          </a:p>
        </p:txBody>
      </p:sp>
      <p:sp>
        <p:nvSpPr>
          <p:cNvPr id="14" name="Text 10"/>
          <p:cNvSpPr/>
          <p:nvPr/>
        </p:nvSpPr>
        <p:spPr>
          <a:xfrm>
            <a:off x="6734556" y="26060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you need maximum raw speed</a:t>
            </a:r>
            <a:endParaRPr lang="en-US" sz="1350" dirty="0"/>
          </a:p>
        </p:txBody>
      </p:sp>
      <p:sp>
        <p:nvSpPr>
          <p:cNvPr id="15" name="Text 11"/>
          <p:cNvSpPr/>
          <p:nvPr/>
        </p:nvSpPr>
        <p:spPr>
          <a:xfrm>
            <a:off x="6734556" y="30632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threads share large data cheaply</a:t>
            </a:r>
            <a:endParaRPr lang="en-US" sz="1350" dirty="0"/>
          </a:p>
        </p:txBody>
      </p:sp>
      <p:sp>
        <p:nvSpPr>
          <p:cNvPr id="16" name="Text 12"/>
          <p:cNvSpPr/>
          <p:nvPr/>
        </p:nvSpPr>
        <p:spPr>
          <a:xfrm>
            <a:off x="6734556" y="35204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the team can manage locks carefully</a:t>
            </a:r>
            <a:endParaRPr lang="en-US" sz="1350" dirty="0"/>
          </a:p>
        </p:txBody>
      </p:sp>
      <p:sp>
        <p:nvSpPr>
          <p:cNvPr id="17" name="Text 13"/>
          <p:cNvSpPr/>
          <p:nvPr/>
        </p:nvSpPr>
        <p:spPr>
          <a:xfrm>
            <a:off x="6734556" y="3977640"/>
            <a:ext cx="4448556" cy="411480"/>
          </a:xfrm>
          <a:prstGeom prst="rect">
            <a:avLst/>
          </a:prstGeom>
          <a:noFill/>
          <a:ln/>
        </p:spPr>
        <p:txBody>
          <a:bodyPr wrap="square" rtlCol="0" anchor="ctr"/>
          <a:lstStyle/>
          <a:p>
            <a:pPr marL="152400" indent="-152400">
              <a:buSzPct val="100000"/>
              <a:buChar char="•"/>
            </a:pPr>
            <a:r>
              <a:rPr lang="en-US" sz="1350" dirty="0">
                <a:solidFill>
                  <a:srgbClr val="262626"/>
                </a:solidFill>
                <a:latin typeface="Calibri" pitchFamily="34" charset="0"/>
                <a:ea typeface="Calibri" pitchFamily="34" charset="-122"/>
                <a:cs typeface="Calibri" pitchFamily="34" charset="-120"/>
              </a:rPr>
              <a:t>low-level control is required</a:t>
            </a:r>
            <a:endParaRPr lang="en-US" sz="1350" dirty="0"/>
          </a:p>
        </p:txBody>
      </p:sp>
      <p:sp>
        <p:nvSpPr>
          <p:cNvPr id="18" name="Shape 14"/>
          <p:cNvSpPr/>
          <p:nvPr/>
        </p:nvSpPr>
        <p:spPr>
          <a:xfrm>
            <a:off x="640080" y="4892040"/>
            <a:ext cx="10908792" cy="1188720"/>
          </a:xfrm>
          <a:prstGeom prst="rect">
            <a:avLst/>
          </a:prstGeom>
          <a:solidFill>
            <a:srgbClr val="DCE6F1"/>
          </a:solidFill>
          <a:ln w="12700">
            <a:solidFill>
              <a:srgbClr val="1F4E79"/>
            </a:solidFill>
            <a:prstDash val="solid"/>
          </a:ln>
        </p:spPr>
      </p:sp>
      <p:pic>
        <p:nvPicPr>
          <p:cNvPr id="19" name="Image 2" descr="preencoded.png"/>
          <p:cNvPicPr>
            <a:picLocks noChangeAspect="1"/>
          </p:cNvPicPr>
          <p:nvPr/>
        </p:nvPicPr>
        <p:blipFill>
          <a:blip r:embed="rId5"/>
          <a:stretch>
            <a:fillRect/>
          </a:stretch>
        </p:blipFill>
        <p:spPr>
          <a:xfrm>
            <a:off x="960120" y="5321808"/>
            <a:ext cx="329184" cy="329184"/>
          </a:xfrm>
          <a:prstGeom prst="rect">
            <a:avLst/>
          </a:prstGeom>
        </p:spPr>
      </p:pic>
      <p:sp>
        <p:nvSpPr>
          <p:cNvPr id="20" name="Text 15"/>
          <p:cNvSpPr/>
          <p:nvPr/>
        </p:nvSpPr>
        <p:spPr>
          <a:xfrm>
            <a:off x="1463040" y="4892040"/>
            <a:ext cx="9811512" cy="1188720"/>
          </a:xfrm>
          <a:prstGeom prst="rect">
            <a:avLst/>
          </a:prstGeom>
          <a:noFill/>
          <a:ln/>
        </p:spPr>
        <p:txBody>
          <a:bodyPr wrap="square" rtlCol="0" anchor="ctr"/>
          <a:lstStyle/>
          <a:p>
            <a:pPr marL="0" indent="0">
              <a:lnSpc>
                <a:spcPts val="2100"/>
              </a:lnSpc>
              <a:buNone/>
            </a:pPr>
            <a:r>
              <a:rPr lang="en-US" sz="1500" b="1" dirty="0">
                <a:solidFill>
                  <a:srgbClr val="1F4E79"/>
                </a:solidFill>
                <a:latin typeface="Calibri" pitchFamily="34" charset="0"/>
                <a:ea typeface="Calibri" pitchFamily="34" charset="-122"/>
                <a:cs typeface="Calibri" pitchFamily="34" charset="-120"/>
              </a:rPr>
              <a:t>The one thing to remember:  </a:t>
            </a:r>
            <a:r>
              <a:rPr lang="en-US" sz="1500" dirty="0">
                <a:solidFill>
                  <a:srgbClr val="262626"/>
                </a:solidFill>
                <a:latin typeface="Calibri" pitchFamily="34" charset="0"/>
                <a:ea typeface="Calibri" pitchFamily="34" charset="-122"/>
                <a:cs typeface="Calibri" pitchFamily="34" charset="-120"/>
              </a:rPr>
              <a:t>the actor model removes the </a:t>
            </a:r>
            <a:r>
              <a:rPr lang="en-US" sz="1500" b="1" i="1" dirty="0">
                <a:solidFill>
                  <a:srgbClr val="262626"/>
                </a:solidFill>
                <a:latin typeface="Calibri" pitchFamily="34" charset="0"/>
                <a:ea typeface="Calibri" pitchFamily="34" charset="-122"/>
                <a:cs typeface="Calibri" pitchFamily="34" charset="-120"/>
              </a:rPr>
              <a:t>shared mutable state</a:t>
            </a:r>
            <a:r>
              <a:rPr lang="en-US" sz="1500" dirty="0">
                <a:solidFill>
                  <a:srgbClr val="262626"/>
                </a:solidFill>
                <a:latin typeface="Calibri" pitchFamily="34" charset="0"/>
                <a:ea typeface="Calibri" pitchFamily="34" charset="-122"/>
                <a:cs typeface="Calibri" pitchFamily="34" charset="-120"/>
              </a:rPr>
              <a:t> that causes races and deadlocks — so it trades a little performance for a lot of safety.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331720"/>
            <a:ext cx="9144000" cy="914400"/>
          </a:xfrm>
          <a:prstGeom prst="rect">
            <a:avLst/>
          </a:prstGeom>
          <a:noFill/>
          <a:ln/>
        </p:spPr>
        <p:txBody>
          <a:bodyPr wrap="square" rtlCol="0" anchor="ctr"/>
          <a:lstStyle/>
          <a:p>
            <a:pPr marL="0" indent="0">
              <a:buNone/>
            </a:pPr>
            <a:r>
              <a:rPr lang="en-US" sz="4400" b="1" dirty="0">
                <a:solidFill>
                  <a:srgbClr val="262626"/>
                </a:solidFill>
                <a:latin typeface="Calibri" pitchFamily="34" charset="0"/>
                <a:ea typeface="Calibri" pitchFamily="34" charset="-122"/>
                <a:cs typeface="Calibri" pitchFamily="34" charset="-120"/>
              </a:rPr>
              <a:t>Thank you</a:t>
            </a:r>
            <a:endParaRPr lang="en-US" sz="4400" dirty="0"/>
          </a:p>
        </p:txBody>
      </p:sp>
      <p:sp>
        <p:nvSpPr>
          <p:cNvPr id="3" name="Text 1"/>
          <p:cNvSpPr/>
          <p:nvPr/>
        </p:nvSpPr>
        <p:spPr>
          <a:xfrm>
            <a:off x="640080" y="3337560"/>
            <a:ext cx="8229600" cy="457200"/>
          </a:xfrm>
          <a:prstGeom prst="rect">
            <a:avLst/>
          </a:prstGeom>
          <a:noFill/>
          <a:ln/>
        </p:spPr>
        <p:txBody>
          <a:bodyPr wrap="square" rtlCol="0" anchor="ctr"/>
          <a:lstStyle/>
          <a:p>
            <a:pPr marL="0" indent="0">
              <a:buNone/>
            </a:pPr>
            <a:r>
              <a:rPr lang="en-US" sz="1900" dirty="0">
                <a:solidFill>
                  <a:srgbClr val="595959"/>
                </a:solidFill>
                <a:latin typeface="Calibri" pitchFamily="34" charset="0"/>
                <a:ea typeface="Calibri" pitchFamily="34" charset="-122"/>
                <a:cs typeface="Calibri" pitchFamily="34" charset="-120"/>
              </a:rPr>
              <a:t>Questions &amp; discussion welcome.</a:t>
            </a:r>
            <a:endParaRPr lang="en-US" sz="1900" dirty="0"/>
          </a:p>
        </p:txBody>
      </p:sp>
      <p:sp>
        <p:nvSpPr>
          <p:cNvPr id="5" name="Shape 3"/>
          <p:cNvSpPr/>
          <p:nvPr/>
        </p:nvSpPr>
        <p:spPr>
          <a:xfrm>
            <a:off x="640080" y="5669280"/>
            <a:ext cx="10908792" cy="0"/>
          </a:xfrm>
          <a:prstGeom prst="line">
            <a:avLst/>
          </a:prstGeom>
          <a:noFill/>
          <a:ln w="9525">
            <a:solidFill>
              <a:srgbClr val="D4D4D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3220</Words>
  <Application>Microsoft Office PowerPoint</Application>
  <PresentationFormat>Widescreen</PresentationFormat>
  <Paragraphs>241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SRH Hochschule Heidelberg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Team C</dc:creator>
  <cp:lastModifiedBy>Akshay A S</cp:lastModifiedBy>
  <cp:revision>4</cp:revision>
  <dcterms:created xsi:type="dcterms:W3CDTF">2026-07-22T18:22:34Z</dcterms:created>
  <dcterms:modified xsi:type="dcterms:W3CDTF">2026-07-24T20:20:15Z</dcterms:modified>
</cp:coreProperties>
</file>