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D54329-C856-7A42-D43A-E0EF41C66128}" v="1" dt="2026-07-13T21:42:56.341"/>
    <p1510:client id="{245ABA61-FA58-DF8E-69EE-1B8AA7253A87}" v="96" dt="2026-07-13T21:56:50.862"/>
    <p1510:client id="{5F3F5B20-E1CF-61FA-61BE-3F74A09E358B}" v="165" dt="2026-07-14T08:16:15.805"/>
    <p1510:client id="{82C88C79-81F3-CDFB-325A-BD91E3E2409F}" v="88" dt="2026-07-13T21:58:31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 Rangwala" userId="d1dfbbd386445476" providerId="LiveId" clId="{6BE71177-16CF-4FED-8060-3387FA14CA64}"/>
    <pc:docChg chg="modSld">
      <pc:chgData name="Priyansh Rangwala" userId="d1dfbbd386445476" providerId="LiveId" clId="{6BE71177-16CF-4FED-8060-3387FA14CA64}" dt="2026-07-14T14:23:02.105" v="20" actId="1076"/>
      <pc:docMkLst>
        <pc:docMk/>
      </pc:docMkLst>
      <pc:sldChg chg="modSp mod">
        <pc:chgData name="Priyansh Rangwala" userId="d1dfbbd386445476" providerId="LiveId" clId="{6BE71177-16CF-4FED-8060-3387FA14CA64}" dt="2026-07-14T14:23:02.105" v="20" actId="1076"/>
        <pc:sldMkLst>
          <pc:docMk/>
          <pc:sldMk cId="0" sldId="256"/>
        </pc:sldMkLst>
        <pc:spChg chg="mod">
          <ac:chgData name="Priyansh Rangwala" userId="d1dfbbd386445476" providerId="LiveId" clId="{6BE71177-16CF-4FED-8060-3387FA14CA64}" dt="2026-07-14T14:22:38.714" v="17" actId="20577"/>
          <ac:spMkLst>
            <pc:docMk/>
            <pc:sldMk cId="0" sldId="256"/>
            <ac:spMk id="7" creationId="{EC37D062-CF08-6756-503B-8041871F9726}"/>
          </ac:spMkLst>
        </pc:spChg>
        <pc:picChg chg="mod">
          <ac:chgData name="Priyansh Rangwala" userId="d1dfbbd386445476" providerId="LiveId" clId="{6BE71177-16CF-4FED-8060-3387FA14CA64}" dt="2026-07-14T14:23:02.105" v="20" actId="1076"/>
          <ac:picMkLst>
            <pc:docMk/>
            <pc:sldMk cId="0" sldId="256"/>
            <ac:picMk id="6" creationId="{89EFB0C0-F0D3-4316-AF18-2D767A62366A}"/>
          </ac:picMkLst>
        </pc:picChg>
      </pc:sldChg>
      <pc:sldChg chg="modSp mod">
        <pc:chgData name="Priyansh Rangwala" userId="d1dfbbd386445476" providerId="LiveId" clId="{6BE71177-16CF-4FED-8060-3387FA14CA64}" dt="2026-07-14T14:07:34.787" v="8" actId="20577"/>
        <pc:sldMkLst>
          <pc:docMk/>
          <pc:sldMk cId="0" sldId="263"/>
        </pc:sldMkLst>
        <pc:spChg chg="mod">
          <ac:chgData name="Priyansh Rangwala" userId="d1dfbbd386445476" providerId="LiveId" clId="{6BE71177-16CF-4FED-8060-3387FA14CA64}" dt="2026-07-14T14:07:34.787" v="8" actId="20577"/>
          <ac:spMkLst>
            <pc:docMk/>
            <pc:sldMk cId="0" sldId="263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61CCE-C376-4A68-AE5A-74185BCFF3DF}" type="datetimeFigureOut"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70F79-D663-43E1-9119-21F838734F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63496"/>
            <a:ext cx="2834640" cy="25603"/>
          </a:xfrm>
          <a:prstGeom prst="rect">
            <a:avLst/>
          </a:prstGeom>
          <a:solidFill>
            <a:srgbClr val="AF44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2344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 vs  FUTURE / PROMISE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10321" y="2340429"/>
            <a:ext cx="7858398" cy="217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time-driven and result-driven concurrency models</a:t>
            </a:r>
            <a:endParaRPr lang="en-US" sz="16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600" i="1">
              <a:solidFill>
                <a:srgbClr val="6E675C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4879" y="411915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>
                <a:solidFill>
                  <a:srgbClr val="23201B"/>
                </a:solidFill>
                <a:latin typeface="Calibri"/>
                <a:ea typeface="Calibri"/>
                <a:cs typeface="Calibri"/>
              </a:rPr>
              <a:t>SRH Hochschule Heidelberg</a:t>
            </a:r>
          </a:p>
          <a:p>
            <a:pPr>
              <a:lnSpc>
                <a:spcPct val="130000"/>
              </a:lnSpc>
            </a:pPr>
            <a:r>
              <a:rPr lang="en-US" sz="1300">
                <a:solidFill>
                  <a:srgbClr val="23201B"/>
                </a:solidFill>
                <a:ea typeface="+mn-lt"/>
                <a:cs typeface="+mn-lt"/>
              </a:rPr>
              <a:t>Prof, Mobasher Ghadeer 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7D062-CF08-6756-503B-8041871F9726}"/>
              </a:ext>
            </a:extLst>
          </p:cNvPr>
          <p:cNvSpPr txBox="1"/>
          <p:nvPr/>
        </p:nvSpPr>
        <p:spPr>
          <a:xfrm>
            <a:off x="409575" y="2558142"/>
            <a:ext cx="348002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Group Members (Team A):</a:t>
            </a:r>
          </a:p>
          <a:p>
            <a:r>
              <a:rPr lang="en-US" dirty="0">
                <a:ea typeface="+mn-lt"/>
                <a:cs typeface="+mn-lt"/>
              </a:rPr>
              <a:t>Akshay </a:t>
            </a:r>
            <a:r>
              <a:rPr lang="en-US" dirty="0" err="1">
                <a:ea typeface="+mn-lt"/>
                <a:cs typeface="+mn-lt"/>
              </a:rPr>
              <a:t>Myakal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Hrithik </a:t>
            </a:r>
            <a:r>
              <a:rPr lang="en-US" dirty="0" err="1">
                <a:ea typeface="+mn-lt"/>
                <a:cs typeface="+mn-lt"/>
              </a:rPr>
              <a:t>Wadile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Priyansh Rangwala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Vivek </a:t>
            </a:r>
            <a:r>
              <a:rPr lang="en-US" dirty="0" err="1">
                <a:ea typeface="+mn-lt"/>
                <a:cs typeface="+mn-lt"/>
              </a:rPr>
              <a:t>Attri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FB0C0-F0D3-4316-AF18-2D767A623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012" y="172601"/>
            <a:ext cx="904439" cy="6721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intr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097280"/>
            <a:ext cx="3977640" cy="283464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/>
          </a:p>
        </p:txBody>
      </p:sp>
      <p:sp>
        <p:nvSpPr>
          <p:cNvPr id="4" name="Text 1"/>
          <p:cNvSpPr/>
          <p:nvPr/>
        </p:nvSpPr>
        <p:spPr>
          <a:xfrm>
            <a:off x="4754880" y="137160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concurrency models, side by side.</a:t>
            </a:r>
            <a:endParaRPr lang="en-US" sz="150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We implement a time-based scheduler and analyze the future/promise model conceptually clarifying what triggers execution, how work is coordinated, and where each one fits.</a:t>
            </a:r>
            <a:endParaRPr lang="en-US" sz="15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understand time-driven execution versus result-driven asynchronous computation.</a:t>
            </a:r>
            <a:endParaRPr lang="en-US" sz="1500"/>
          </a:p>
        </p:txBody>
      </p:sp>
      <p:sp>
        <p:nvSpPr>
          <p:cNvPr id="5" name="Text 2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sch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4805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E5E2DB"/>
          </a:solidFill>
          <a:ln/>
        </p:spPr>
      </p:sp>
      <p:sp>
        <p:nvSpPr>
          <p:cNvPr id="4" name="Text 1"/>
          <p:cNvSpPr/>
          <p:nvPr/>
        </p:nvSpPr>
        <p:spPr>
          <a:xfrm>
            <a:off x="489204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9C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/>
          </a:p>
        </p:txBody>
      </p:sp>
      <p:sp>
        <p:nvSpPr>
          <p:cNvPr id="5" name="Shape 2"/>
          <p:cNvSpPr/>
          <p:nvPr/>
        </p:nvSpPr>
        <p:spPr>
          <a:xfrm>
            <a:off x="4956048" y="2697480"/>
            <a:ext cx="822960" cy="27432"/>
          </a:xfrm>
          <a:prstGeom prst="rect">
            <a:avLst/>
          </a:prstGeom>
          <a:solidFill>
            <a:srgbClr val="AF443C"/>
          </a:solidFill>
          <a:ln/>
        </p:spPr>
      </p:sp>
      <p:sp>
        <p:nvSpPr>
          <p:cNvPr id="6" name="Text 3"/>
          <p:cNvSpPr/>
          <p:nvPr/>
        </p:nvSpPr>
        <p:spPr>
          <a:xfrm>
            <a:off x="4892040" y="2788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3400"/>
          </a:p>
        </p:txBody>
      </p:sp>
      <p:sp>
        <p:nvSpPr>
          <p:cNvPr id="7" name="Text 4"/>
          <p:cNvSpPr/>
          <p:nvPr/>
        </p:nvSpPr>
        <p:spPr>
          <a:xfrm>
            <a:off x="4910328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Time-driven execution implemented with Python's threading module.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Scheduler Actually Does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AF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know exactly when to run this.”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137160" cy="137160"/>
          </a:xfrm>
          <a:prstGeom prst="ellipse">
            <a:avLst/>
          </a:prstGeom>
          <a:solidFill>
            <a:srgbClr val="AF443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264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the trigger</a:t>
            </a:r>
            <a:endParaRPr lang="en-US" sz="155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It doesn't wait for a signal - it waits for the clock to hit a value, then fires.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37160" cy="137160"/>
          </a:xfrm>
          <a:prstGeom prst="ellipse">
            <a:avLst/>
          </a:prstGeom>
          <a:solidFill>
            <a:srgbClr val="AF443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3113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is external</a:t>
            </a:r>
            <a:endParaRPr lang="en-US" sz="1550"/>
          </a:p>
        </p:txBody>
      </p:sp>
      <p:sp>
        <p:nvSpPr>
          <p:cNvPr id="9" name="Text 7"/>
          <p:cNvSpPr/>
          <p:nvPr/>
        </p:nvSpPr>
        <p:spPr>
          <a:xfrm>
            <a:off x="868680" y="25420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has no say in when it runs. The clock decides.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137160" cy="137160"/>
          </a:xfrm>
          <a:prstGeom prst="ellipse">
            <a:avLst/>
          </a:prstGeom>
          <a:solidFill>
            <a:srgbClr val="AF443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358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result</a:t>
            </a:r>
            <a:endParaRPr lang="en-US" sz="1550"/>
          </a:p>
        </p:txBody>
      </p:sp>
      <p:sp>
        <p:nvSpPr>
          <p:cNvPr id="12" name="Text 10"/>
          <p:cNvSpPr/>
          <p:nvPr/>
        </p:nvSpPr>
        <p:spPr>
          <a:xfrm>
            <a:off x="868680" y="33467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A scheduler tells you a task ran not what it produced.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37160" cy="137160"/>
          </a:xfrm>
          <a:prstGeom prst="ellipse">
            <a:avLst/>
          </a:prstGeom>
          <a:solidFill>
            <a:srgbClr val="AF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40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 or multi-threaded</a:t>
            </a:r>
            <a:endParaRPr lang="en-US" sz="1550"/>
          </a:p>
        </p:txBody>
      </p:sp>
      <p:sp>
        <p:nvSpPr>
          <p:cNvPr id="15" name="Text 13"/>
          <p:cNvSpPr/>
          <p:nvPr/>
        </p:nvSpPr>
        <p:spPr>
          <a:xfrm>
            <a:off x="868680" y="415137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 = one sequential lane. threading.Timer = independent, concurrent countdowns.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3201B"/>
                </a:solidFill>
                <a:latin typeface="Calibri"/>
                <a:ea typeface="Calibri"/>
                <a:cs typeface="Calibri"/>
              </a:rPr>
              <a:t>Implementation:- </a:t>
            </a:r>
            <a:r>
              <a:rPr lang="en-US" sz="2800" b="1" err="1">
                <a:solidFill>
                  <a:srgbClr val="23201B"/>
                </a:solidFill>
                <a:latin typeface="Calibri"/>
                <a:ea typeface="Calibri"/>
                <a:cs typeface="Calibri"/>
              </a:rPr>
              <a:t>threading.Timer</a:t>
            </a:r>
            <a:endParaRPr lang="en-US" sz="2800" err="1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AF443C"/>
                </a:solidFill>
                <a:latin typeface="Calibri"/>
                <a:ea typeface="Calibri"/>
                <a:cs typeface="Calibri"/>
              </a:rPr>
              <a:t>Each task runs on its own independent timer thread no shared blocking wait.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23201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36192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>
                <a:solidFill>
                  <a:srgbClr val="ECE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threading, time</a:t>
            </a:r>
            <a:endParaRPr lang="en-US" sz="1050"/>
          </a:p>
          <a:p>
            <a:pPr marL="0" indent="0">
              <a:lnSpc>
                <a:spcPct val="102000"/>
              </a:lnSpc>
              <a:buNone/>
            </a:pPr>
            <a:endParaRPr lang="en-US" sz="105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50" dirty="0" err="1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func</a:t>
            </a: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(name):</a:t>
            </a:r>
            <a:endParaRPr lang="en-US" sz="1050" dirty="0">
              <a:latin typeface="Consolas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print('Time:', </a:t>
            </a:r>
            <a:r>
              <a:rPr lang="en-US" sz="105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time.ctime</a:t>
            </a: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(),</a:t>
            </a:r>
            <a:endParaRPr lang="en-US" sz="1050" dirty="0">
              <a:latin typeface="Consolas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050">
                <a:solidFill>
                  <a:srgbClr val="ECE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'Name:', name)</a:t>
            </a:r>
            <a:endParaRPr lang="en-US" sz="1050"/>
          </a:p>
          <a:p>
            <a:pPr marL="0" indent="0">
              <a:lnSpc>
                <a:spcPct val="102000"/>
              </a:lnSpc>
              <a:buNone/>
            </a:pPr>
            <a:endParaRPr lang="en-US" sz="105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names  = ['task_a','task_b','</a:t>
            </a:r>
            <a:r>
              <a:rPr lang="en-US" sz="1050" dirty="0" err="1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task_c</a:t>
            </a: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']</a:t>
            </a:r>
            <a:endParaRPr lang="en-US" sz="1050" dirty="0">
              <a:latin typeface="Consolas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050">
                <a:solidFill>
                  <a:srgbClr val="ECE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delays = [3, 2, 1]</a:t>
            </a:r>
            <a:endParaRPr lang="en-US" sz="1050"/>
          </a:p>
          <a:p>
            <a:pPr marL="0" indent="0">
              <a:lnSpc>
                <a:spcPct val="102000"/>
              </a:lnSpc>
              <a:buNone/>
            </a:pPr>
            <a:r>
              <a:rPr lang="en-US" sz="1050">
                <a:solidFill>
                  <a:srgbClr val="ECE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 = []</a:t>
            </a:r>
            <a:endParaRPr lang="en-US" sz="1050"/>
          </a:p>
          <a:p>
            <a:pPr marL="0" indent="0">
              <a:lnSpc>
                <a:spcPct val="102000"/>
              </a:lnSpc>
              <a:buNone/>
            </a:pPr>
            <a:endParaRPr lang="en-US" sz="1050"/>
          </a:p>
          <a:p>
            <a:pPr marL="0" indent="0">
              <a:lnSpc>
                <a:spcPct val="102000"/>
              </a:lnSpc>
              <a:buNone/>
            </a:pPr>
            <a:r>
              <a:rPr lang="en-US" sz="1050">
                <a:solidFill>
                  <a:srgbClr val="ECE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delay in zip(names, delays):</a:t>
            </a:r>
            <a:endParaRPr lang="en-US" sz="105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t = </a:t>
            </a:r>
            <a:r>
              <a:rPr lang="en-US" sz="1050" dirty="0" err="1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threading.Timer</a:t>
            </a: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(delay, </a:t>
            </a:r>
            <a:r>
              <a:rPr lang="en-US" sz="1050" dirty="0" err="1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func</a:t>
            </a: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>
              <a:latin typeface="Consolas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       </a:t>
            </a:r>
            <a:r>
              <a:rPr lang="en-US" sz="1050" dirty="0" err="1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=(name,))</a:t>
            </a:r>
            <a:endParaRPr lang="en-US" sz="1050" dirty="0">
              <a:latin typeface="Consolas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 err="1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threads.append</a:t>
            </a: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(t)</a:t>
            </a:r>
            <a:endParaRPr lang="en-US" sz="1050" dirty="0">
              <a:latin typeface="Consolas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 err="1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t.start</a:t>
            </a: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>
              <a:latin typeface="Consolas"/>
            </a:endParaRPr>
          </a:p>
          <a:p>
            <a:pPr marL="0" indent="0">
              <a:lnSpc>
                <a:spcPct val="102000"/>
              </a:lnSpc>
              <a:buNone/>
            </a:pPr>
            <a:endParaRPr lang="en-US" sz="1050"/>
          </a:p>
          <a:p>
            <a:pPr marL="0" indent="0">
              <a:lnSpc>
                <a:spcPct val="102000"/>
              </a:lnSpc>
              <a:buNone/>
            </a:pPr>
            <a:r>
              <a:rPr lang="en-US" sz="1050">
                <a:solidFill>
                  <a:srgbClr val="ECE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threads:</a:t>
            </a:r>
            <a:endParaRPr lang="en-US" sz="105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 err="1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t.join</a:t>
            </a:r>
            <a:r>
              <a:rPr lang="en-US" sz="1050" dirty="0">
                <a:solidFill>
                  <a:srgbClr val="ECE7DD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>
              <a:latin typeface="Consola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9C3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1444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F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threading.Timer(delay, func, args)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5943600" y="1709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creates a timer doesn't run yet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06440" y="219456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9C3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267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F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.start()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943600" y="25328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the countdown in its own thread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806440" y="301752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9C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F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zip(names, delays)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5943600" y="3355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each task with its own delay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5806440" y="384048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9C3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913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F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.join()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943600" y="41788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every thread to finish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3201B"/>
                </a:solidFill>
                <a:latin typeface="Calibri"/>
                <a:ea typeface="Calibri"/>
                <a:cs typeface="Calibri"/>
              </a:rPr>
              <a:t>Scheduler Diagram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AF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→  task execution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1190897" y="2468880"/>
            <a:ext cx="7132320" cy="0"/>
          </a:xfrm>
          <a:prstGeom prst="line">
            <a:avLst/>
          </a:prstGeom>
          <a:noFill/>
          <a:ln w="19050">
            <a:solidFill>
              <a:srgbClr val="6E675C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365760" y="2333679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1s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1929384" y="2386584"/>
            <a:ext cx="164592" cy="164592"/>
          </a:xfrm>
          <a:prstGeom prst="ellipse">
            <a:avLst/>
          </a:prstGeom>
          <a:solidFill>
            <a:srgbClr val="AF443C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276148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3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3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task_c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374904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2s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215384" y="2386584"/>
            <a:ext cx="164592" cy="164592"/>
          </a:xfrm>
          <a:prstGeom prst="ellipse">
            <a:avLst/>
          </a:prstGeom>
          <a:solidFill>
            <a:srgbClr val="23201B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76148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3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task_b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03504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3s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501384" y="2386584"/>
            <a:ext cx="164592" cy="164592"/>
          </a:xfrm>
          <a:prstGeom prst="ellipse">
            <a:avLst/>
          </a:prstGeom>
          <a:solidFill>
            <a:srgbClr val="23201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97880" y="276148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3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3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task_a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250" b="1">
                <a:solidFill>
                  <a:srgbClr val="23201B"/>
                </a:solidFill>
                <a:latin typeface="Calibri"/>
                <a:ea typeface="Calibri"/>
                <a:cs typeface="Calibri"/>
              </a:rPr>
              <a:t>Reading the diagram:  </a:t>
            </a:r>
            <a:r>
              <a:rPr lang="en-US" sz="125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each task lands on the timeline the moment its own delay elapses. Registration order (a, b, c) doesn't matter only time does. With </a:t>
            </a:r>
            <a:r>
              <a:rPr lang="en-US" sz="1250" err="1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threading.Timer</a:t>
            </a:r>
            <a:r>
              <a:rPr lang="en-US" sz="125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 each countdown runs independently and concurrently, unlike sched's single sequential lane.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futur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4805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E5E2DB"/>
          </a:solidFill>
          <a:ln/>
        </p:spPr>
      </p:sp>
      <p:sp>
        <p:nvSpPr>
          <p:cNvPr id="4" name="Text 1"/>
          <p:cNvSpPr/>
          <p:nvPr/>
        </p:nvSpPr>
        <p:spPr>
          <a:xfrm>
            <a:off x="489204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9C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/>
          </a:p>
        </p:txBody>
      </p:sp>
      <p:sp>
        <p:nvSpPr>
          <p:cNvPr id="5" name="Shape 2"/>
          <p:cNvSpPr/>
          <p:nvPr/>
        </p:nvSpPr>
        <p:spPr>
          <a:xfrm>
            <a:off x="4956048" y="2697480"/>
            <a:ext cx="822960" cy="27432"/>
          </a:xfrm>
          <a:prstGeom prst="rect">
            <a:avLst/>
          </a:prstGeom>
          <a:solidFill>
            <a:srgbClr val="AF443C"/>
          </a:solidFill>
          <a:ln/>
        </p:spPr>
      </p:sp>
      <p:sp>
        <p:nvSpPr>
          <p:cNvPr id="6" name="Text 3"/>
          <p:cNvSpPr/>
          <p:nvPr/>
        </p:nvSpPr>
        <p:spPr>
          <a:xfrm>
            <a:off x="4892040" y="2788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/ Promise</a:t>
            </a:r>
            <a:endParaRPr lang="en-US" sz="3400"/>
          </a:p>
        </p:txBody>
      </p:sp>
      <p:sp>
        <p:nvSpPr>
          <p:cNvPr id="7" name="Text 4"/>
          <p:cNvSpPr/>
          <p:nvPr/>
        </p:nvSpPr>
        <p:spPr>
          <a:xfrm>
            <a:off x="4910328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Result-driven execution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Future Represents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443C"/>
                </a:solidFill>
                <a:latin typeface="Calibri"/>
                <a:ea typeface="Calibri"/>
                <a:cs typeface="Calibri"/>
              </a:rPr>
              <a:t>“I’ll get this eventually I don’t know when, and I don’t need to.”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C9C3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is a receipt, not the item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6E675C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3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128016" cy="128016"/>
          </a:xfrm>
          <a:prstGeom prst="ellipse">
            <a:avLst/>
          </a:prstGeom>
          <a:solidFill>
            <a:srgbClr val="6E675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478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3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128016" cy="128016"/>
          </a:xfrm>
          <a:prstGeom prst="ellipse">
            <a:avLst/>
          </a:prstGeom>
          <a:solidFill>
            <a:srgbClr val="AF443C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3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finished (result)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777240" y="3374136"/>
            <a:ext cx="128016" cy="128016"/>
          </a:xfrm>
          <a:prstGeom prst="ellipse">
            <a:avLst/>
          </a:prstGeom>
          <a:solidFill>
            <a:srgbClr val="AF44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282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3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finished (exception)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50" dirty="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A Future is an object that represents the value that does not exist yet, but will, eventually. 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3977640" cy="3200400"/>
          </a:xfrm>
          <a:prstGeom prst="roundRect">
            <a:avLst>
              <a:gd name="adj" fmla="val 1714"/>
            </a:avLst>
          </a:prstGeom>
          <a:solidFill>
            <a:srgbClr val="23201B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results are retrieved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4892040" y="21031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>
                <a:solidFill>
                  <a:srgbClr val="E8B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pull</a:t>
            </a:r>
            <a:endParaRPr lang="en-US" sz="130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200" err="1">
                <a:solidFill>
                  <a:srgbClr val="ECE7DD"/>
                </a:solidFill>
                <a:latin typeface="Calibri"/>
                <a:ea typeface="Calibri"/>
                <a:cs typeface="Calibri"/>
              </a:rPr>
              <a:t>future.result</a:t>
            </a:r>
            <a:r>
              <a:rPr lang="en-US" sz="1200">
                <a:solidFill>
                  <a:srgbClr val="ECE7DD"/>
                </a:solidFill>
                <a:latin typeface="Calibri"/>
                <a:ea typeface="Calibri"/>
                <a:cs typeface="Calibri"/>
              </a:rPr>
              <a:t>() the caller stops and waits until the value is ready.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>
                <a:solidFill>
                  <a:srgbClr val="E8B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push</a:t>
            </a:r>
            <a:endParaRPr lang="en-US" sz="1300"/>
          </a:p>
          <a:p>
            <a:pPr marL="0" indent="0">
              <a:lnSpc>
                <a:spcPct val="110000"/>
              </a:lnSpc>
              <a:buNone/>
            </a:pPr>
            <a:r>
              <a:rPr lang="en-US" sz="1200" err="1">
                <a:solidFill>
                  <a:srgbClr val="ECE7DD"/>
                </a:solidFill>
                <a:latin typeface="Calibri"/>
                <a:ea typeface="Calibri"/>
                <a:cs typeface="Calibri"/>
              </a:rPr>
              <a:t>future.add_done_callback</a:t>
            </a:r>
            <a:r>
              <a:rPr lang="en-US" sz="1200">
                <a:solidFill>
                  <a:srgbClr val="ECE7DD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1200" err="1">
                <a:solidFill>
                  <a:srgbClr val="ECE7DD"/>
                </a:solidFill>
                <a:latin typeface="Calibri"/>
                <a:ea typeface="Calibri"/>
                <a:cs typeface="Calibri"/>
              </a:rPr>
              <a:t>fn</a:t>
            </a:r>
            <a:r>
              <a:rPr lang="en-US" sz="1200">
                <a:solidFill>
                  <a:srgbClr val="ECE7DD"/>
                </a:solidFill>
                <a:latin typeface="Calibri"/>
                <a:ea typeface="Calibri"/>
                <a:cs typeface="Calibri"/>
              </a:rPr>
              <a:t>) register and move on immediately.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92040" y="3794760"/>
            <a:ext cx="3520440" cy="0"/>
          </a:xfrm>
          <a:prstGeom prst="line">
            <a:avLst/>
          </a:prstGeom>
          <a:noFill/>
          <a:ln w="9525">
            <a:solidFill>
              <a:srgbClr val="4A45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931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50" i="1">
                <a:solidFill>
                  <a:srgbClr val="C7C0B4"/>
                </a:solidFill>
                <a:latin typeface="Calibri"/>
                <a:ea typeface="Calibri"/>
                <a:cs typeface="Calibri"/>
              </a:rPr>
              <a:t>Driven by completion, not the clock  the caller cares whether it's done, not when.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AF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differences, not just a feature list.</a:t>
            </a:r>
            <a:endParaRPr lang="en-US" sz="13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719271"/>
              </p:ext>
            </p:extLst>
          </p:nvPr>
        </p:nvGraphicFramePr>
        <p:xfrm>
          <a:off x="502920" y="1463040"/>
          <a:ext cx="8138160" cy="281635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 Pattern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/ Promise Model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AF443C"/>
                          </a:solidFill>
                          <a:latin typeface="Calibri"/>
                          <a:ea typeface="Calibri"/>
                          <a:cs typeface="Calibri"/>
                        </a:rPr>
                        <a:t>Focus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of execution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of results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AF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Driven by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completion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AF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after a delay / schedule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asynchronously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AF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handling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not required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concept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AF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 triggers tasks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tracks completion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AF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/>
                          <a:ea typeface="Calibri"/>
                          <a:cs typeface="Calibri"/>
                        </a:rPr>
                        <a:t>Timers, reminders, </a:t>
                      </a:r>
                      <a:r>
                        <a:rPr lang="en-US" sz="1250" err="1">
                          <a:solidFill>
                            <a:srgbClr val="23201B"/>
                          </a:solidFill>
                          <a:latin typeface="Calibri"/>
                          <a:ea typeface="Calibri"/>
                          <a:cs typeface="Calibri"/>
                        </a:rPr>
                        <a:t>cron</a:t>
                      </a:r>
                      <a:r>
                        <a:rPr lang="en-US" sz="1250">
                          <a:solidFill>
                            <a:srgbClr val="23201B"/>
                          </a:solidFill>
                          <a:latin typeface="Calibri"/>
                          <a:ea typeface="Calibri"/>
                          <a:cs typeface="Calibri"/>
                        </a:rPr>
                        <a:t> jobs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3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calls, parallel processing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" y="-130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Diagrams</a:t>
            </a:r>
            <a:endParaRPr lang="en-US" sz="2400"/>
          </a:p>
        </p:txBody>
      </p:sp>
      <p:sp>
        <p:nvSpPr>
          <p:cNvPr id="4" name="Text 1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  <p:pic>
        <p:nvPicPr>
          <p:cNvPr id="5" name="Picture 4" descr="A diagram of a scheduler&#10;&#10;AI-generated content may be incorrect.">
            <a:extLst>
              <a:ext uri="{FF2B5EF4-FFF2-40B4-BE49-F238E27FC236}">
                <a16:creationId xmlns:a16="http://schemas.microsoft.com/office/drawing/2014/main" id="{57D24768-7C6F-8552-BD71-A6EE6CAB52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" b="-116"/>
          <a:stretch>
            <a:fillRect/>
          </a:stretch>
        </p:blipFill>
        <p:spPr>
          <a:xfrm>
            <a:off x="157842" y="459241"/>
            <a:ext cx="8768438" cy="46550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 flipV="1">
            <a:off x="510323" y="1011849"/>
            <a:ext cx="1759130" cy="39711"/>
          </a:xfrm>
          <a:prstGeom prst="rect">
            <a:avLst/>
          </a:prstGeom>
          <a:solidFill>
            <a:srgbClr val="AF443C"/>
          </a:solidFill>
          <a:ln/>
        </p:spPr>
      </p:sp>
      <p:sp>
        <p:nvSpPr>
          <p:cNvPr id="4" name="Text 2"/>
          <p:cNvSpPr/>
          <p:nvPr/>
        </p:nvSpPr>
        <p:spPr>
          <a:xfrm>
            <a:off x="521208" y="1371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23201B"/>
                </a:solidFill>
                <a:latin typeface="Calibri"/>
                <a:ea typeface="Calibri"/>
                <a:cs typeface="Calibri"/>
              </a:rPr>
              <a:t>Choose a Scheduler </a:t>
            </a:r>
            <a:r>
              <a:rPr lang="en-US" sz="160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for deterministic timing and centralized orchestration when the moment of execution is what matters.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2331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23201B"/>
                </a:solidFill>
                <a:latin typeface="Calibri"/>
                <a:ea typeface="Calibri"/>
                <a:cs typeface="Calibri"/>
              </a:rPr>
              <a:t>Choose a Future / Promise </a:t>
            </a:r>
            <a:r>
              <a:rPr lang="en-US" sz="160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for parallel, result-driven workflows that aggregate outcomes asynchronously, when what comes back matters more than when.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1208" y="3383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AF443C"/>
                </a:solidFill>
                <a:latin typeface="Calibri"/>
                <a:ea typeface="Calibri"/>
                <a:cs typeface="Calibri"/>
              </a:rPr>
              <a:t>Match the model to the problem: </a:t>
            </a:r>
            <a:r>
              <a:rPr lang="en-US" sz="1600">
                <a:solidFill>
                  <a:srgbClr val="6E675C"/>
                </a:solidFill>
                <a:latin typeface="Calibri"/>
                <a:ea typeface="Calibri"/>
                <a:cs typeface="Calibri"/>
              </a:rPr>
              <a:t>prioritize timing when the execution moment is critical, and completion semantics when outcomes drive the system.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E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14106" y="2695303"/>
            <a:ext cx="2834640" cy="25603"/>
          </a:xfrm>
          <a:prstGeom prst="rect">
            <a:avLst/>
          </a:prstGeom>
          <a:solidFill>
            <a:srgbClr val="AF443C"/>
          </a:solidFill>
          <a:ln/>
        </p:spPr>
      </p:sp>
      <p:sp>
        <p:nvSpPr>
          <p:cNvPr id="3" name="Text 1"/>
          <p:cNvSpPr/>
          <p:nvPr/>
        </p:nvSpPr>
        <p:spPr>
          <a:xfrm>
            <a:off x="3153592" y="2148841"/>
            <a:ext cx="2624546" cy="523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1680537" y="2277292"/>
            <a:ext cx="5344885" cy="28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i="1">
              <a:solidFill>
                <a:srgbClr val="6E675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>
              <a:solidFill>
                <a:srgbClr val="6E675C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700</Words>
  <Application>Microsoft Office PowerPoint</Application>
  <PresentationFormat>On-screen Show (16:9)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Priyansh Rangwala</cp:lastModifiedBy>
  <cp:revision>5</cp:revision>
  <dcterms:created xsi:type="dcterms:W3CDTF">2026-07-13T21:38:46Z</dcterms:created>
  <dcterms:modified xsi:type="dcterms:W3CDTF">2026-07-14T14:23:03Z</dcterms:modified>
</cp:coreProperties>
</file>